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18ebf3d8-6c94-3a17-37d1-27ba53860bd9}">
          <p14:sldIdLst>
            <p14:sldId id="256"/>
            <p14:sldId id="257"/>
          </p14:sldIdLst>
        </p14:section>
        <p14:section name="问题" id="{9a8b0c9f-2729-fdcb-47cf-850f3568e7c5}">
          <p14:sldIdLst>
            <p14:sldId id="258"/>
            <p14:sldId id="259"/>
            <p14:sldId id="260"/>
          </p14:sldIdLst>
        </p14:section>
        <p14:section name="方法" id="{896b3013-4a75-63ec-0a11-ff181a561daa}">
          <p14:sldIdLst>
            <p14:sldId id="261"/>
            <p14:sldId id="262"/>
            <p14:sldId id="263"/>
            <p14:sldId id="264"/>
            <p14:sldId id="265"/>
          </p14:sldIdLst>
        </p14:section>
        <p14:section name="实验" id="{4ede63c5-be10-a647-cffe-0f13e4b445ca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边界" id="{51304c1a-6a54-fc8e-7132-c8d0796729eb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19 个共享定义、错峰到达：相对定义级重验证的维护 DB 时间（%）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相对定义级的 DB 时间（%）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6A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仅范围</c:v>
                  </c:pt>
                  <c:pt idx="1">
                    <c:v>定义级 + 版本缓存</c:v>
                  </c:pt>
                  <c:pt idx="2">
                    <c:v>MAVRA（条件级）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16.7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C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DDC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C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智能体 B 的正确率（%），DeepSeek V4.1 Flash，每种方法 3 次独立运行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全部情形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不共享</c:v>
                  </c:pt>
                  <c:pt idx="1">
                    <c:v>轨迹检索</c:v>
                  </c:pt>
                  <c:pt idx="2">
                    <c:v>轨迹+自验证</c:v>
                  </c:pt>
                  <c:pt idx="3">
                    <c:v>无守护</c:v>
                  </c:pt>
                  <c:pt idx="4">
                    <c:v>只看结构</c:v>
                  </c:pt>
                  <c:pt idx="5">
                    <c:v>写入撤销</c:v>
                  </c:pt>
                  <c:pt idx="6">
                    <c:v>定义级</c:v>
                  </c:pt>
                  <c:pt idx="7">
                    <c:v>MAVRA</c:v>
                  </c:pt>
                  <c:pt idx="8">
                    <c:v>MAVRA·智能体参照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</c:v>
                </c:pt>
                <c:pt idx="1">
                  <c:v>76</c:v>
                </c:pt>
                <c:pt idx="2">
                  <c:v>77</c:v>
                </c:pt>
                <c:pt idx="3">
                  <c:v>75</c:v>
                </c:pt>
                <c:pt idx="4">
                  <c:v>75</c:v>
                </c:pt>
                <c:pt idx="5">
                  <c:v>67</c:v>
                </c:pt>
                <c:pt idx="6">
                  <c:v>69</c:v>
                </c:pt>
                <c:pt idx="7">
                  <c:v>81</c:v>
                </c:pt>
                <c:pt idx="8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已建模的破坏性变化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不共享</c:v>
                  </c:pt>
                  <c:pt idx="1">
                    <c:v>轨迹检索</c:v>
                  </c:pt>
                  <c:pt idx="2">
                    <c:v>轨迹+自验证</c:v>
                  </c:pt>
                  <c:pt idx="3">
                    <c:v>无守护</c:v>
                  </c:pt>
                  <c:pt idx="4">
                    <c:v>只看结构</c:v>
                  </c:pt>
                  <c:pt idx="5">
                    <c:v>写入撤销</c:v>
                  </c:pt>
                  <c:pt idx="6">
                    <c:v>定义级</c:v>
                  </c:pt>
                  <c:pt idx="7">
                    <c:v>MAVRA</c:v>
                  </c:pt>
                  <c:pt idx="8">
                    <c:v>MAVRA·智能体参照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</c:v>
                </c:pt>
                <c:pt idx="1">
                  <c:v>57</c:v>
                </c:pt>
                <c:pt idx="2">
                  <c:v>63</c:v>
                </c:pt>
                <c:pt idx="3">
                  <c:v>59</c:v>
                </c:pt>
                <c:pt idx="4">
                  <c:v>58</c:v>
                </c:pt>
                <c:pt idx="5">
                  <c:v>61</c:v>
                </c:pt>
                <c:pt idx="6">
                  <c:v>64</c:v>
                </c:pt>
                <c:pt idx="7">
                  <c:v>73</c:v>
                </c:pt>
                <c:pt idx="8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C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DDC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C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汇报结构：问题—三个核心问题—模型与保证—实验—边界。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EF2F7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EF2F7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63"/>
                </a:solidFill>
              </a:rPr>
              <a:t>MAVRA · SIGMOD 2027 投稿汇报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MAVRA：面向数据智能体的共享指标定义有效性维护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EEF2F7"/>
                </a:solidFill>
              </a:rPr>
              <a:t>Keeping Shared Metric Definitions Valid for Data Agents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EF2F7"/>
                </a:solidFill>
              </a:rPr>
              <a:t>SIGMOD 2027 Research Track 投稿汇报 · 2026 年 10 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共享学到的口径是变化数据库上的长期状态，纯数据更新会静默打破它</a:t>
            </a:r>
            <a:endParaRPr lang="en-US" sz="3000" dirty="0"/>
          </a:p>
        </p:txBody>
      </p:sp>
      <p:sp>
        <p:nvSpPr>
          <p:cNvPr id="3" name="card 现象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dot 现象"/>
          <p:cNvSpPr/>
          <p:nvPr/>
        </p:nvSpPr>
        <p:spPr>
          <a:xfrm>
            <a:off x="731520" y="155448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head 现象"/>
          <p:cNvSpPr txBox="1"/>
          <p:nvPr/>
        </p:nvSpPr>
        <p:spPr>
          <a:xfrm>
            <a:off x="1143000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现象</a:t>
            </a:r>
            <a:endParaRPr lang="en-US" sz="1600" dirty="0"/>
          </a:p>
        </p:txBody>
      </p:sp>
      <p:sp>
        <p:nvSpPr>
          <p:cNvPr id="6" name="body 现象"/>
          <p:cNvSpPr txBox="1"/>
          <p:nvPr/>
        </p:nvSpPr>
        <p:spPr>
          <a:xfrm>
            <a:off x="73152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智能体靠探索学到“退货金额 = SUM(sr_return_amt)”，共享给所有智能体。ETL 改为状态流水后，每笔退货多一行“申请”：表结构没变，SQL 照常执行。</a:t>
            </a:r>
            <a:endParaRPr lang="en-US" sz="1300" dirty="0"/>
          </a:p>
        </p:txBody>
      </p:sp>
      <p:sp>
        <p:nvSpPr>
          <p:cNvPr id="7" name="card 后果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dot 后果"/>
          <p:cNvSpPr/>
          <p:nvPr/>
        </p:nvSpPr>
        <p:spPr>
          <a:xfrm>
            <a:off x="4480560" y="1554480"/>
            <a:ext cx="292608" cy="29260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9" name="head 后果"/>
          <p:cNvSpPr txBox="1"/>
          <p:nvPr/>
        </p:nvSpPr>
        <p:spPr>
          <a:xfrm>
            <a:off x="4892040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后果</a:t>
            </a:r>
            <a:endParaRPr lang="en-US" sz="1600" dirty="0"/>
          </a:p>
        </p:txBody>
      </p:sp>
      <p:sp>
        <p:nvSpPr>
          <p:cNvPr id="10" name="body 后果"/>
          <p:cNvSpPr txBox="1"/>
          <p:nvPr/>
        </p:nvSpPr>
        <p:spPr>
          <a:xfrm>
            <a:off x="448056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单期查询返回 6,588,699.86，真值 3,294,349.93——没有任何报错。我们的轨迹里 32 个错误答案全部来自执行成功的 SQL。</a:t>
            </a:r>
            <a:endParaRPr lang="en-US" sz="1300" dirty="0"/>
          </a:p>
        </p:txBody>
      </p:sp>
      <p:sp>
        <p:nvSpPr>
          <p:cNvPr id="11" name="card 本文"/>
          <p:cNvSpPr/>
          <p:nvPr/>
        </p:nvSpPr>
        <p:spPr>
          <a:xfrm>
            <a:off x="804672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dot 本文"/>
          <p:cNvSpPr/>
          <p:nvPr/>
        </p:nvSpPr>
        <p:spPr>
          <a:xfrm>
            <a:off x="8229600" y="155448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head 本文"/>
          <p:cNvSpPr txBox="1"/>
          <p:nvPr/>
        </p:nvSpPr>
        <p:spPr>
          <a:xfrm>
            <a:off x="8641080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本文</a:t>
            </a:r>
            <a:endParaRPr lang="en-US" sz="1600" dirty="0"/>
          </a:p>
        </p:txBody>
      </p:sp>
      <p:sp>
        <p:nvSpPr>
          <p:cNvPr id="14" name="body 本文"/>
          <p:cNvSpPr txBox="1"/>
          <p:nvPr/>
        </p:nvSpPr>
        <p:spPr>
          <a:xfrm>
            <a:off x="822960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把口径的有效性证据当作一等的、版本化的状态：推出可执行条件并证明其充分，把每次声明使用绑定到查询自身快照上成立的结论，只做唯一且过回归的修复。</a:t>
            </a:r>
            <a:endParaRPr lang="en-US" sz="1300" dirty="0"/>
          </a:p>
        </p:txBody>
      </p:sp>
      <p:sp>
        <p:nvSpPr>
          <p:cNvPr id="15" name="stat 共享本身带来的端到端正确率提升"/>
          <p:cNvSpPr txBox="1"/>
          <p:nvPr/>
        </p:nvSpPr>
        <p:spPr>
          <a:xfrm>
            <a:off x="73152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E44AD"/>
                </a:solidFill>
              </a:rPr>
              <a:t>32% → 75%</a:t>
            </a:r>
            <a:endParaRPr lang="en-US" sz="2800" dirty="0"/>
          </a:p>
        </p:txBody>
      </p:sp>
      <p:sp>
        <p:nvSpPr>
          <p:cNvPr id="16" name="label 共享本身带来的端到端正确率提升"/>
          <p:cNvSpPr txBox="1"/>
          <p:nvPr/>
        </p:nvSpPr>
        <p:spPr>
          <a:xfrm>
            <a:off x="731520" y="4983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共享本身带来的端到端正确率提升</a:t>
            </a:r>
            <a:endParaRPr lang="en-US" sz="1250" dirty="0"/>
          </a:p>
        </p:txBody>
      </p:sp>
      <p:sp>
        <p:nvSpPr>
          <p:cNvPr id="17" name="stat 维护再带来的提升；已建模破坏下 59% → 73%"/>
          <p:cNvSpPr txBox="1"/>
          <p:nvPr/>
        </p:nvSpPr>
        <p:spPr>
          <a:xfrm>
            <a:off x="365760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</a:rPr>
              <a:t>75% → 81%</a:t>
            </a:r>
            <a:endParaRPr lang="en-US" sz="2800" dirty="0"/>
          </a:p>
        </p:txBody>
      </p:sp>
      <p:sp>
        <p:nvSpPr>
          <p:cNvPr id="18" name="label 维护再带来的提升；已建模破坏下 59% → 73%"/>
          <p:cNvSpPr txBox="1"/>
          <p:nvPr/>
        </p:nvSpPr>
        <p:spPr>
          <a:xfrm>
            <a:off x="3657600" y="4983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维护再带来的提升；已建模破坏下 59% → 73%</a:t>
            </a:r>
            <a:endParaRPr lang="en-US" sz="1250" dirty="0"/>
          </a:p>
        </p:txBody>
      </p:sp>
      <p:sp>
        <p:nvSpPr>
          <p:cNvPr id="19" name="stat 维护后的定义在已建模变化下提供的错误答案（只看结构：645）"/>
          <p:cNvSpPr txBox="1"/>
          <p:nvPr/>
        </p:nvSpPr>
        <p:spPr>
          <a:xfrm>
            <a:off x="658368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AF7A"/>
                </a:solidFill>
              </a:rPr>
              <a:t>0</a:t>
            </a:r>
            <a:endParaRPr lang="en-US" sz="4000" dirty="0"/>
          </a:p>
        </p:txBody>
      </p:sp>
      <p:sp>
        <p:nvSpPr>
          <p:cNvPr id="20" name="label 维护后的定义在已建模变化下提供的错误答案（只看结构：645）"/>
          <p:cNvSpPr txBox="1"/>
          <p:nvPr/>
        </p:nvSpPr>
        <p:spPr>
          <a:xfrm>
            <a:off x="6583680" y="4983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维护后的定义在已建模变化下提供的错误答案（只看结构：645）</a:t>
            </a:r>
            <a:endParaRPr lang="en-US" sz="1250" dirty="0"/>
          </a:p>
        </p:txBody>
      </p:sp>
      <p:sp>
        <p:nvSpPr>
          <p:cNvPr id="21" name="stat 绑定快照执行下在违反条件的数据上作答的次数（执行前检查最多 4.6%）"/>
          <p:cNvSpPr txBox="1"/>
          <p:nvPr/>
        </p:nvSpPr>
        <p:spPr>
          <a:xfrm>
            <a:off x="9509760" y="4114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</a:rPr>
              <a:t>0 / 11,297</a:t>
            </a:r>
            <a:endParaRPr lang="en-US" sz="2800" dirty="0"/>
          </a:p>
        </p:txBody>
      </p:sp>
      <p:sp>
        <p:nvSpPr>
          <p:cNvPr id="22" name="label 绑定快照执行下在违反条件的数据上作答的次数（执行前检查最多 4.6%）"/>
          <p:cNvSpPr txBox="1"/>
          <p:nvPr/>
        </p:nvSpPr>
        <p:spPr>
          <a:xfrm>
            <a:off x="9509760" y="4983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绑定快照执行下在违反条件的数据上作答的次数（执行前检查最多 4.6%）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为什么是一个数据库问题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</a:rPr>
              <a:t>智能体重复的是知识，不是查询；口径一旦共享，就是变化数据库上的长期状态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负载刻画：应用重复查询，智能体重复知识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46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应用负载（Redset，400 个集群，4.41 亿查询）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智能体负载（100 个全新会话，521 次调用）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重复的东西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相同模板（半数集群 80% 查询完全重复）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相同事实：93% 的查找重复此前会话已得到的事实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SQL 文本复用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结果缓存命中 34% 的读查询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SQL 探查 38% 重复事实，但没有一条文本相同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探索占比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68% 的调用用于查找与探查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自行验证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只有 16% 的会话检查过键唯一性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出错方式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32 个错误答案全部来自执行成功的 SQL；31 个发生在题目只给指标名时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78D6"/>
                </a:solidFill>
              </a:rPr>
              <a:t>结论：按查询文本的缓存捕获不到智能体的复用；共享口径有效，但它变成了必须维护的状态。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保持共享口径正确要回答三个问题</a:t>
            </a:r>
            <a:endParaRPr lang="en-US" sz="3000" dirty="0"/>
          </a:p>
        </p:txBody>
      </p:sp>
      <p:sp>
        <p:nvSpPr>
          <p:cNvPr id="3" name="card 检查什么？"/>
          <p:cNvSpPr/>
          <p:nvPr/>
        </p:nvSpPr>
        <p:spPr>
          <a:xfrm>
            <a:off x="548640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dot 检查什么？"/>
          <p:cNvSpPr/>
          <p:nvPr/>
        </p:nvSpPr>
        <p:spPr>
          <a:xfrm>
            <a:off x="731520" y="146304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head 检查什么？"/>
          <p:cNvSpPr txBox="1"/>
          <p:nvPr/>
        </p:nvSpPr>
        <p:spPr>
          <a:xfrm>
            <a:off x="114300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检查什么？</a:t>
            </a:r>
            <a:endParaRPr lang="en-US" sz="1600" dirty="0"/>
          </a:p>
        </p:txBody>
      </p:sp>
      <p:sp>
        <p:nvSpPr>
          <p:cNvPr id="6" name="body 检查什么？"/>
          <p:cNvSpPr txBox="1"/>
          <p:nvPr/>
        </p:nvSpPr>
        <p:spPr>
          <a:xfrm>
            <a:off x="731520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口径依赖的性质既不在 SQL 里，也不在表结构里：过滤后键唯一、连接不放大、日期按预期角色归期。结构演化支持看不到纯数据破坏；数据验证系统不知道哪个口径依赖哪条性质。</a:t>
            </a:r>
            <a:endParaRPr lang="en-US" sz="1300" dirty="0"/>
          </a:p>
        </p:txBody>
      </p:sp>
      <p:sp>
        <p:nvSpPr>
          <p:cNvPr id="7" name="card 何时可以依赖？"/>
          <p:cNvSpPr/>
          <p:nvPr/>
        </p:nvSpPr>
        <p:spPr>
          <a:xfrm>
            <a:off x="4297680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dot 何时可以依赖？"/>
          <p:cNvSpPr/>
          <p:nvPr/>
        </p:nvSpPr>
        <p:spPr>
          <a:xfrm>
            <a:off x="4480560" y="146304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head 何时可以依赖？"/>
          <p:cNvSpPr txBox="1"/>
          <p:nvPr/>
        </p:nvSpPr>
        <p:spPr>
          <a:xfrm>
            <a:off x="489204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何时可以依赖？</a:t>
            </a:r>
            <a:endParaRPr lang="en-US" sz="1600" dirty="0"/>
          </a:p>
        </p:txBody>
      </p:sp>
      <p:sp>
        <p:nvSpPr>
          <p:cNvPr id="10" name="body 何时可以依赖？"/>
          <p:cNvSpPr txBox="1"/>
          <p:nvPr/>
        </p:nvSpPr>
        <p:spPr>
          <a:xfrm>
            <a:off x="4480560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检查通过只描述一个快照；核对与执行之间可能有写入提交，DML 统计既不随事务也不即时。并发写入下执行前检查有最多 4.6% 的使用在违反条件的数据上作答。</a:t>
            </a:r>
            <a:endParaRPr lang="en-US" sz="1300" dirty="0"/>
          </a:p>
        </p:txBody>
      </p:sp>
      <p:sp>
        <p:nvSpPr>
          <p:cNvPr id="11" name="card 失败了怎么办？"/>
          <p:cNvSpPr/>
          <p:nvPr/>
        </p:nvSpPr>
        <p:spPr>
          <a:xfrm>
            <a:off x="8046720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dot 失败了怎么办？"/>
          <p:cNvSpPr/>
          <p:nvPr/>
        </p:nvSpPr>
        <p:spPr>
          <a:xfrm>
            <a:off x="8229600" y="1463040"/>
            <a:ext cx="292608" cy="29260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3" name="head 失败了怎么办？"/>
          <p:cNvSpPr txBox="1"/>
          <p:nvPr/>
        </p:nvSpPr>
        <p:spPr>
          <a:xfrm>
            <a:off x="864108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失败了怎么办？</a:t>
            </a:r>
            <a:endParaRPr lang="en-US" sz="1600" dirty="0"/>
          </a:p>
        </p:txBody>
      </p:sp>
      <p:sp>
        <p:nvSpPr>
          <p:cNvPr id="14" name="body 失败了怎么办？"/>
          <p:cNvSpPr txBox="1"/>
          <p:nvPr/>
        </p:nvSpPr>
        <p:spPr>
          <a:xfrm>
            <a:off x="8229600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逐写入撤销丢掉仍然有效的知识；修复有风险——过滤能恢复每键一行却选错总体，回归测试能否发现取决于参照知道什么。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828800"/>
                <a:gridCol w="2194560"/>
                <a:gridCol w="28346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策略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正常追加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纯数据破坏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使用期间的写入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每次更新的工作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只看结构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保留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过期使用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不检查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无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表级测试（dbt 式）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保留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隔离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执行前检查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按表声明的测试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写入即撤销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重学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重学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执行前检查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大模型重学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定义级重验（+ 版本缓存）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保留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修复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执行前检查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受影响定义的条件（去重）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MAVRA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保留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有界修复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同一快照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变化触及的不同条件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有效性模型、使用时的保证、有界修复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</a:rPr>
              <a:t>命题 1：条件充分　·　引理 1：结论复用可靠　·　算法 1：唯一且过回归的修复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模型：定义 = 业务含义 + 结构化实现 + 可执行条件 + 证据</a:t>
            </a:r>
            <a:endParaRPr lang="en-US" sz="30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28016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修订 m^r = (B, I, C, E, r)：实现 I 记录事实表、聚合、粒度、时间角色、连接引用、持久过滤；规范 SQL 由 I 编译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四类条件，从 I 机械推出：过滤后键唯一 KeyUnique(T, K, φ)、连接多重性、时间角色、覆盖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条件身份按语义而非文本：键列顺序、过滤写法不影响；结论按 (条件身份, 依赖表版本) 索引，跨定义、跨智能体复用</a:t>
            </a:r>
            <a:endParaRPr lang="en-US" sz="1450" dirty="0"/>
          </a:p>
        </p:txBody>
      </p:sp>
      <p:sp>
        <p:nvSpPr>
          <p:cNvPr id="4" name="prop box"/>
          <p:cNvSpPr/>
          <p:nvPr/>
        </p:nvSpPr>
        <p:spPr>
          <a:xfrm>
            <a:off x="6675120" y="128016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prop text"/>
          <p:cNvSpPr txBox="1"/>
          <p:nvPr/>
        </p:nvSpPr>
        <p:spPr>
          <a:xfrm>
            <a:off x="6858000" y="141732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</a:rPr>
              <a:t>命题 1（充分性）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若业务前提 B1（事件与过滤后的键一一对应）、B2（度量表达式给出事件的度量值）成立，且四类条件在快照 D_s 上成立，则规范 SQL 对每个期间返回的，是角色日期落在该期间的事件度量值的聚合，每个事件恰好计一次；遗漏的只有关联不上日期维度的事件，其比例受覆盖条件约束。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</a:rPr>
              <a:t>检测边界由两条前提划定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B2 关乎取值：单位变化不违反任何条件；B1 可被多个总体同时满足：备份副本后主表与副本各自每键一行，结构上无从区分。反过来，凡使事件被计两次或从所有期间消失的纯数据更新，都会违反某个条件。</a:t>
            </a:r>
            <a:endParaRPr lang="en-US" sz="1250" dirty="0"/>
          </a:p>
        </p:txBody>
      </p:sp>
      <p:sp>
        <p:nvSpPr>
          <p:cNvPr id="6" name="sharing note"/>
          <p:cNvSpPr txBox="1"/>
          <p:nvPr/>
        </p:nvSpPr>
        <p:spPr>
          <a:xfrm>
            <a:off x="548640" y="4846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44AD"/>
                </a:solidFill>
              </a:rPr>
              <a:t>TPC-DS 99 个官方模板里自然存在共享：175 个定义、65 个不同条件，每条件 8.6 个实例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使用时的保证：绑定快照的执行</a:t>
            </a:r>
            <a:endParaRPr lang="en-US" sz="3000" dirty="0"/>
          </a:p>
        </p:txBody>
      </p:sp>
      <p:sp>
        <p:nvSpPr>
          <p:cNvPr id="3" name="step dot 0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step no 0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0"/>
          <p:cNvSpPr txBox="1"/>
          <p:nvPr/>
        </p:nvSpPr>
        <p:spPr>
          <a:xfrm>
            <a:off x="548640" y="1920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开可重复读只读事务，读事务性版本</a:t>
            </a:r>
            <a:endParaRPr lang="en-US" sz="1250" dirty="0"/>
          </a:p>
        </p:txBody>
      </p:sp>
      <p:sp>
        <p:nvSpPr>
          <p:cNvPr id="6" name="step dot 1"/>
          <p:cNvSpPr/>
          <p:nvPr/>
        </p:nvSpPr>
        <p:spPr>
          <a:xfrm>
            <a:off x="2788920" y="137160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step no 1"/>
          <p:cNvSpPr txBox="1"/>
          <p:nvPr/>
        </p:nvSpPr>
        <p:spPr>
          <a:xfrm>
            <a:off x="2788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1"/>
          <p:cNvSpPr txBox="1"/>
          <p:nvPr/>
        </p:nvSpPr>
        <p:spPr>
          <a:xfrm>
            <a:off x="2788920" y="1920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收集声明修订的条件</a:t>
            </a:r>
            <a:endParaRPr lang="en-US" sz="1250" dirty="0"/>
          </a:p>
        </p:txBody>
      </p:sp>
      <p:sp>
        <p:nvSpPr>
          <p:cNvPr id="9" name="step dot 2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step no 2"/>
          <p:cNvSpPr txBox="1"/>
          <p:nvPr/>
        </p:nvSpPr>
        <p:spPr>
          <a:xfrm>
            <a:off x="5029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2"/>
          <p:cNvSpPr txBox="1"/>
          <p:nvPr/>
        </p:nvSpPr>
        <p:spPr>
          <a:xfrm>
            <a:off x="5029200" y="1920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按 (身份, 快照版本) 查结论，否则在事务内检查</a:t>
            </a:r>
            <a:endParaRPr lang="en-US" sz="1250" dirty="0"/>
          </a:p>
        </p:txBody>
      </p:sp>
      <p:sp>
        <p:nvSpPr>
          <p:cNvPr id="12" name="step dot 3"/>
          <p:cNvSpPr/>
          <p:nvPr/>
        </p:nvSpPr>
        <p:spPr>
          <a:xfrm>
            <a:off x="7269480" y="137160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step no 3"/>
          <p:cNvSpPr txBox="1"/>
          <p:nvPr/>
        </p:nvSpPr>
        <p:spPr>
          <a:xfrm>
            <a:off x="7269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3"/>
          <p:cNvSpPr txBox="1"/>
          <p:nvPr/>
        </p:nvSpPr>
        <p:spPr>
          <a:xfrm>
            <a:off x="7269480" y="1920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任一条件失败即拒绝，交常规维护</a:t>
            </a:r>
            <a:endParaRPr lang="en-US" sz="1250" dirty="0"/>
          </a:p>
        </p:txBody>
      </p:sp>
      <p:sp>
        <p:nvSpPr>
          <p:cNvPr id="15" name="step dot 4"/>
          <p:cNvSpPr/>
          <p:nvPr/>
        </p:nvSpPr>
        <p:spPr>
          <a:xfrm>
            <a:off x="9509760" y="137160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step no 4"/>
          <p:cNvSpPr txBox="1"/>
          <p:nvPr/>
        </p:nvSpPr>
        <p:spPr>
          <a:xfrm>
            <a:off x="9509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4"/>
          <p:cNvSpPr txBox="1"/>
          <p:nvPr/>
        </p:nvSpPr>
        <p:spPr>
          <a:xfrm>
            <a:off x="9509760" y="1920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同一事务内执行业务 SQL</a:t>
            </a:r>
            <a:endParaRPr lang="en-US" sz="1250" dirty="0"/>
          </a:p>
        </p:txBody>
      </p:sp>
      <p:sp>
        <p:nvSpPr>
          <p:cNvPr id="18" name="lemma box"/>
          <p:cNvSpPr/>
          <p:nvPr/>
        </p:nvSpPr>
        <p:spPr>
          <a:xfrm>
            <a:off x="548640" y="3200400"/>
            <a:ext cx="6583680" cy="219456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lemma text"/>
          <p:cNvSpPr txBox="1"/>
          <p:nvPr/>
        </p:nvSpPr>
        <p:spPr>
          <a:xfrm>
            <a:off x="73152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</a:rPr>
              <a:t>引理 1（结论复用）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事务性版本 v_s(T) 由语句级触发器在写事务内递增（按后端分片，取和）。两个快照对条件 c 读到的每张表版本相同 ⇒ c(D_s1) = c(D_s2)。证明：快照按已提交事务集合嵌套；写 T 的事务与其计数增量同时可见，版本相等意味着两快照之间没有写 T 的事务。默认的 DML 统计不满足这一性质——这正是第 7.3 节测到的空隙。</a:t>
            </a:r>
            <a:endParaRPr lang="en-US" sz="1250" dirty="0"/>
          </a:p>
        </p:txBody>
      </p:sp>
      <p:sp>
        <p:nvSpPr>
          <p:cNvPr id="20" name="stat 执行前检查：不通知的写入下在违反条件数据上作答的使用"/>
          <p:cNvSpPr txBox="1"/>
          <p:nvPr/>
        </p:nvSpPr>
        <p:spPr>
          <a:xfrm>
            <a:off x="7498080" y="3291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</a:rPr>
              <a:t>3.8–4.6%</a:t>
            </a:r>
            <a:endParaRPr lang="en-US" sz="2800" dirty="0"/>
          </a:p>
        </p:txBody>
      </p:sp>
      <p:sp>
        <p:nvSpPr>
          <p:cNvPr id="21" name="label 执行前检查：不通知的写入下在违反条件数据上作答的使用"/>
          <p:cNvSpPr txBox="1"/>
          <p:nvPr/>
        </p:nvSpPr>
        <p:spPr>
          <a:xfrm>
            <a:off x="7498080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执行前检查：不通知的写入下在违反条件数据上作答的使用</a:t>
            </a:r>
            <a:endParaRPr lang="en-US" sz="1250" dirty="0"/>
          </a:p>
        </p:txBody>
      </p:sp>
      <p:sp>
        <p:nvSpPr>
          <p:cNvPr id="22" name="stat 绑定快照：四组随机并发合计的违规次数"/>
          <p:cNvSpPr txBox="1"/>
          <p:nvPr/>
        </p:nvSpPr>
        <p:spPr>
          <a:xfrm>
            <a:off x="9784080" y="3291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AF7A"/>
                </a:solidFill>
              </a:rPr>
              <a:t>0 / 11,297</a:t>
            </a:r>
            <a:endParaRPr lang="en-US" sz="2800" dirty="0"/>
          </a:p>
        </p:txBody>
      </p:sp>
      <p:sp>
        <p:nvSpPr>
          <p:cNvPr id="23" name="label 绑定快照：四组随机并发合计的违规次数"/>
          <p:cNvSpPr txBox="1"/>
          <p:nvPr/>
        </p:nvSpPr>
        <p:spPr>
          <a:xfrm>
            <a:off x="9784080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绑定快照：四组随机并发合计的违规次数</a:t>
            </a:r>
            <a:endParaRPr lang="en-US" sz="1250" dirty="0"/>
          </a:p>
        </p:txBody>
      </p:sp>
      <p:sp>
        <p:nvSpPr>
          <p:cNvPr id="24" name="cost note"/>
          <p:cNvSpPr txBox="1"/>
          <p:nvPr/>
        </p:nvSpPr>
        <p:spPr>
          <a:xfrm>
            <a:off x="7498080" y="5120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读者中位延迟相同（26–29 ms）；写者单行语句 0.70×，32 个并发写者分片后 0.97×（不分片 0.36×）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失败了怎么办：有界修复——唯一、不丢键、过回归，否则撤下</a:t>
            </a:r>
            <a:endParaRPr lang="en-US" sz="30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28016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算法 1：粒度失效时，枚举低基数列上的等值过滤 ψ = φ ∧ (a = v)；保留能恢复每键一行且不丢键的候选 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|P| ≠ 1 ⇒ 撤下：主表与备份副本各自每键一行，结构上分不出谁是业务真相；没有唯一性规则，搜索到的第一个过滤就会被发布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唯一候选再过 G3–G5 与 G8：按学习题编译，与参照在当前数据上比较；回归只在变化触及学习期、且参照反映区分列时才提供证据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修复期间到达的请求加入进行中的维护而不是被拒绝：同时到达下不可用从 63 降为 0，等待时间与数据库工作量不变</a:t>
            </a:r>
            <a:endParaRPr lang="en-US" sz="1400" dirty="0"/>
          </a:p>
        </p:txBody>
      </p:sp>
      <p:sp>
        <p:nvSpPr>
          <p:cNvPr id="4" name="card 参照决定修复能否成功"/>
          <p:cNvSpPr/>
          <p:nvPr/>
        </p:nvSpPr>
        <p:spPr>
          <a:xfrm>
            <a:off x="7772400" y="128016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dot 参照决定修复能否成功"/>
          <p:cNvSpPr/>
          <p:nvPr/>
        </p:nvSpPr>
        <p:spPr>
          <a:xfrm>
            <a:off x="7955280" y="146304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head 参照决定修复能否成功"/>
          <p:cNvSpPr txBox="1"/>
          <p:nvPr/>
        </p:nvSpPr>
        <p:spPr>
          <a:xfrm>
            <a:off x="836676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参照决定修复能否成功</a:t>
            </a:r>
            <a:endParaRPr lang="en-US" sz="1600" dirty="0"/>
          </a:p>
        </p:txBody>
      </p:sp>
      <p:sp>
        <p:nvSpPr>
          <p:cNvPr id="7" name="body 参照决定修复能否成功"/>
          <p:cNvSpPr txBox="1"/>
          <p:nvPr/>
        </p:nvSpPr>
        <p:spPr>
          <a:xfrm>
            <a:off x="7955280" y="192024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同一批 1,470 道配对题：判题参照答对 933，智能体自己提炼的学习查询作参照答对 780（−10.4 个百分点）；差别全部变为不可用，没有一题变错。</a:t>
            </a:r>
            <a:endParaRPr lang="en-US" sz="1300" dirty="0"/>
          </a:p>
        </p:txBody>
      </p:sp>
      <p:sp>
        <p:nvSpPr>
          <p:cNvPr id="8" name="card 反例：备份副本"/>
          <p:cNvSpPr/>
          <p:nvPr/>
        </p:nvSpPr>
        <p:spPr>
          <a:xfrm>
            <a:off x="7772400" y="356616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dot 反例：备份副本"/>
          <p:cNvSpPr/>
          <p:nvPr/>
        </p:nvSpPr>
        <p:spPr>
          <a:xfrm>
            <a:off x="7955280" y="3749040"/>
            <a:ext cx="292608" cy="29260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0" name="head 反例：备份副本"/>
          <p:cNvSpPr txBox="1"/>
          <p:nvPr/>
        </p:nvSpPr>
        <p:spPr>
          <a:xfrm>
            <a:off x="836676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反例：备份副本</a:t>
            </a:r>
            <a:endParaRPr lang="en-US" sz="1600" dirty="0"/>
          </a:p>
        </p:txBody>
      </p:sp>
      <p:sp>
        <p:nvSpPr>
          <p:cNvPr id="11" name="body 反例：备份副本"/>
          <p:cNvSpPr txBox="1"/>
          <p:nvPr/>
        </p:nvSpPr>
        <p:spPr>
          <a:xfrm>
            <a:off x="7955280" y="420624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没有唯一性规则且参照预见来源列时，发布错误修复，4 道新题答错 2 道；有规则时两种参照下都撤下定义。规则不改变 3,000 道配对题的任何结果。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系统：智能体与 PostgreSQL 之间的中间层</a:t>
            </a:r>
            <a:endParaRPr lang="en-US" sz="3000" dirty="0"/>
          </a:p>
        </p:txBody>
      </p:sp>
      <p:sp>
        <p:nvSpPr>
          <p:cNvPr id="3" name="card 学习路径"/>
          <p:cNvSpPr/>
          <p:nvPr/>
        </p:nvSpPr>
        <p:spPr>
          <a:xfrm>
            <a:off x="548640" y="12801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dot 学习路径"/>
          <p:cNvSpPr/>
          <p:nvPr/>
        </p:nvSpPr>
        <p:spPr>
          <a:xfrm>
            <a:off x="731520" y="146304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head 学习路径"/>
          <p:cNvSpPr txBox="1"/>
          <p:nvPr/>
        </p:nvSpPr>
        <p:spPr>
          <a:xfrm>
            <a:off x="114300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学习路径</a:t>
            </a:r>
            <a:endParaRPr lang="en-US" sz="1600" dirty="0"/>
          </a:p>
        </p:txBody>
      </p:sp>
      <p:sp>
        <p:nvSpPr>
          <p:cNvPr id="6" name="body 学习路径"/>
          <p:cNvSpPr txBox="1"/>
          <p:nvPr/>
        </p:nvSpPr>
        <p:spPr>
          <a:xfrm>
            <a:off x="731520" y="192024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显式业务题 + 独立判题 ⇒ 离线提炼结构化候选 ⇒ G1–G7 准入（含规范 SQL 重放）</a:t>
            </a:r>
            <a:endParaRPr lang="en-US" sz="1300" dirty="0"/>
          </a:p>
        </p:txBody>
      </p:sp>
      <p:sp>
        <p:nvSpPr>
          <p:cNvPr id="7" name="card 使用路径"/>
          <p:cNvSpPr/>
          <p:nvPr/>
        </p:nvSpPr>
        <p:spPr>
          <a:xfrm>
            <a:off x="4297680" y="12801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dot 使用路径"/>
          <p:cNvSpPr/>
          <p:nvPr/>
        </p:nvSpPr>
        <p:spPr>
          <a:xfrm>
            <a:off x="4480560" y="146304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head 使用路径"/>
          <p:cNvSpPr txBox="1"/>
          <p:nvPr/>
        </p:nvSpPr>
        <p:spPr>
          <a:xfrm>
            <a:off x="489204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使用路径</a:t>
            </a:r>
            <a:endParaRPr lang="en-US" sz="1600" dirty="0"/>
          </a:p>
        </p:txBody>
      </p:sp>
      <p:sp>
        <p:nvSpPr>
          <p:cNvPr id="10" name="body 使用路径"/>
          <p:cNvSpPr txBox="1"/>
          <p:nvPr/>
        </p:nvSpPr>
        <p:spPr>
          <a:xfrm>
            <a:off x="4480560" y="192024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find_metric：依赖版本变了先做条件维护（复用结论、撤销、修复），再返回当前有效修订与注意事项</a:t>
            </a:r>
            <a:endParaRPr lang="en-US" sz="1300" dirty="0"/>
          </a:p>
        </p:txBody>
      </p:sp>
      <p:sp>
        <p:nvSpPr>
          <p:cNvPr id="11" name="card 执行路径"/>
          <p:cNvSpPr/>
          <p:nvPr/>
        </p:nvSpPr>
        <p:spPr>
          <a:xfrm>
            <a:off x="8046720" y="12801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dot 执行路径"/>
          <p:cNvSpPr/>
          <p:nvPr/>
        </p:nvSpPr>
        <p:spPr>
          <a:xfrm>
            <a:off x="8229600" y="146304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head 执行路径"/>
          <p:cNvSpPr txBox="1"/>
          <p:nvPr/>
        </p:nvSpPr>
        <p:spPr>
          <a:xfrm>
            <a:off x="864108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执行路径</a:t>
            </a:r>
            <a:endParaRPr lang="en-US" sz="1600" dirty="0"/>
          </a:p>
        </p:txBody>
      </p:sp>
      <p:sp>
        <p:nvSpPr>
          <p:cNvPr id="14" name="body 执行路径"/>
          <p:cNvSpPr txBox="1"/>
          <p:nvPr/>
        </p:nvSpPr>
        <p:spPr>
          <a:xfrm>
            <a:off x="8229600" y="192024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run_sql 声明使用的键与修订：拒绝不存在/已撤销/被替代的修订，审查 SQL，绑定快照模式下同快照核对并执行</a:t>
            </a:r>
            <a:endParaRPr lang="en-US" sz="13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组件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内容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工具端点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列表、描述、连接路径查找与验证、find_metric、run_sql；答案附计算链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存储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内存中的版本化定义、连接路径、粒度条目、结论与证据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版本检测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默认：结构指纹 + DML 计数 + ETL 批次号；绑定快照模式：语句级触发器维护的事务性版本（16 片）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规模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约 6,600 行 Rust 中间层 + 4,200 行评测工具，40 个单元/集成测试；同样适用于语义层声明的口径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实验：两层评估，两个负载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</a:rPr>
              <a:t>机制层固定智能体学到的库、只换维护方式；端到端跑完整智能体。合成零售数据 + 真实 TPC-DS SF1。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实验设计</a:t>
            </a:r>
            <a:endParaRPr lang="en-US" sz="30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研究问题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实验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规模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Q1 纯数据变化下维护后的定义是否仍正确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配对回放：固定学到的库，只换维护方式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15 个库（97 个定义，3 个大模型）× 11 种变化；另在 TPC-DS SF1 上回放模板导出的 93 个定义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Q2 并发写入下保证是否成立、代价如何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确定性交错 + 随机并发，预检查对比绑定快照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 种交错 × 10 次；4 种设置 × 20 次（4 个读者）；1–32 个写者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Q3 修复何时成功、何时撤下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两种 G8 参照；备份副本反例；修复期间等待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同上配对回放；唯一性规则开关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Q4 维护代价，哪部分需要类型化条件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受控基准：定义级 / 版本缓存 / 仅范围 / 条件级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4–19 个定义，8–32 个智能体，100 万–1600 万行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Q5 端到端对智能体的作用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DeepSeek V4.1 Flash 智能体，11 种变化，9 种方法 × 3 次独立运行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2586 道计分题；预先写定的分析方案与比较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ethods note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方法：不共享、轨迹检索（AgentSM 式匹配基线）、轨迹检索 + 自验证提示、无守护、只看结构、表级测试（dbt 式）、写入即撤销、定义级、定义级 + 版本缓存、MAVRA、MAVRA（智能体参照）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Q1 配对回放：维护后的定义在已建模变化下零错误答案</a:t>
            </a:r>
            <a:endParaRPr lang="en-US" sz="30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188720"/>
                <a:gridCol w="1188720"/>
                <a:gridCol w="1188720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方法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答对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提供但答错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不可用（必要）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不可用（不必要）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维护 DB 秒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只看结构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784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746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0.6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表级测试（dbt 式）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631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101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645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153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49.9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写入即撤销（不重学）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746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784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0.4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定义级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973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101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345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111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1176.0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定义级 + 版本缓存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973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101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345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111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699.9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MAVRA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973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101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345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111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693.4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MAVRA，智能体参照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780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99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469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122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679.0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8138160" y="1280160"/>
            <a:ext cx="3566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各重验证方法的错误答案（101）全部来自单位变化——没有任何条件刻画取值；已建模变化下为 0，只看结构为 645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条件级、定义级、版本缓存逐题结果 100.0% 相同：端到端的差别来自各次运行学到的库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表级测试同样零错误，但只能隔离：少答对的 342 题正是 MAVRA 在状态流水、版本化更正、维表拉链下修复的题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不必要的不可用来自退货率在重复装载等变化下分子分母同步膨胀——粒度确实被破坏，撤销是保守而非错误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Q1 在真实 TPC-DS 数据上重复：模板导出的定义库</a:t>
            </a:r>
            <a:endParaRPr lang="en-US" sz="30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28016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数据：dsdgen SF1，290 万行门店销售，24 张表；事实表主键改为普通索引、decimal 放宽（只改表示）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定义库不是为本文编写的：从 99 个官方模板中提取、结构化实现能表达的 93 个定义（83 个带维表关联、15 个带持久过滤）；91 个通过准入，2 个学习期为空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11 种变化按相同类别施加在真实表上：整行复制、日期经 date_dim 换算；标准答案 = 定义本身 + 区分列过滤（与合成基准的判题参照相同）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结果类别与合成数据一致：状态流水、版本化更正、维表拉链全部修复；重复装载、日期键改写、备份副本撤下定义；单位变化照旧答错</a:t>
            </a:r>
            <a:endParaRPr lang="en-US" sz="1300" dirty="0"/>
          </a:p>
        </p:txBody>
      </p:sp>
      <p:sp>
        <p:nvSpPr>
          <p:cNvPr id="4" name="stat MAVRA 在已建模变化下的错误答案（每种方法 981 道题）"/>
          <p:cNvSpPr txBox="1"/>
          <p:nvPr/>
        </p:nvSpPr>
        <p:spPr>
          <a:xfrm>
            <a:off x="7132320" y="1371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AF7A"/>
                </a:solidFill>
              </a:rPr>
              <a:t>0</a:t>
            </a:r>
            <a:endParaRPr lang="en-US" sz="4000" dirty="0"/>
          </a:p>
        </p:txBody>
      </p:sp>
      <p:sp>
        <p:nvSpPr>
          <p:cNvPr id="5" name="label MAVRA 在已建模变化下的错误答案（每种方法 981 道题）"/>
          <p:cNvSpPr txBox="1"/>
          <p:nvPr/>
        </p:nvSpPr>
        <p:spPr>
          <a:xfrm>
            <a:off x="7132320" y="2240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MAVRA 在已建模变化下的错误答案（每种方法 981 道题）</a:t>
            </a:r>
            <a:endParaRPr lang="en-US" sz="1250" dirty="0"/>
          </a:p>
        </p:txBody>
      </p:sp>
      <p:sp>
        <p:nvSpPr>
          <p:cNvPr id="6" name="stat 只看结构的错误答案"/>
          <p:cNvSpPr txBox="1"/>
          <p:nvPr/>
        </p:nvSpPr>
        <p:spPr>
          <a:xfrm>
            <a:off x="9509760" y="1371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</a:rPr>
              <a:t>437</a:t>
            </a:r>
            <a:endParaRPr lang="en-US" sz="4000" dirty="0"/>
          </a:p>
        </p:txBody>
      </p:sp>
      <p:sp>
        <p:nvSpPr>
          <p:cNvPr id="7" name="label 只看结构的错误答案"/>
          <p:cNvSpPr txBox="1"/>
          <p:nvPr/>
        </p:nvSpPr>
        <p:spPr>
          <a:xfrm>
            <a:off x="9509760" y="2240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只看结构的错误答案</a:t>
            </a:r>
            <a:endParaRPr lang="en-US" sz="1250" dirty="0"/>
          </a:p>
        </p:txBody>
      </p:sp>
      <p:sp>
        <p:nvSpPr>
          <p:cNvPr id="8" name="stat 经修复后答对的题次（状态过滤、当前版本过滤、关联路径修订）"/>
          <p:cNvSpPr txBox="1"/>
          <p:nvPr/>
        </p:nvSpPr>
        <p:spPr>
          <a:xfrm>
            <a:off x="7132320" y="3200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</a:rPr>
              <a:t>279</a:t>
            </a:r>
            <a:endParaRPr lang="en-US" sz="4000" dirty="0"/>
          </a:p>
        </p:txBody>
      </p:sp>
      <p:sp>
        <p:nvSpPr>
          <p:cNvPr id="9" name="label 经修复后答对的题次（状态过滤、当前版本过滤、关联路径修订）"/>
          <p:cNvSpPr txBox="1"/>
          <p:nvPr/>
        </p:nvSpPr>
        <p:spPr>
          <a:xfrm>
            <a:off x="7132320" y="4069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经修复后答对的题次（状态过滤、当前版本过滤、关联路径修订）</a:t>
            </a:r>
            <a:endParaRPr lang="en-US" sz="1250" dirty="0"/>
          </a:p>
        </p:txBody>
      </p:sp>
      <p:sp>
        <p:nvSpPr>
          <p:cNvPr id="10" name="stat 表级测试隔离的题次（必要 + 不必要）"/>
          <p:cNvSpPr txBox="1"/>
          <p:nvPr/>
        </p:nvSpPr>
        <p:spPr>
          <a:xfrm>
            <a:off x="9509760" y="3200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A100"/>
                </a:solidFill>
              </a:rPr>
              <a:t>437+145</a:t>
            </a:r>
            <a:endParaRPr lang="en-US" sz="4000" dirty="0"/>
          </a:p>
        </p:txBody>
      </p:sp>
      <p:sp>
        <p:nvSpPr>
          <p:cNvPr id="11" name="label 表级测试隔离的题次（必要 + 不必要）"/>
          <p:cNvSpPr txBox="1"/>
          <p:nvPr/>
        </p:nvSpPr>
        <p:spPr>
          <a:xfrm>
            <a:off x="9509760" y="4069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表级测试隔离的题次（必要 + 不必要）</a:t>
            </a:r>
            <a:endParaRPr lang="en-US" sz="1250" dirty="0"/>
          </a:p>
        </p:txBody>
      </p:sp>
      <p:sp>
        <p:nvSpPr>
          <p:cNvPr id="12" name="tpcds takeaway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78D6"/>
                </a:solidFill>
              </a:rPr>
              <a:t>智能体侧参照：981 道配对题答对 360（判题参照 630），变错 0 道——拒绝的仍是触及学习期的修复。维护时间以重复装载下的修复搜索为主（2380.7 / 2602.1 秒）：300 万行上逐个检查候选过滤后撤下定义。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Q4 维护代价：节省来自共享条件，通用版本缓存同样拿到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6492240" y="128016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定义级时间随定义数增长（63.6 → 227.0 s），MAVRA 与版本缓存几乎不随定义数增长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零共享对照：所有方法为定义级的 95–102%——节省只来自共享，跟踪条件没有可见开销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比例在 400 万行、32 个智能体、1600 万行上保持（12.0–13.0%）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端到端：维护时间以修复搜索为主，两者都要做（90%）；共享把留出题轮数从 5.6 降到 3.7，输入 token 省 36%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因此效率不是本文的贡献：它是显式、版本化条件的性质；贡献在检查什么、何时可依赖、失败怎么办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Q5 端到端：共享带来大部分提升，维护在破坏性变化下拉开差距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8138160" y="128016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留出题上 MAVRA 与轨迹检索都是 100%：数据不变时检索成功轨迹与共享定义一样有效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已建模破坏下 MAVRA 73% 对轨迹检索 57%（+16，区间 14–18）：检索到的 SQL 不带有效性状态，状态流水下照旧重复计数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自验证提示：已建模破坏下 63%（MAVRA − 自验证 11）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智能体参照下的 MAVRA：已建模破坏下 74%（相对轨迹检索 17）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如实报告：备份副本下轨迹检索 72% 高于 MAVRA 61%——撤下定义安全但放弃了对部分题仍正确的知识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边界与下一步</a:t>
            </a:r>
            <a:endParaRPr lang="en-US" sz="3000" dirty="0"/>
          </a:p>
        </p:txBody>
      </p:sp>
      <p:sp>
        <p:nvSpPr>
          <p:cNvPr id="3" name="card 保证的范围"/>
          <p:cNvSpPr/>
          <p:nvPr/>
        </p:nvSpPr>
        <p:spPr>
          <a:xfrm>
            <a:off x="54864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dot 保证的范围"/>
          <p:cNvSpPr/>
          <p:nvPr/>
        </p:nvSpPr>
        <p:spPr>
          <a:xfrm>
            <a:off x="731520" y="146304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head 保证的范围"/>
          <p:cNvSpPr txBox="1"/>
          <p:nvPr/>
        </p:nvSpPr>
        <p:spPr>
          <a:xfrm>
            <a:off x="114300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保证的范围</a:t>
            </a:r>
            <a:endParaRPr lang="en-US" sz="1600" dirty="0"/>
          </a:p>
        </p:txBody>
      </p:sp>
      <p:sp>
        <p:nvSpPr>
          <p:cNvPr id="6" name="body 保证的范围"/>
          <p:cNvSpPr txBox="1"/>
          <p:nvPr/>
        </p:nvSpPr>
        <p:spPr>
          <a:xfrm>
            <a:off x="731520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覆盖声明了修订的使用；轨迹里 25.7% 的答案什么也没声明。条件不覆盖取值含义：单位变化不会被发现（命题 1 的 B2）。</a:t>
            </a:r>
            <a:endParaRPr lang="en-US" sz="1300" dirty="0"/>
          </a:p>
        </p:txBody>
      </p:sp>
      <p:sp>
        <p:nvSpPr>
          <p:cNvPr id="7" name="card 修复的语义"/>
          <p:cNvSpPr/>
          <p:nvPr/>
        </p:nvSpPr>
        <p:spPr>
          <a:xfrm>
            <a:off x="429768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dot 修复的语义"/>
          <p:cNvSpPr/>
          <p:nvPr/>
        </p:nvSpPr>
        <p:spPr>
          <a:xfrm>
            <a:off x="4480560" y="1463040"/>
            <a:ext cx="292608" cy="29260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9" name="head 修复的语义"/>
          <p:cNvSpPr txBox="1"/>
          <p:nvPr/>
        </p:nvSpPr>
        <p:spPr>
          <a:xfrm>
            <a:off x="489204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修复的语义</a:t>
            </a:r>
            <a:endParaRPr lang="en-US" sz="1600" dirty="0"/>
          </a:p>
        </p:txBody>
      </p:sp>
      <p:sp>
        <p:nvSpPr>
          <p:cNvPr id="10" name="body 修复的语义"/>
          <p:cNvSpPr txBox="1"/>
          <p:nvPr/>
        </p:nvSpPr>
        <p:spPr>
          <a:xfrm>
            <a:off x="4480560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修复恢复结构而非含义：唯一性规则挡住等价总体，回归只在参照区分时有效；有歧义的修复应带候选交人确认。去重与重映射键的算子可扩展到重复装载与日期键改写。</a:t>
            </a:r>
            <a:endParaRPr lang="en-US" sz="1300" dirty="0"/>
          </a:p>
        </p:txBody>
      </p:sp>
      <p:sp>
        <p:nvSpPr>
          <p:cNvPr id="11" name="card 泛化"/>
          <p:cNvSpPr/>
          <p:nvPr/>
        </p:nvSpPr>
        <p:spPr>
          <a:xfrm>
            <a:off x="804672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dot 泛化"/>
          <p:cNvSpPr/>
          <p:nvPr/>
        </p:nvSpPr>
        <p:spPr>
          <a:xfrm>
            <a:off x="8229600" y="146304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head 泛化"/>
          <p:cNvSpPr txBox="1"/>
          <p:nvPr/>
        </p:nvSpPr>
        <p:spPr>
          <a:xfrm>
            <a:off x="864108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泛化</a:t>
            </a:r>
            <a:endParaRPr lang="en-US" sz="1600" dirty="0"/>
          </a:p>
        </p:txBody>
      </p:sp>
      <p:sp>
        <p:nvSpPr>
          <p:cNvPr id="14" name="body 泛化"/>
          <p:cNvSpPr txBox="1"/>
          <p:nvPr/>
        </p:nvSpPr>
        <p:spPr>
          <a:xfrm>
            <a:off x="8229600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两个负载（合成、TPC-DS SF1 + 模板定义）上的变化都由我们注入；端到端一个大模型 × 3 次运行；场景未触发绑定快照执行。下一步：真实更新历史、更多模型。</a:t>
            </a:r>
            <a:endParaRPr lang="en-US" sz="1300" dirty="0"/>
          </a:p>
        </p:txBody>
      </p:sp>
      <p:sp>
        <p:nvSpPr>
          <p:cNvPr id="15" name="bullets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投稿：SIGMOD 2027 Research，Round 4（摘要 10-10，正文 10-17）；英文稿正文 12 页，双语稿同源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全部数值由脚本从原始运行生成（tools/paper-results.py、scen-stats.py、review-results.py），证据归档在 exp/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本轮（10-02 → 10-03）针对评审意见做了什么</a:t>
            </a:r>
            <a:endParaRPr lang="en-US" sz="3000" dirty="0"/>
          </a:p>
        </p:txBody>
      </p:sp>
      <p:sp>
        <p:nvSpPr>
          <p:cNvPr id="3" name="card 论证深度"/>
          <p:cNvSpPr/>
          <p:nvPr/>
        </p:nvSpPr>
        <p:spPr>
          <a:xfrm>
            <a:off x="548640" y="1280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dot 论证深度"/>
          <p:cNvSpPr/>
          <p:nvPr/>
        </p:nvSpPr>
        <p:spPr>
          <a:xfrm>
            <a:off x="731520" y="146304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head 论证深度"/>
          <p:cNvSpPr txBox="1"/>
          <p:nvPr/>
        </p:nvSpPr>
        <p:spPr>
          <a:xfrm>
            <a:off x="114300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论证深度</a:t>
            </a:r>
            <a:endParaRPr lang="en-US" sz="1600" dirty="0"/>
          </a:p>
        </p:txBody>
      </p:sp>
      <p:sp>
        <p:nvSpPr>
          <p:cNvPr id="6" name="body 论证深度"/>
          <p:cNvSpPr txBox="1"/>
          <p:nvPr/>
        </p:nvSpPr>
        <p:spPr>
          <a:xfrm>
            <a:off x="73152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命题 1：四类条件充分并划定检测边界；引理 1：结论复用规则在事务性版本下可靠；算法 1：有界修复的三道关。引言与摘要改为正面陈述，共享与维护的增益分开报告。</a:t>
            </a:r>
            <a:endParaRPr lang="en-US" sz="1300" dirty="0"/>
          </a:p>
        </p:txBody>
      </p:sp>
      <p:sp>
        <p:nvSpPr>
          <p:cNvPr id="7" name="card 新基线"/>
          <p:cNvSpPr/>
          <p:nvPr/>
        </p:nvSpPr>
        <p:spPr>
          <a:xfrm>
            <a:off x="4297680" y="1280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dot 新基线"/>
          <p:cNvSpPr/>
          <p:nvPr/>
        </p:nvSpPr>
        <p:spPr>
          <a:xfrm>
            <a:off x="4480560" y="1463040"/>
            <a:ext cx="292608" cy="29260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9" name="head 新基线"/>
          <p:cNvSpPr txBox="1"/>
          <p:nvPr/>
        </p:nvSpPr>
        <p:spPr>
          <a:xfrm>
            <a:off x="489204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新基线</a:t>
            </a:r>
            <a:endParaRPr lang="en-US" sz="1600" dirty="0"/>
          </a:p>
        </p:txBody>
      </p:sp>
      <p:sp>
        <p:nvSpPr>
          <p:cNvPr id="10" name="body 新基线"/>
          <p:cNvSpPr txBox="1"/>
          <p:nvPr/>
        </p:nvSpPr>
        <p:spPr>
          <a:xfrm>
            <a:off x="448056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dbt 式表级测试：零错误但只能隔离（少答对 342 题）。轨迹检索 + 自验证提示：告诉智能体检查什么，差距缩小 5 个百分点但仍差 11。</a:t>
            </a:r>
            <a:endParaRPr lang="en-US" sz="1300" dirty="0"/>
          </a:p>
        </p:txBody>
      </p:sp>
      <p:sp>
        <p:nvSpPr>
          <p:cNvPr id="11" name="card 外部效度与归因"/>
          <p:cNvSpPr/>
          <p:nvPr/>
        </p:nvSpPr>
        <p:spPr>
          <a:xfrm>
            <a:off x="8046720" y="1280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dot 外部效度与归因"/>
          <p:cNvSpPr/>
          <p:nvPr/>
        </p:nvSpPr>
        <p:spPr>
          <a:xfrm>
            <a:off x="8229600" y="146304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3" name="head 外部效度与归因"/>
          <p:cNvSpPr txBox="1"/>
          <p:nvPr/>
        </p:nvSpPr>
        <p:spPr>
          <a:xfrm>
            <a:off x="864108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外部效度与归因</a:t>
            </a:r>
            <a:endParaRPr lang="en-US" sz="1600" dirty="0"/>
          </a:p>
        </p:txBody>
      </p:sp>
      <p:sp>
        <p:nvSpPr>
          <p:cNvPr id="14" name="body 外部效度与归因"/>
          <p:cNvSpPr txBox="1"/>
          <p:nvPr/>
        </p:nvSpPr>
        <p:spPr>
          <a:xfrm>
            <a:off x="822960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真实 TPC-DS SF1 + 99 个官方模板导出的 93 个定义上重复配对回放；端到端用智能体自己的学习查询作修复参照，正确率不变（74% 对 73%），发布的修复减少。</a:t>
            </a:r>
            <a:endParaRPr lang="en-US" sz="1300" dirty="0"/>
          </a:p>
        </p:txBody>
      </p:sp>
      <p:sp>
        <p:nvSpPr>
          <p:cNvPr id="15" name="bullets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相关工作补充 dbt / Great Expectations / 数据契约 / MetricFlow，说明与按表声明测试的区别：按定义推条件、结论约束定义、在读取的快照上生效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全部增补运行的分析方案在启动前写定（exp/2026-10-02-scenarios-ds/README.md），结果如实报告：备份副本下轨迹检索仍优于 MAVRA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页数：英文稿正文 12 页；为此删去共享示意图、实验概览表、分组柱状图与场景代价表，热力表保留全部 12 种情形 × 9 种方法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4C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总结：把共享口径的有效性当作一等的、版本化的状态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EEF2F7"/>
                </a:solidFill>
              </a:rPr>
              <a:t>① 四类可执行条件，证明其充分并划定检测边界　② 结论按条件与版本索引，绑定快照执行并证明复用规则可靠　③ 唯一、不丢键、过回归的有界修复，否则撤下　④ 两个负载的配对回放、并发写入、代价、端到端：维护后的定义在已建模变化下零错误答案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VRA">
  <a:themeElements>
    <a:clrScheme name="MAVRA">
      <a:dk1>
        <a:srgbClr val="1B2A41"/>
      </a:dk1>
      <a:lt1>
        <a:srgbClr val="FFFFFF"/>
      </a:lt1>
      <a:dk2>
        <a:srgbClr val="3D4C63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8E44AD"/>
      </a:accent5>
      <a:accent6>
        <a:srgbClr val="6B6A66"/>
      </a:accent6>
      <a:hlink>
        <a:srgbClr val="2A78D6"/>
      </a:hlink>
      <a:folHlink>
        <a:srgbClr val="8E44AD"/>
      </a:folHlink>
    </a:clrScheme>
    <a:fontScheme name="MAVRA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MAVRA：面向数据智能体的共享指标定义有效性维护</dc:title>
  <dc:subject>PptxGenJS Presentation</dc:subject>
  <dc:creator>Anonymous</dc:creator>
  <cp:lastModifiedBy>Anonymous</cp:lastModifiedBy>
  <cp:revision>1</cp:revision>
  <dcterms:created xsi:type="dcterms:W3CDTF">2026-10-02T22:11:56Z</dcterms:created>
  <dcterms:modified xsi:type="dcterms:W3CDTF">2026-10-02T22:11:56Z</dcterms:modified>
</cp:coreProperties>
</file>