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1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2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相对定义级的维护 DB 时间（%）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定义级</c:v>
                  </c:pt>
                  <c:pt idx="1">
                    <c:v>仅缩小范围</c:v>
                  </c:pt>
                  <c:pt idx="2">
                    <c:v>检查结果缓存</c:v>
                  </c:pt>
                  <c:pt idx="3">
                    <c:v>MAVRA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86.8</c:v>
                </c:pt>
                <c:pt idx="2">
                  <c:v>16.7</c:v>
                </c:pt>
                <c:pt idx="3">
                  <c:v>14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0"/>
        <c:axPos val="l"/>
        <c:majorGridlines>
          <c:spPr>
            <a:ln w="12700" cap="flat">
              <a:solidFill>
                <a:srgbClr val="D9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全部情形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不共享</c:v>
                  </c:pt>
                  <c:pt idx="1">
                    <c:v>轨迹检索</c:v>
                  </c:pt>
                  <c:pt idx="2">
                    <c:v>检索 + 自检</c:v>
                  </c:pt>
                  <c:pt idx="3">
                    <c:v>共享不验证</c:v>
                  </c:pt>
                  <c:pt idx="4">
                    <c:v>MAVRA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76</c:v>
                </c:pt>
                <c:pt idx="2">
                  <c:v>77</c:v>
                </c:pt>
                <c:pt idx="3">
                  <c:v>75</c:v>
                </c:pt>
                <c:pt idx="4">
                  <c:v>81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条件能发现的破坏性变化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不共享</c:v>
                  </c:pt>
                  <c:pt idx="1">
                    <c:v>轨迹检索</c:v>
                  </c:pt>
                  <c:pt idx="2">
                    <c:v>检索 + 自检</c:v>
                  </c:pt>
                  <c:pt idx="3">
                    <c:v>共享不验证</c:v>
                  </c:pt>
                  <c:pt idx="4">
                    <c:v>MAVRA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19</c:v>
                </c:pt>
                <c:pt idx="1">
                  <c:v>57</c:v>
                </c:pt>
                <c:pt idx="2">
                  <c:v>63</c:v>
                </c:pt>
                <c:pt idx="3">
                  <c:v>59</c:v>
                </c:pt>
                <c:pt idx="4">
                  <c:v>74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D9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检查结果缓存</c:v>
                </c:pt>
              </c:strCache>
            </c:strRef>
          </c:tx>
          <c:spPr>
            <a:solidFill>
              <a:srgbClr val="53657A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追加后首用</c:v>
                  </c:pt>
                  <c:pt idx="1">
                    <c:v>破坏后首用</c:v>
                  </c:pt>
                  <c:pt idx="2">
                    <c:v>破坏后突发到达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17.998175059111112</c:v>
                </c:pt>
                <c:pt idx="1">
                  <c:v>32.00740278333334</c:v>
                </c:pt>
                <c:pt idx="2">
                  <c:v>58.04622229005557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MAVRA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Microsoft YaHe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追加后首用</c:v>
                  </c:pt>
                  <c:pt idx="1">
                    <c:v>破坏后首用</c:v>
                  </c:pt>
                  <c:pt idx="2">
                    <c:v>破坏后突发到达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12.526467348777778</c:v>
                </c:pt>
                <c:pt idx="1">
                  <c:v>28.41442213188889</c:v>
                </c:pt>
                <c:pt idx="2">
                  <c:v>78.07006399894443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5"/>
          <c:min val="0"/>
        </c:scaling>
        <c:delete val="0"/>
        <c:axPos val="l"/>
        <c:majorGridlines>
          <c:spPr>
            <a:ln w="12700" cap="flat">
              <a:solidFill>
                <a:srgbClr val="D9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3657A"/>
                </a:solidFill>
                <a:latin typeface="Microsoft YaHe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 w="12700" cap="flat">
          <a:solidFill>
            <a:srgbClr val="FFFFFF"/>
          </a:solidFill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FFFFFF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开场一句话：数据智能体会把“业务指标怎么算”自己摸索出来，并把结果共享给后面的会话；数据一变，这些共享的 SQL 可能悄悄算错。我们做的事是让数据库替智能体记住“这个定义为什么成立”，数据变了就重新核对，用的时候只在核对通过的数据上执行，坏了谨慎修，修不了就让它失效。今天先讲背景和问题，再讲做法和实验，最后是进展和想讨论的问题。
依据：论文标题 / 摘要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这页是给第一次接触这个方向的听众的地图。四个框按“背景—问题—做法—效果”排列，后面每一节都对应其中一个框。三个数字分别来自三组不同实验，不是同一个分母：74% 对 57% 是真实智能体在破坏性数据变化下的最终答案正确率；0 违规是并发写入下的系统层实验；64 秒到 38 秒是固定定义库的会话实验。
依据：论文摘要；gen/scen-ds.tex、review.tex、session-latency.tex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先解释“数据智能体”：一个大模型，拿到业务问题后不能直接写 SQL，它要先用工具列出表、看列、试探几条 SQL，弄清楚数据长什么样，最后才给答案。这页右边列的四件事就是它每道题都要摸索的内容。强调一点：真正难的不是 SQL 语法，而是弄清“这个指标到底怎么算”。下面的两个数字说明摸索的代价：不共享任何知识时，每道题平均要 5.6 轮工具交互，正确率只有 32%。
依据：论文 §2.1、§2.2；工作负载刻画 exp/2026-10-01-workload-characterization/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用退货金额把“口径”讲具体：事实表、度量、粒度、日期角色、过滤。这些东西 SQL 里不写、表结构也不保证，是业务上的约定。右边三个数字说明智能体离不开这类知识：Spider 2.0 的企业级任务上，o1-preview 智能体只完成 21.3%；BIRD 上给 GPT-4 专家标注的业务知识后正确率从 34.9% 升到 54.9%；我们自己的实验里，把学到的口径共享给新会话，正确率从 32% 升到 75%。所以口径要么有人告诉它，要么它自己摸索出来再记住。
依据：论文 §1、§2.2；Spider 2.0、BIRD 的数字取自原论文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业界和学术界都在往这个方向走：指标层让工程师手工声明口径；DataLab 这类系统从脚本历史和血缘里推导；AgentSM 这类工作直接复用智能体的成功轨迹。共享的收益很明确，下面三个数字是我们端到端实验里“不共享”对“共享”的差别。但共享之后，口径就变成了一个长期存在的东西，而它底下的数据库每天都在变。这就是下一节的问题。
依据：论文 §1、§2.2、§8；gen/numbers.tex（留出题的轮数与 token）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这是论文引言里的例子，建议讲慢一点。第一步：Agent A 探索时发现每笔退货只有一条“完成”记录，小票号加商品就能唯一确定一笔退货，于是直接 SUM。第二步：ETL 改动后，每笔新退货还会多一条“申请中”的状态行；表名、列名、类型都没变。第三步：Agent B 复用共享的 SQL，照常执行，结果把很多退货算了两次：某个期间返回 659 万，正确值是 329 万。学的那个会话已经结束，用的会话没见过当初的证据，执行成功也看不出错。
依据：论文 §1、§2.3（贯穿例子）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听众可能会问：数据库和数据工程不是早有一套工具吗？四条路逐一说明。按表结构跟踪变化：表没变，什么也看不到，回放实验里按模式变更失效给出 629 个错误答案。dbt 式的数据测试：按表测，不知道哪个口径依赖哪条性质，测试一失败只能让整张表上的定义全部失效，少答对 330 题。指标层：Databricks 的文档明确写了声明的连接性质“不在运行时验证”。让智能体自己查：轨迹里只有 16% 的会话会检查键唯一性；就算提示它去查，破坏性变化下也只从 57% 提到 63%，而由系统维护是 74%。
依据：论文 §1、§2.4、§7.2、§7.6；gen/review.tex、scen-ds.tex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整个工作的主线，后面四页分别展开。第一步“记录”：从口径的结构化定义里推出四类可执行条件，就是上一页说的“成立条件”。第二步“维护”：条件的检查结果按数据版本保存；数据更新后只重查被触及的条件，检查结果在所有依赖它的口径和智能体之间共享。第三步“约束使用”：声明了口径的查询只在条件成立的那份数据快照上执行。第四步“处理失效”：条件不再成立时，只接受唯一且通过回归测试的修复，否则让口径失效，宁可不可用也不给错答案。
依据：论文 §1、§3–§6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每一行先用白话说这个条件在保证什么，再说在退货金额里具体是什么，最后说数据库里怎么查。这四类条件都能写成 SQL 查询，返回“违反的证据”或空。命题 1 是论文的第一项形式化结果：在两条业务前提下（业务事件和过滤后的键一一对应；度量列就是事件的度量），四类条件成立就能保证规范 SQL 把每笔业务事件在它所属的期间恰好算一次，遗漏只限于完整性条件约束的那部分。命题同时划清了边界：单位换算这类取值变化不违反任何条件，条件看不到。
依据：论文 §4.2、§4.3；命题 1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条件的检查结果按“条件的规范形式 + 它读的那些表的版本”索引。表没变，检查结果继续有效；表变了，只有读到这张表的条件需要重查，而且一个条件的检查结果被所有依赖它的口径和智能体共享。右边是受控实验里的一个例子：更新 store_returns 后，有 8 个口径受影响；逐个口径重查要跑 19 次检查，但其实只涉及 3 个不同的条件。TPC-DS 的 99 个官方模板里共享更明显。要诚实地说：这种节省大部分用一个按版本索引的检查缓存也能拿到，所以论文不把它当主要贡献。
依据：论文 §4.4、§5.2；gen/review.tex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上面一行是常见做法：先检查，通过后再执行查询。问题是两步之间可能有写入提交，查询读到的已经是新数据，检查结果对它不成立——我们的并发实验里这种情况占 3.8% 到 4.6%。下面一行是我们的做法：把检查和查询放进同一个可重复读事务，读同一个快照；别处算好的检查结果只有在依赖表的事务性版本完全相同时才复用，这就是引理 1。要说明一点：默认的 DML 统计是异步更新的，统计值相同不代表数据相同，所以这个保证需要事务性版本（由写事务内的触发器维护）。
依据：论文 §6.2；引理 1；同快照验证为可选模式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条件不成立时，有两种结局：修好，或让它失效。修复只做一件事：在低基数列上找一个等值过滤。三道关：过滤后要恢复“一键一行”而且不丢任何业务键；候选过滤必须恰好一个；再通过准入检查，并在学习时快照上用学习题做回归测试。用两个例子说明为什么要“唯一”：状态变更行的例子里，“状态=完成”是唯一能恢复粒度的过滤，修复成功；备份副本的例子里，“来源=主库”和“来源=备份”都能恢复粒度，结构上分不出哪个是真实业务数据，所以让它失效。宁可不可用，也不发布可能错的修复。
依据：论文 §5.3；算法 1；§7.4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系统是一个 HTTP 中间件，智能体通过它的工具接口访问数据库。三条路径：准入——判题成功的学习轨迹被提取成结构化口径，通过七项准入检查后发布；维护——依赖的表版本变了就按条件重查、复用检查结果、置为失效或修复；执行——智能体在 run_sql 里声明用到的口径和修订号，中间件核对修订、审查 SQL，并在同快照模式下在同一事务里验证和执行。版本来源有两种：默认的表指纹加 DML 统计，和由语句级触发器维护的事务性版本。
依据：论文 §3；约 6,600 行 Rust，40 个测试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实验分两层，这样能把“维护机制对不对”和“智能体学得好不好”分开。系统层固定口径和数据变化，只替换维护方式：定义库回放（3 个大模型学到的 15 个口径库，加上从 TPC-DS 99 个官方模板导出的库，各经历 11 种数据变化）、并发写入、维护代价（100 万到 1600 万行）。端到端层用 DeepSeek V4.1 Flash 跑完整智能体：5 个指标，先学再用，11 种数据变化，9 种方法各独立跑 3 次，共 2586 道计分题；另有 216 个固定口径库的完整会话用来量任务时间和 token。右边列出 11 种数据变化是什么，其中单位换算是条件看不到的对照。
依据：论文 §7.1；表 2、表 3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定义库回放把同一个口径库放在不同维护方式下经历同样的变化，所以差异只来自维护；所有方法都用智能体自己的学习 SQL 作回归对照，在学习时快照上比较。在条件能发现的变化下，MAVRA 没有给出任何错误答案，按模式变更失效给出 629 个；真实 TPC-DS 数据上是 0 对 437。dbt 式的表级测试也能让被破坏的口径失效，但不会修，少答对 330 题。条件级、定义级和检查结果缓存三种重验方式逐题答案完全一样，说明端到端里它们的差异来自学到的库而不是维护。图里的 99 个错误全部来自单位换算这个对照，它不违反任何条件，论文明确把它划在边界之外。
依据：论文 §7.2；gen/review.tex；图 4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随机交错的并发实验：一边有写入者反复装载重复数据，一边有读者声明口径查询。先检查后执行在没有通知的写入下有 3.8% 到 4.6% 的作答落在违反条件的数据上；同快照验证在 11,297 次作答里一次也没有。读者的中位延迟两种模式一样，因为快照模式复用了维护阶段的检查结果。代价在写入者这边：每条写语句多一次计数器更新，单写者吞吐是无触发器的 0.70 倍，32 个并发写者分片计数后 0.97 倍，不分片会掉到 0.36 倍。
依据：论文 §7.3；gen/review.tex；表 5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受控实验里，19 个口径共享条件，8 个脚本智能体错峰使用。把逐口径重查全部条件的“定义级”记为 100%：只缩小范围不复用检查结果是 86.8%，按 SQL 文本和版本缓存检查结果的检查结果缓存是 16.7%，MAVRA 是 14.0%。两点要如实讲：一是节省来自检查结果共享，检查结果缓存几乎拿到同样的节省，所以这不是论文的主要贡献；二是比例从 100 万行到 1600 万行都稳定在 12% 到 13%。
依据：论文 §7.5；gen/review.tex；19 个口径、错峰到达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蓝柱是全部情形，橙柱是条件能发现的破坏性变化。先看蓝柱：不共享 32%，共享但不验证 75%，MAVRA 81%，所以共享本身是最大的一步。再看橙柱：破坏性变化下，MAVRA 74%，模仿 AgentSM 的轨迹检索 57%，预先登记的比较差 17 个百分点，95% 区间 15 到 18；让检索的智能体自己检查这些性质，也只到 63%。右下角是一个诚实的反例：备份副本的变化下 MAVRA 让口径失效了，智能体要自己重找，这一组反而输给检索。
依据：论文 §7.6；gen/scen-ds.tex；9 种方法 × 3 次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两组实验。上面的表是固定口径库的会话实验：每道题一个全新会话，不共享的智能体 54 题只答对 16 题、平均 64 秒；有共享口径的三种方法都 54 题全对，MAVRA 平均 38 秒，输入 token 少 40.7%。要说清楚：这个节省来自共享，定义级和检查结果缓存也在 32、33 秒，维护方式之间没有延迟优势。下面一行是另一个实验：所有智能体都拿到相同的业务定义、正确率相同，只看探索开销——逐步积累的共享知识把每题的结构查找从 3.5 次减到 2.5 次，SQL 探查从 0.20 次减到 0.06 次。
依据：论文 §7.6；gen/session-latency.tex；exp/2026-10-03-shared-memory/analysis/summary.json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主动把边界讲清楚，比被问到再解释好。第一，使用时的保证只覆盖声明了口径的查询：此前样本里 25.7% 的答案没有声明口径；声明了正确修订仍有 1.3% 因为自己写的 SQL 偏离规范计算而答错。第二，四类条件是结构条件，看不到取值语义（单位换算）和两份同样合法的总体（备份副本），这两类需要业务证据。第三，评估的局限：系统层的数据变化是我们注入的，不是真实的更新历史；端到端主实验只有一个模型、每种方法 3 次，更早一轮三个模型的趋势一致。
依据：论文 §6.3、§7.6、§9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左边是论文的四项贡献，和前面“记录—维护—约束使用—处理失效”一一对应。右边是进展：论文完整初稿已经写完并通过了一轮引用核对，目前 15 页，正文比 12 页上限多出约 0.6 页需要压缩；代码和全部实验数据都在仓库主线上，可复算；10 月 7 日模型配额重置后补跑其他模型的端到端实验。
依据：当前 overleaf/；docs/research-status.md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回一句话：学到的口径成了长期状态；四类条件说明要查什么，事务性版本和同快照验证说明什么时候可以用，唯一且过回归的修复说明坏了怎么办。最后列出三个想请老师把关的问题：定位是否站得住、评估要补哪一项最有说服力、投稿目标与时间。
依据：论文 §10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问答备用。修订 m^r=(B,I,C,E,r)：业务含义、结构化实现、条件集、证据、修订号；规范 SQL 由 I 编译。命题 1 的两条业务前提：B1 业务事件与过滤后的键值一一对应；B2 度量表达式在事件行上给出该事件的度量。引理 1 依赖 PostgreSQL 快照的嵌套性和“写入与版本递增同事务”。算法 1 的候选来自低基数列上的等值过滤。
依据：论文 §4、§6.2、§5.3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问答备用。智能体的学习 SQL 只在学习时的那份数据上被判过对。MAVRA 把它和修复后的定义放在学习时快照上比较（数仓用 time travel，原型在准入时复制相关表）：同一批 1,470 道题答对 933 道，多版本更正 168/168、缓慢变化维 63/66 全部修好。同样的测试放在当前数据上只答对 780 道：多版本更正之后智能体的 SQL 会把旧版本也算进去，正确的修复也被拒绝。预先写入区分列的标准答案 SQL 答对 933 道。TPC-DS 上是 630 对 360（共 981 道）。端到端实验早于这个改动，G8 在当前数据上比较，口径失效后智能体自己推出过滤，正确率 74%。备份副本反例：不要求候选唯一时，一个预见来源列的参照会让错误修复发布；要求唯一后都让口径失效。
依据：论文 §5.3、§7.4；gen/review.tex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问答备用。这张表是机制定位，不表示所有行都跑了同一个端到端矩阵：表级测试在定义库回放里跑；定义级加缓存在代价实验和固定库会话里跑；端到端场景是 9 种方法。
依据：论文 §2.4、表 3；概念对照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问答备用，也是对“MAVRA 比检查结果缓存更快吗”的诚实回答：不是。更新后首次使用 MAVRA 更快（追加后 12.53 对 18.00 秒，破坏后 28.41 对 32.01），但突发到达时 78 对 58 秒，一次 356 秒的长尾里 338 秒是模型接口时间。全矩阵平均 37.68 对 31.97 秒；数据库工作量少 25.3% 推不出整体更快。只有 3 个库，描述性结果。
依据：exp/2026-10-03-session-latency/stats.json、report.md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问答备用。应用侧是 Amazon Redset，400 个集群 4.41 亿条查询；智能体侧是 100 个互不共享的 DeepSeek 会话。应用反复发同样的查询模板，结果缓存就能服务；智能体反复获取的是表结构、粒度、连接这些事实，SQL 写法每次都不同，按文本的缓存一条也服务不了。另外两点：错误答案全部来自执行成功的 SQL；只有 16% 的会话会检查键唯一性。
依据：论文 §2.1；exp/2026-10-01-workload-characterization/
报告日期：2026-10-12。内容对应当前 overleaf/ 正文；归档结果单独标注。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4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3" name="text-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4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论文标题 / 摘要</a:t>
            </a:r>
            <a:endParaRPr lang="en-US" sz="850" dirty="0"/>
          </a:p>
        </p:txBody>
      </p:sp>
      <p:sp>
        <p:nvSpPr>
          <p:cNvPr id="4" name="text-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-4"/>
          <p:cNvSpPr txBox="1"/>
          <p:nvPr/>
        </p:nvSpPr>
        <p:spPr>
          <a:xfrm>
            <a:off x="731520" y="960120"/>
            <a:ext cx="1060704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</a:t>
            </a:r>
            <a:endParaRPr lang="en-US" sz="5200" dirty="0"/>
          </a:p>
        </p:txBody>
      </p:sp>
      <p:sp>
        <p:nvSpPr>
          <p:cNvPr id="7" name="text-5"/>
          <p:cNvSpPr txBox="1"/>
          <p:nvPr/>
        </p:nvSpPr>
        <p:spPr>
          <a:xfrm>
            <a:off x="731520" y="205740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让数据智能体共享的指标定义</a:t>
            </a:r>
            <a:endParaRPr lang="en-US" sz="3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在数据变化后依然正确</a:t>
            </a:r>
            <a:endParaRPr lang="en-US" sz="3400" dirty="0"/>
          </a:p>
        </p:txBody>
      </p:sp>
      <p:sp>
        <p:nvSpPr>
          <p:cNvPr id="8" name="text-6"/>
          <p:cNvSpPr txBox="1"/>
          <p:nvPr/>
        </p:nvSpPr>
        <p:spPr>
          <a:xfrm>
            <a:off x="758952" y="393192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900" dirty="0">
                <a:solidFill>
                  <a:srgbClr val="D6E2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Keeping Shared Metric Definitions Valid for Data Agents</a:t>
            </a:r>
            <a:endParaRPr lang="en-US" sz="1900" dirty="0"/>
          </a:p>
        </p:txBody>
      </p:sp>
      <p:sp>
        <p:nvSpPr>
          <p:cNvPr id="9" name="text-7"/>
          <p:cNvSpPr txBox="1"/>
          <p:nvPr/>
        </p:nvSpPr>
        <p:spPr>
          <a:xfrm>
            <a:off x="758952" y="480060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dirty="0">
                <a:solidFill>
                  <a:srgbClr val="D6E2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 / 10 / 12  ·  组会汇报  ·  投稿目标 SIGMOD 2027</a:t>
            </a:r>
            <a:endParaRPr lang="en-US" sz="1800" dirty="0"/>
          </a:p>
        </p:txBody>
      </p:sp>
      <p:sp>
        <p:nvSpPr>
          <p:cNvPr id="10" name="text-8"/>
          <p:cNvSpPr txBox="1"/>
          <p:nvPr/>
        </p:nvSpPr>
        <p:spPr>
          <a:xfrm>
            <a:off x="758952" y="5577840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AFC4D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  →  问题  →  做法  →  实验  →  进展与讨论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9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概要</a:t>
            </a:r>
            <a:endParaRPr lang="en-US" sz="1100" dirty="0"/>
          </a:p>
        </p:txBody>
      </p:sp>
      <p:sp>
        <p:nvSpPr>
          <p:cNvPr id="3" name="text-10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一页看懂：问题、做法和效果</a:t>
            </a:r>
            <a:endParaRPr lang="en-US" sz="2900" dirty="0"/>
          </a:p>
        </p:txBody>
      </p:sp>
      <p:sp>
        <p:nvSpPr>
          <p:cNvPr id="4" name="text-1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1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论文摘要；gen/scen-ds.tex、review.tex、session-latency.tex</a:t>
            </a:r>
            <a:endParaRPr lang="en-US" sz="850" dirty="0"/>
          </a:p>
        </p:txBody>
      </p:sp>
      <p:sp>
        <p:nvSpPr>
          <p:cNvPr id="6" name="text-1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shape-14"/>
          <p:cNvSpPr/>
          <p:nvPr/>
        </p:nvSpPr>
        <p:spPr>
          <a:xfrm>
            <a:off x="548640" y="1481328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15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16"/>
          <p:cNvSpPr txBox="1"/>
          <p:nvPr/>
        </p:nvSpPr>
        <p:spPr>
          <a:xfrm>
            <a:off x="74980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17"/>
          <p:cNvSpPr txBox="1"/>
          <p:nvPr/>
        </p:nvSpPr>
        <p:spPr>
          <a:xfrm>
            <a:off x="1280160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800" dirty="0"/>
          </a:p>
        </p:txBody>
      </p:sp>
      <p:sp>
        <p:nvSpPr>
          <p:cNvPr id="12" name="text-18"/>
          <p:cNvSpPr txBox="1"/>
          <p:nvPr/>
        </p:nvSpPr>
        <p:spPr>
          <a:xfrm>
            <a:off x="768096" y="2304288"/>
            <a:ext cx="216712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大模型智能体靠探索数据库来回答业务问题。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“退货金额怎么算”这类口径是业务知识，表结构里没有；学一次很贵，所以越来越多系统让智能体把学到的口径共享给后来的会话。</a:t>
            </a:r>
            <a:endParaRPr lang="en-US" sz="1500" dirty="0"/>
          </a:p>
        </p:txBody>
      </p:sp>
      <p:sp>
        <p:nvSpPr>
          <p:cNvPr id="13" name="shape-19"/>
          <p:cNvSpPr/>
          <p:nvPr/>
        </p:nvSpPr>
        <p:spPr>
          <a:xfrm>
            <a:off x="3364992" y="1481328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20"/>
          <p:cNvSpPr/>
          <p:nvPr/>
        </p:nvSpPr>
        <p:spPr>
          <a:xfrm>
            <a:off x="3566160" y="1682496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-21"/>
          <p:cNvSpPr txBox="1"/>
          <p:nvPr/>
        </p:nvSpPr>
        <p:spPr>
          <a:xfrm>
            <a:off x="35661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-22"/>
          <p:cNvSpPr txBox="1"/>
          <p:nvPr/>
        </p:nvSpPr>
        <p:spPr>
          <a:xfrm>
            <a:off x="4096512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800" dirty="0"/>
          </a:p>
        </p:txBody>
      </p:sp>
      <p:sp>
        <p:nvSpPr>
          <p:cNvPr id="17" name="text-23"/>
          <p:cNvSpPr txBox="1"/>
          <p:nvPr/>
        </p:nvSpPr>
        <p:spPr>
          <a:xfrm>
            <a:off x="3584448" y="2304288"/>
            <a:ext cx="216712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共享的口径是在某一时刻的数据上学到的。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日常的数据更新（比如多了一种状态行）不改表结构，却让共享的 SQL 照常执行、悄悄返回错误汇总值；用它的智能体看不出来。</a:t>
            </a:r>
            <a:endParaRPr lang="en-US" sz="1500" dirty="0"/>
          </a:p>
        </p:txBody>
      </p:sp>
      <p:sp>
        <p:nvSpPr>
          <p:cNvPr id="18" name="shape-24"/>
          <p:cNvSpPr/>
          <p:nvPr/>
        </p:nvSpPr>
        <p:spPr>
          <a:xfrm>
            <a:off x="6181344" y="1481328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9" name="circle-25"/>
          <p:cNvSpPr/>
          <p:nvPr/>
        </p:nvSpPr>
        <p:spPr>
          <a:xfrm>
            <a:off x="6382512" y="1682496"/>
            <a:ext cx="402336" cy="402336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20" name="text-26"/>
          <p:cNvSpPr txBox="1"/>
          <p:nvPr/>
        </p:nvSpPr>
        <p:spPr>
          <a:xfrm>
            <a:off x="638251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-27"/>
          <p:cNvSpPr txBox="1"/>
          <p:nvPr/>
        </p:nvSpPr>
        <p:spPr>
          <a:xfrm>
            <a:off x="6912864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800" dirty="0"/>
          </a:p>
        </p:txBody>
      </p:sp>
      <p:sp>
        <p:nvSpPr>
          <p:cNvPr id="22" name="text-28"/>
          <p:cNvSpPr txBox="1"/>
          <p:nvPr/>
        </p:nvSpPr>
        <p:spPr>
          <a:xfrm>
            <a:off x="6400800" y="2304288"/>
            <a:ext cx="216712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让数据库替智能体记住“定义为什么成立”：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把成立条件记录为可执行检查，随数据版本维护，查询只在检查通过的数据上执行；坏了只做唯一且过回归的修复，否则让它失效。</a:t>
            </a:r>
            <a:endParaRPr lang="en-US" sz="1500" dirty="0"/>
          </a:p>
        </p:txBody>
      </p:sp>
      <p:sp>
        <p:nvSpPr>
          <p:cNvPr id="23" name="shape-29"/>
          <p:cNvSpPr/>
          <p:nvPr/>
        </p:nvSpPr>
        <p:spPr>
          <a:xfrm>
            <a:off x="8997696" y="1481328"/>
            <a:ext cx="2606040" cy="361188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4" name="circle-30"/>
          <p:cNvSpPr/>
          <p:nvPr/>
        </p:nvSpPr>
        <p:spPr>
          <a:xfrm>
            <a:off x="9198864" y="1682496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25" name="text-31"/>
          <p:cNvSpPr txBox="1"/>
          <p:nvPr/>
        </p:nvSpPr>
        <p:spPr>
          <a:xfrm>
            <a:off x="91988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-32"/>
          <p:cNvSpPr txBox="1"/>
          <p:nvPr/>
        </p:nvSpPr>
        <p:spPr>
          <a:xfrm>
            <a:off x="9729216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800" dirty="0"/>
          </a:p>
        </p:txBody>
      </p:sp>
      <p:sp>
        <p:nvSpPr>
          <p:cNvPr id="27" name="text-33"/>
          <p:cNvSpPr txBox="1"/>
          <p:nvPr/>
        </p:nvSpPr>
        <p:spPr>
          <a:xfrm>
            <a:off x="9217152" y="2304288"/>
            <a:ext cx="2167128" cy="2642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破坏性数据变化下，智能体正确率 74%，对照的轨迹检索 57%。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并发写入下零次在违规数据上作答。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使用者的任务从 64.47 秒缩到 37.68 秒，token 少 40.7%。</a:t>
            </a:r>
            <a:endParaRPr lang="en-US" sz="1500" dirty="0"/>
          </a:p>
        </p:txBody>
      </p:sp>
      <p:sp>
        <p:nvSpPr>
          <p:cNvPr id="28" name="shape-34"/>
          <p:cNvSpPr/>
          <p:nvPr/>
        </p:nvSpPr>
        <p:spPr>
          <a:xfrm>
            <a:off x="548640" y="544068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9" name="text-35"/>
          <p:cNvSpPr txBox="1"/>
          <p:nvPr/>
        </p:nvSpPr>
        <p:spPr>
          <a:xfrm>
            <a:off x="749808" y="555040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一句话：共享让智能体少探索；维护让共享的知识在变化的数据上继续成立。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100" dirty="0"/>
          </a:p>
        </p:txBody>
      </p:sp>
      <p:sp>
        <p:nvSpPr>
          <p:cNvPr id="3" name="text-37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数据智能体：先摸清数据库，再写 SQL 回答业务问题</a:t>
            </a:r>
            <a:endParaRPr lang="en-US" sz="2700" dirty="0"/>
          </a:p>
        </p:txBody>
      </p:sp>
      <p:sp>
        <p:nvSpPr>
          <p:cNvPr id="4" name="text-38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9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§2.1、§2.2；工作负载刻画 exp/2026-10-01-workload-characterization/</a:t>
            </a:r>
            <a:endParaRPr lang="en-US" sz="850" dirty="0"/>
          </a:p>
        </p:txBody>
      </p:sp>
      <p:sp>
        <p:nvSpPr>
          <p:cNvPr id="6" name="text-40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050" dirty="0"/>
          </a:p>
        </p:txBody>
      </p:sp>
      <p:sp>
        <p:nvSpPr>
          <p:cNvPr id="8" name="shape-41"/>
          <p:cNvSpPr/>
          <p:nvPr/>
        </p:nvSpPr>
        <p:spPr>
          <a:xfrm>
            <a:off x="548640" y="15544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text-42"/>
          <p:cNvSpPr txBox="1"/>
          <p:nvPr/>
        </p:nvSpPr>
        <p:spPr>
          <a:xfrm>
            <a:off x="731520" y="1682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业务问题</a:t>
            </a:r>
            <a:endParaRPr lang="en-US" sz="1700" dirty="0"/>
          </a:p>
        </p:txBody>
      </p:sp>
      <p:sp>
        <p:nvSpPr>
          <p:cNvPr id="10" name="text-43"/>
          <p:cNvSpPr txBox="1"/>
          <p:nvPr/>
        </p:nvSpPr>
        <p:spPr>
          <a:xfrm>
            <a:off x="73152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“上个月门店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退货金额是多少？”</a:t>
            </a:r>
            <a:endParaRPr lang="en-US" sz="1400" dirty="0"/>
          </a:p>
        </p:txBody>
      </p:sp>
      <p:sp>
        <p:nvSpPr>
          <p:cNvPr id="11" name="arrow-44"/>
          <p:cNvSpPr/>
          <p:nvPr/>
        </p:nvSpPr>
        <p:spPr>
          <a:xfrm>
            <a:off x="2578608" y="2258568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2" name="shape-45"/>
          <p:cNvSpPr/>
          <p:nvPr/>
        </p:nvSpPr>
        <p:spPr>
          <a:xfrm>
            <a:off x="2834640" y="15544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3" name="text-46"/>
          <p:cNvSpPr txBox="1"/>
          <p:nvPr/>
        </p:nvSpPr>
        <p:spPr>
          <a:xfrm>
            <a:off x="3017520" y="1682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</a:t>
            </a:r>
            <a:endParaRPr lang="en-US" sz="1700" dirty="0"/>
          </a:p>
        </p:txBody>
      </p:sp>
      <p:sp>
        <p:nvSpPr>
          <p:cNvPr id="14" name="text-47"/>
          <p:cNvSpPr txBox="1"/>
          <p:nvPr/>
        </p:nvSpPr>
        <p:spPr>
          <a:xfrm>
            <a:off x="301752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规划与推理</a:t>
            </a:r>
            <a:endParaRPr lang="en-US" sz="1400" dirty="0"/>
          </a:p>
        </p:txBody>
      </p:sp>
      <p:sp>
        <p:nvSpPr>
          <p:cNvPr id="15" name="arrow-48"/>
          <p:cNvSpPr/>
          <p:nvPr/>
        </p:nvSpPr>
        <p:spPr>
          <a:xfrm>
            <a:off x="4864608" y="2258568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6" name="shape-49"/>
          <p:cNvSpPr/>
          <p:nvPr/>
        </p:nvSpPr>
        <p:spPr>
          <a:xfrm>
            <a:off x="5120640" y="15544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7" name="text-50"/>
          <p:cNvSpPr txBox="1"/>
          <p:nvPr/>
        </p:nvSpPr>
        <p:spPr>
          <a:xfrm>
            <a:off x="5303520" y="1682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工具调用</a:t>
            </a:r>
            <a:endParaRPr lang="en-US" sz="1700" dirty="0"/>
          </a:p>
        </p:txBody>
      </p:sp>
      <p:sp>
        <p:nvSpPr>
          <p:cNvPr id="18" name="text-51"/>
          <p:cNvSpPr txBox="1"/>
          <p:nvPr/>
        </p:nvSpPr>
        <p:spPr>
          <a:xfrm>
            <a:off x="530352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列出表 · 查看列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试探 SQL · 执行</a:t>
            </a:r>
            <a:endParaRPr lang="en-US" sz="1400" dirty="0"/>
          </a:p>
        </p:txBody>
      </p:sp>
      <p:sp>
        <p:nvSpPr>
          <p:cNvPr id="19" name="arrow-52"/>
          <p:cNvSpPr/>
          <p:nvPr/>
        </p:nvSpPr>
        <p:spPr>
          <a:xfrm>
            <a:off x="7150608" y="2258568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0" name="shape-53"/>
          <p:cNvSpPr/>
          <p:nvPr/>
        </p:nvSpPr>
        <p:spPr>
          <a:xfrm>
            <a:off x="7406640" y="15544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1" name="text-54"/>
          <p:cNvSpPr txBox="1"/>
          <p:nvPr/>
        </p:nvSpPr>
        <p:spPr>
          <a:xfrm>
            <a:off x="7589520" y="1682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22" name="text-55"/>
          <p:cNvSpPr txBox="1"/>
          <p:nvPr/>
        </p:nvSpPr>
        <p:spPr>
          <a:xfrm>
            <a:off x="758952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事实表与维度表</a:t>
            </a:r>
            <a:endParaRPr lang="en-US" sz="1400" dirty="0"/>
          </a:p>
        </p:txBody>
      </p:sp>
      <p:sp>
        <p:nvSpPr>
          <p:cNvPr id="23" name="arrow-56"/>
          <p:cNvSpPr/>
          <p:nvPr/>
        </p:nvSpPr>
        <p:spPr>
          <a:xfrm>
            <a:off x="9436608" y="2258568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4" name="shape-57"/>
          <p:cNvSpPr/>
          <p:nvPr/>
        </p:nvSpPr>
        <p:spPr>
          <a:xfrm>
            <a:off x="9692640" y="1554480"/>
            <a:ext cx="2011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5" name="text-58"/>
          <p:cNvSpPr txBox="1"/>
          <p:nvPr/>
        </p:nvSpPr>
        <p:spPr>
          <a:xfrm>
            <a:off x="9875520" y="16824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答案</a:t>
            </a:r>
            <a:endParaRPr lang="en-US" sz="1700" dirty="0"/>
          </a:p>
        </p:txBody>
      </p:sp>
      <p:sp>
        <p:nvSpPr>
          <p:cNvPr id="26" name="text-59"/>
          <p:cNvSpPr txBox="1"/>
          <p:nvPr/>
        </p:nvSpPr>
        <p:spPr>
          <a:xfrm>
            <a:off x="9875520" y="210312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金额 + 计算过程</a:t>
            </a:r>
            <a:endParaRPr lang="en-US" sz="1400" dirty="0"/>
          </a:p>
        </p:txBody>
      </p:sp>
      <p:sp>
        <p:nvSpPr>
          <p:cNvPr id="27" name="shape-60"/>
          <p:cNvSpPr/>
          <p:nvPr/>
        </p:nvSpPr>
        <p:spPr>
          <a:xfrm>
            <a:off x="548640" y="3291840"/>
            <a:ext cx="5852160" cy="2240280"/>
          </a:xfrm>
          <a:prstGeom prst="roundRect">
            <a:avLst>
              <a:gd name="adj" fmla="val 408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8" name="text-61"/>
          <p:cNvSpPr txBox="1"/>
          <p:nvPr/>
        </p:nvSpPr>
        <p:spPr>
          <a:xfrm>
            <a:off x="768096" y="3511296"/>
            <a:ext cx="54498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每道题都要摸清的事</a:t>
            </a:r>
            <a:endParaRPr lang="en-US" sz="1800" dirty="0"/>
          </a:p>
        </p:txBody>
      </p:sp>
      <p:sp>
        <p:nvSpPr>
          <p:cNvPr id="29" name="text-62"/>
          <p:cNvSpPr txBox="1"/>
          <p:nvPr/>
        </p:nvSpPr>
        <p:spPr>
          <a:xfrm>
            <a:off x="768096" y="4114800"/>
            <a:ext cx="541324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哪张表装着退货，哪一列是金额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一笔退货对应几行（粒度）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用哪个日期把退货归到“上个月”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哪些行不该算（取消、申请中……）</a:t>
            </a:r>
            <a:endParaRPr lang="en-US" sz="1550" dirty="0"/>
          </a:p>
        </p:txBody>
      </p:sp>
      <p:sp>
        <p:nvSpPr>
          <p:cNvPr id="30" name="text-63"/>
          <p:cNvSpPr txBox="1"/>
          <p:nvPr/>
        </p:nvSpPr>
        <p:spPr>
          <a:xfrm>
            <a:off x="6858000" y="34290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轮</a:t>
            </a:r>
            <a:endParaRPr lang="en-US" sz="3600" dirty="0"/>
          </a:p>
        </p:txBody>
      </p:sp>
      <p:sp>
        <p:nvSpPr>
          <p:cNvPr id="31" name="text-64"/>
          <p:cNvSpPr txBox="1"/>
          <p:nvPr/>
        </p:nvSpPr>
        <p:spPr>
          <a:xfrm>
            <a:off x="6858000" y="431596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不共享知识时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每道题的工具交互轮数</a:t>
            </a:r>
            <a:endParaRPr lang="en-US" sz="1500" dirty="0"/>
          </a:p>
        </p:txBody>
      </p:sp>
      <p:sp>
        <p:nvSpPr>
          <p:cNvPr id="32" name="text-65"/>
          <p:cNvSpPr txBox="1"/>
          <p:nvPr/>
        </p:nvSpPr>
        <p:spPr>
          <a:xfrm>
            <a:off x="9418320" y="34290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32%</a:t>
            </a:r>
            <a:endParaRPr lang="en-US" sz="3600" dirty="0"/>
          </a:p>
        </p:txBody>
      </p:sp>
      <p:sp>
        <p:nvSpPr>
          <p:cNvPr id="33" name="text-66"/>
          <p:cNvSpPr txBox="1"/>
          <p:nvPr/>
        </p:nvSpPr>
        <p:spPr>
          <a:xfrm>
            <a:off x="9418320" y="4315968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不共享知识时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端到端正确率</a:t>
            </a:r>
            <a:endParaRPr lang="en-US" sz="1500" dirty="0"/>
          </a:p>
        </p:txBody>
      </p:sp>
      <p:sp>
        <p:nvSpPr>
          <p:cNvPr id="34" name="shape-67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5" name="text-68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真正难的不是写 SQL，而是弄清“口径”：哪些行算一次、怎么归期、怎么过滤。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69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100" dirty="0"/>
          </a:p>
        </p:txBody>
      </p:sp>
      <p:sp>
        <p:nvSpPr>
          <p:cNvPr id="3" name="text-70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“口径”是业务知识，表结构里没有</a:t>
            </a:r>
            <a:endParaRPr lang="en-US" sz="2900" dirty="0"/>
          </a:p>
        </p:txBody>
      </p:sp>
      <p:sp>
        <p:nvSpPr>
          <p:cNvPr id="4" name="text-7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7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§1、§2.2；Spider 2.0、BIRD 的数字取自原论文</a:t>
            </a:r>
            <a:endParaRPr lang="en-US" sz="850" dirty="0"/>
          </a:p>
        </p:txBody>
      </p:sp>
      <p:sp>
        <p:nvSpPr>
          <p:cNvPr id="6" name="text-7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050" dirty="0"/>
          </a:p>
        </p:txBody>
      </p:sp>
      <p:sp>
        <p:nvSpPr>
          <p:cNvPr id="8" name="shape-74"/>
          <p:cNvSpPr/>
          <p:nvPr/>
        </p:nvSpPr>
        <p:spPr>
          <a:xfrm>
            <a:off x="548640" y="1481328"/>
            <a:ext cx="5120640" cy="4069080"/>
          </a:xfrm>
          <a:prstGeom prst="roundRect">
            <a:avLst>
              <a:gd name="adj" fmla="val 2247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text-75"/>
          <p:cNvSpPr txBox="1"/>
          <p:nvPr/>
        </p:nvSpPr>
        <p:spPr>
          <a:xfrm>
            <a:off x="768096" y="1700784"/>
            <a:ext cx="47183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退货金额的口径</a:t>
            </a:r>
            <a:endParaRPr lang="en-US" sz="1800" dirty="0"/>
          </a:p>
        </p:txBody>
      </p:sp>
      <p:sp>
        <p:nvSpPr>
          <p:cNvPr id="10" name="text-76"/>
          <p:cNvSpPr txBox="1"/>
          <p:nvPr/>
        </p:nvSpPr>
        <p:spPr>
          <a:xfrm>
            <a:off x="768096" y="2304288"/>
            <a:ext cx="468172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事实表　store_returns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度量　　SUM(sr_return_amt)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　　小票号 + 商品 = 一笔退货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　　按退货日期归期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　　只算“已完成”的退货</a:t>
            </a: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endParaRPr lang="en-US" sz="16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这五条 SQL 里不会写明，表结构也不强制。</a:t>
            </a:r>
            <a:endParaRPr lang="en-US" sz="1600" dirty="0"/>
          </a:p>
        </p:txBody>
      </p:sp>
      <p:sp>
        <p:nvSpPr>
          <p:cNvPr id="11" name="shape-77"/>
          <p:cNvSpPr/>
          <p:nvPr/>
        </p:nvSpPr>
        <p:spPr>
          <a:xfrm>
            <a:off x="6035040" y="1481328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12" name="text-78"/>
          <p:cNvSpPr txBox="1"/>
          <p:nvPr/>
        </p:nvSpPr>
        <p:spPr>
          <a:xfrm>
            <a:off x="6263640" y="16276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21.3%</a:t>
            </a:r>
            <a:endParaRPr lang="en-US" sz="2600" dirty="0"/>
          </a:p>
        </p:txBody>
      </p:sp>
      <p:sp>
        <p:nvSpPr>
          <p:cNvPr id="13" name="text-79"/>
          <p:cNvSpPr txBox="1"/>
          <p:nvPr/>
        </p:nvSpPr>
        <p:spPr>
          <a:xfrm>
            <a:off x="8915400" y="15727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Spider 2.0 企业级任务上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o1-preview 智能体的完成率</a:t>
            </a:r>
            <a:endParaRPr lang="en-US" sz="1350" dirty="0"/>
          </a:p>
        </p:txBody>
      </p:sp>
      <p:sp>
        <p:nvSpPr>
          <p:cNvPr id="14" name="shape-80"/>
          <p:cNvSpPr/>
          <p:nvPr/>
        </p:nvSpPr>
        <p:spPr>
          <a:xfrm>
            <a:off x="6035040" y="2852928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15" name="text-81"/>
          <p:cNvSpPr txBox="1"/>
          <p:nvPr/>
        </p:nvSpPr>
        <p:spPr>
          <a:xfrm>
            <a:off x="6263640" y="29992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34.9% → 54.9%</a:t>
            </a:r>
            <a:endParaRPr lang="en-US" sz="2600" dirty="0"/>
          </a:p>
        </p:txBody>
      </p:sp>
      <p:sp>
        <p:nvSpPr>
          <p:cNvPr id="16" name="text-82"/>
          <p:cNvSpPr txBox="1"/>
          <p:nvPr/>
        </p:nvSpPr>
        <p:spPr>
          <a:xfrm>
            <a:off x="8915400" y="29443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BIRD：给 GPT-4 专家标注的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业务知识前后的正确率</a:t>
            </a:r>
            <a:endParaRPr lang="en-US" sz="1350" dirty="0"/>
          </a:p>
        </p:txBody>
      </p:sp>
      <p:sp>
        <p:nvSpPr>
          <p:cNvPr id="17" name="shape-83"/>
          <p:cNvSpPr/>
          <p:nvPr/>
        </p:nvSpPr>
        <p:spPr>
          <a:xfrm>
            <a:off x="6035040" y="4224528"/>
            <a:ext cx="557784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18" name="text-84"/>
          <p:cNvSpPr txBox="1"/>
          <p:nvPr/>
        </p:nvSpPr>
        <p:spPr>
          <a:xfrm>
            <a:off x="6263640" y="43708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2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32% → 75%</a:t>
            </a:r>
            <a:endParaRPr lang="en-US" sz="2600" dirty="0"/>
          </a:p>
        </p:txBody>
      </p:sp>
      <p:sp>
        <p:nvSpPr>
          <p:cNvPr id="19" name="text-85"/>
          <p:cNvSpPr txBox="1"/>
          <p:nvPr/>
        </p:nvSpPr>
        <p:spPr>
          <a:xfrm>
            <a:off x="8915400" y="431596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我们的实验：新会话拿到</a:t>
            </a:r>
            <a:endParaRPr lang="en-US" sz="13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共享口径前后的正确率</a:t>
            </a:r>
            <a:endParaRPr lang="en-US" sz="1350" dirty="0"/>
          </a:p>
        </p:txBody>
      </p:sp>
      <p:sp>
        <p:nvSpPr>
          <p:cNvPr id="20" name="shape-86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1" name="text-87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口径必须有人告诉智能体，或者由它自己摸索出来再记住，否则每道题都从零开始。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88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</a:t>
            </a:r>
            <a:endParaRPr lang="en-US" sz="1100" dirty="0"/>
          </a:p>
        </p:txBody>
      </p:sp>
      <p:sp>
        <p:nvSpPr>
          <p:cNvPr id="3" name="text-89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趋势：把智能体学到的口径共享给后来的会话</a:t>
            </a:r>
            <a:endParaRPr lang="en-US" sz="2900" dirty="0"/>
          </a:p>
        </p:txBody>
      </p:sp>
      <p:sp>
        <p:nvSpPr>
          <p:cNvPr id="4" name="text-90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91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§1、§2.2、§8；gen/numbers.tex（留出题的轮数与 token）</a:t>
            </a:r>
            <a:endParaRPr lang="en-US" sz="850" dirty="0"/>
          </a:p>
        </p:txBody>
      </p:sp>
      <p:sp>
        <p:nvSpPr>
          <p:cNvPr id="6" name="text-92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050" dirty="0"/>
          </a:p>
        </p:txBody>
      </p:sp>
      <p:sp>
        <p:nvSpPr>
          <p:cNvPr id="8" name="shape-93"/>
          <p:cNvSpPr/>
          <p:nvPr/>
        </p:nvSpPr>
        <p:spPr>
          <a:xfrm>
            <a:off x="548640" y="148132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94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10" name="text-95"/>
          <p:cNvSpPr txBox="1"/>
          <p:nvPr/>
        </p:nvSpPr>
        <p:spPr>
          <a:xfrm>
            <a:off x="74980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11" name="text-96"/>
          <p:cNvSpPr txBox="1"/>
          <p:nvPr/>
        </p:nvSpPr>
        <p:spPr>
          <a:xfrm>
            <a:off x="1280160" y="1700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人工声明的指标层</a:t>
            </a:r>
            <a:endParaRPr lang="en-US" sz="1800" dirty="0"/>
          </a:p>
        </p:txBody>
      </p:sp>
      <p:sp>
        <p:nvSpPr>
          <p:cNvPr id="12" name="text-97"/>
          <p:cNvSpPr txBox="1"/>
          <p:nvPr/>
        </p:nvSpPr>
        <p:spPr>
          <a:xfrm>
            <a:off x="768096" y="2304288"/>
            <a:ext cx="3127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Databricks metric views、dbt 语义层：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工程师手工写出度量、键和关联。</a:t>
            </a:r>
            <a:endParaRPr lang="en-US" sz="1500" dirty="0"/>
          </a:p>
        </p:txBody>
      </p:sp>
      <p:sp>
        <p:nvSpPr>
          <p:cNvPr id="13" name="shape-98"/>
          <p:cNvSpPr/>
          <p:nvPr/>
        </p:nvSpPr>
        <p:spPr>
          <a:xfrm>
            <a:off x="4297680" y="148132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99"/>
          <p:cNvSpPr/>
          <p:nvPr/>
        </p:nvSpPr>
        <p:spPr>
          <a:xfrm>
            <a:off x="4498848" y="1682496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15" name="text-100"/>
          <p:cNvSpPr txBox="1"/>
          <p:nvPr/>
        </p:nvSpPr>
        <p:spPr>
          <a:xfrm>
            <a:off x="449884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16" name="text-101"/>
          <p:cNvSpPr txBox="1"/>
          <p:nvPr/>
        </p:nvSpPr>
        <p:spPr>
          <a:xfrm>
            <a:off x="5029200" y="1700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从历史里推导</a:t>
            </a:r>
            <a:endParaRPr lang="en-US" sz="1800" dirty="0"/>
          </a:p>
        </p:txBody>
      </p:sp>
      <p:sp>
        <p:nvSpPr>
          <p:cNvPr id="17" name="text-102"/>
          <p:cNvSpPr txBox="1"/>
          <p:nvPr/>
        </p:nvSpPr>
        <p:spPr>
          <a:xfrm>
            <a:off x="4517136" y="2304288"/>
            <a:ext cx="3127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DataLab：用大模型从脚本历史和血缘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生成派生列的计算逻辑。</a:t>
            </a:r>
            <a:endParaRPr lang="en-US" sz="1500" dirty="0"/>
          </a:p>
        </p:txBody>
      </p:sp>
      <p:sp>
        <p:nvSpPr>
          <p:cNvPr id="18" name="shape-103"/>
          <p:cNvSpPr/>
          <p:nvPr/>
        </p:nvSpPr>
        <p:spPr>
          <a:xfrm>
            <a:off x="8046720" y="1481328"/>
            <a:ext cx="356616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9" name="circle-104"/>
          <p:cNvSpPr/>
          <p:nvPr/>
        </p:nvSpPr>
        <p:spPr>
          <a:xfrm>
            <a:off x="8247888" y="1682496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20" name="text-105"/>
          <p:cNvSpPr txBox="1"/>
          <p:nvPr/>
        </p:nvSpPr>
        <p:spPr>
          <a:xfrm>
            <a:off x="824788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500" dirty="0"/>
          </a:p>
        </p:txBody>
      </p:sp>
      <p:sp>
        <p:nvSpPr>
          <p:cNvPr id="21" name="text-106"/>
          <p:cNvSpPr txBox="1"/>
          <p:nvPr/>
        </p:nvSpPr>
        <p:spPr>
          <a:xfrm>
            <a:off x="8778240" y="1700784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复用智能体轨迹</a:t>
            </a:r>
            <a:endParaRPr lang="en-US" sz="1800" dirty="0"/>
          </a:p>
        </p:txBody>
      </p:sp>
      <p:sp>
        <p:nvSpPr>
          <p:cNvPr id="22" name="text-107"/>
          <p:cNvSpPr txBox="1"/>
          <p:nvPr/>
        </p:nvSpPr>
        <p:spPr>
          <a:xfrm>
            <a:off x="8266176" y="2304288"/>
            <a:ext cx="312724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AgentSM、智能体记忆系统：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把成功轨迹存起来，按题面检索复用。</a:t>
            </a:r>
            <a:endParaRPr lang="en-US" sz="1500" dirty="0"/>
          </a:p>
        </p:txBody>
      </p:sp>
      <p:sp>
        <p:nvSpPr>
          <p:cNvPr id="23" name="text-108"/>
          <p:cNvSpPr txBox="1"/>
          <p:nvPr/>
        </p:nvSpPr>
        <p:spPr>
          <a:xfrm>
            <a:off x="77724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32% → 75%</a:t>
            </a:r>
            <a:endParaRPr lang="en-US" sz="3200" dirty="0"/>
          </a:p>
        </p:txBody>
      </p:sp>
      <p:sp>
        <p:nvSpPr>
          <p:cNvPr id="24" name="text-109"/>
          <p:cNvSpPr txBox="1"/>
          <p:nvPr/>
        </p:nvSpPr>
        <p:spPr>
          <a:xfrm>
            <a:off x="777240" y="49560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共享口径后的端到端正确率</a:t>
            </a:r>
            <a:endParaRPr lang="en-US" sz="1500" dirty="0"/>
          </a:p>
        </p:txBody>
      </p:sp>
      <p:sp>
        <p:nvSpPr>
          <p:cNvPr id="25" name="text-110"/>
          <p:cNvSpPr txBox="1"/>
          <p:nvPr/>
        </p:nvSpPr>
        <p:spPr>
          <a:xfrm>
            <a:off x="452628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5.6 → 3.8 轮</a:t>
            </a:r>
            <a:endParaRPr lang="en-US" sz="3200" dirty="0"/>
          </a:p>
        </p:txBody>
      </p:sp>
      <p:sp>
        <p:nvSpPr>
          <p:cNvPr id="26" name="text-111"/>
          <p:cNvSpPr txBox="1"/>
          <p:nvPr/>
        </p:nvSpPr>
        <p:spPr>
          <a:xfrm>
            <a:off x="4526280" y="49560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每道留出题的工具交互轮数</a:t>
            </a:r>
            <a:endParaRPr lang="en-US" sz="1500" dirty="0"/>
          </a:p>
        </p:txBody>
      </p:sp>
      <p:sp>
        <p:nvSpPr>
          <p:cNvPr id="27" name="text-112"/>
          <p:cNvSpPr txBox="1"/>
          <p:nvPr/>
        </p:nvSpPr>
        <p:spPr>
          <a:xfrm>
            <a:off x="8275320" y="40690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−32%</a:t>
            </a:r>
            <a:endParaRPr lang="en-US" sz="3200" dirty="0"/>
          </a:p>
        </p:txBody>
      </p:sp>
      <p:sp>
        <p:nvSpPr>
          <p:cNvPr id="28" name="text-113"/>
          <p:cNvSpPr txBox="1"/>
          <p:nvPr/>
        </p:nvSpPr>
        <p:spPr>
          <a:xfrm>
            <a:off x="8275320" y="4956048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每道留出题的输入 token</a:t>
            </a:r>
            <a:endParaRPr lang="en-US" sz="1500" dirty="0"/>
          </a:p>
        </p:txBody>
      </p:sp>
      <p:sp>
        <p:nvSpPr>
          <p:cNvPr id="29" name="shape-114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30" name="text-115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共享的口径成了“长期状态”，可它底下的数据库每天都在变。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16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3" name="text-117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 照常执行，退货金额却被算了两次</a:t>
            </a:r>
            <a:endParaRPr lang="en-US" sz="2900" dirty="0"/>
          </a:p>
        </p:txBody>
      </p:sp>
      <p:sp>
        <p:nvSpPr>
          <p:cNvPr id="4" name="text-118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119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§1、§2.3（贯穿例子）</a:t>
            </a:r>
            <a:endParaRPr lang="en-US" sz="850" dirty="0"/>
          </a:p>
        </p:txBody>
      </p:sp>
      <p:sp>
        <p:nvSpPr>
          <p:cNvPr id="6" name="text-120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050" dirty="0"/>
          </a:p>
        </p:txBody>
      </p:sp>
      <p:sp>
        <p:nvSpPr>
          <p:cNvPr id="8" name="shape-121"/>
          <p:cNvSpPr/>
          <p:nvPr/>
        </p:nvSpPr>
        <p:spPr>
          <a:xfrm>
            <a:off x="548640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122"/>
          <p:cNvSpPr/>
          <p:nvPr/>
        </p:nvSpPr>
        <p:spPr>
          <a:xfrm>
            <a:off x="749808" y="1709928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123"/>
          <p:cNvSpPr txBox="1"/>
          <p:nvPr/>
        </p:nvSpPr>
        <p:spPr>
          <a:xfrm>
            <a:off x="74980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124"/>
          <p:cNvSpPr txBox="1"/>
          <p:nvPr/>
        </p:nvSpPr>
        <p:spPr>
          <a:xfrm>
            <a:off x="1280160" y="17282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A 学到口径</a:t>
            </a:r>
            <a:endParaRPr lang="en-US" sz="1800" dirty="0"/>
          </a:p>
        </p:txBody>
      </p:sp>
      <p:sp>
        <p:nvSpPr>
          <p:cNvPr id="12" name="text-125"/>
          <p:cNvSpPr txBox="1"/>
          <p:nvPr/>
        </p:nvSpPr>
        <p:spPr>
          <a:xfrm>
            <a:off x="768096" y="2331720"/>
            <a:ext cx="285292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每笔退货 = 一条“完成”记录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小票号 + 商品 唯一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SQL：SUM(sr_return_amt)</a:t>
            </a:r>
            <a:endParaRPr lang="en-US" sz="1500" dirty="0"/>
          </a:p>
        </p:txBody>
      </p:sp>
      <p:sp>
        <p:nvSpPr>
          <p:cNvPr id="13" name="shape-126"/>
          <p:cNvSpPr/>
          <p:nvPr/>
        </p:nvSpPr>
        <p:spPr>
          <a:xfrm>
            <a:off x="4443984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127"/>
          <p:cNvSpPr/>
          <p:nvPr/>
        </p:nvSpPr>
        <p:spPr>
          <a:xfrm>
            <a:off x="4645152" y="1709928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-128"/>
          <p:cNvSpPr txBox="1"/>
          <p:nvPr/>
        </p:nvSpPr>
        <p:spPr>
          <a:xfrm>
            <a:off x="4645152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-129"/>
          <p:cNvSpPr txBox="1"/>
          <p:nvPr/>
        </p:nvSpPr>
        <p:spPr>
          <a:xfrm>
            <a:off x="5175504" y="17282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ETL 追加状态变更行</a:t>
            </a:r>
            <a:endParaRPr lang="en-US" sz="1800" dirty="0"/>
          </a:p>
        </p:txBody>
      </p:sp>
      <p:sp>
        <p:nvSpPr>
          <p:cNvPr id="17" name="text-130"/>
          <p:cNvSpPr txBox="1"/>
          <p:nvPr/>
        </p:nvSpPr>
        <p:spPr>
          <a:xfrm>
            <a:off x="4663440" y="2331720"/>
            <a:ext cx="285292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每笔新退货多一条“申请中”行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键不再唯一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表名、列名、类型都没变</a:t>
            </a:r>
            <a:endParaRPr lang="en-US" sz="1500" dirty="0"/>
          </a:p>
        </p:txBody>
      </p:sp>
      <p:sp>
        <p:nvSpPr>
          <p:cNvPr id="18" name="shape-131"/>
          <p:cNvSpPr/>
          <p:nvPr/>
        </p:nvSpPr>
        <p:spPr>
          <a:xfrm>
            <a:off x="8339328" y="1508760"/>
            <a:ext cx="3291840" cy="2331720"/>
          </a:xfrm>
          <a:prstGeom prst="roundRect">
            <a:avLst>
              <a:gd name="adj" fmla="val 39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9" name="circle-132"/>
          <p:cNvSpPr/>
          <p:nvPr/>
        </p:nvSpPr>
        <p:spPr>
          <a:xfrm>
            <a:off x="8540496" y="1709928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20" name="text-133"/>
          <p:cNvSpPr txBox="1"/>
          <p:nvPr/>
        </p:nvSpPr>
        <p:spPr>
          <a:xfrm>
            <a:off x="8540496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-134"/>
          <p:cNvSpPr txBox="1"/>
          <p:nvPr/>
        </p:nvSpPr>
        <p:spPr>
          <a:xfrm>
            <a:off x="9070848" y="1728216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B 复用 SQL</a:t>
            </a:r>
            <a:endParaRPr lang="en-US" sz="1800" dirty="0"/>
          </a:p>
        </p:txBody>
      </p:sp>
      <p:sp>
        <p:nvSpPr>
          <p:cNvPr id="22" name="text-135"/>
          <p:cNvSpPr txBox="1"/>
          <p:nvPr/>
        </p:nvSpPr>
        <p:spPr>
          <a:xfrm>
            <a:off x="8558784" y="2331720"/>
            <a:ext cx="2852928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学习者的会话早已结束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新会话没有基准真值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执行成功，看不出重复计数</a:t>
            </a:r>
            <a:endParaRPr lang="en-US" sz="1500" dirty="0"/>
          </a:p>
        </p:txBody>
      </p:sp>
      <p:sp>
        <p:nvSpPr>
          <p:cNvPr id="23" name="arrow-136"/>
          <p:cNvSpPr/>
          <p:nvPr/>
        </p:nvSpPr>
        <p:spPr>
          <a:xfrm>
            <a:off x="3913632" y="2651760"/>
            <a:ext cx="457200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4" name="arrow-137"/>
          <p:cNvSpPr/>
          <p:nvPr/>
        </p:nvSpPr>
        <p:spPr>
          <a:xfrm>
            <a:off x="7808976" y="2651760"/>
            <a:ext cx="457200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5" name="text-138"/>
          <p:cNvSpPr txBox="1"/>
          <p:nvPr/>
        </p:nvSpPr>
        <p:spPr>
          <a:xfrm>
            <a:off x="777240" y="4160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6,588,699.86</a:t>
            </a:r>
            <a:endParaRPr lang="en-US" sz="3700" dirty="0"/>
          </a:p>
        </p:txBody>
      </p:sp>
      <p:sp>
        <p:nvSpPr>
          <p:cNvPr id="26" name="text-139"/>
          <p:cNvSpPr txBox="1"/>
          <p:nvPr/>
        </p:nvSpPr>
        <p:spPr>
          <a:xfrm>
            <a:off x="777240" y="50474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 SQL 返回的单期退货金额</a:t>
            </a:r>
            <a:endParaRPr lang="en-US" sz="1500" dirty="0"/>
          </a:p>
        </p:txBody>
      </p:sp>
      <p:sp>
        <p:nvSpPr>
          <p:cNvPr id="27" name="text-140"/>
          <p:cNvSpPr txBox="1"/>
          <p:nvPr/>
        </p:nvSpPr>
        <p:spPr>
          <a:xfrm>
            <a:off x="6400800" y="41605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3,294,349.93</a:t>
            </a:r>
            <a:endParaRPr lang="en-US" sz="3700" dirty="0"/>
          </a:p>
        </p:txBody>
      </p:sp>
      <p:sp>
        <p:nvSpPr>
          <p:cNvPr id="28" name="text-141"/>
          <p:cNvSpPr txBox="1"/>
          <p:nvPr/>
        </p:nvSpPr>
        <p:spPr>
          <a:xfrm>
            <a:off x="6400800" y="50474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该期间真实的已完成退货金额</a:t>
            </a:r>
            <a:endParaRPr lang="en-US" sz="1500" dirty="0"/>
          </a:p>
        </p:txBody>
      </p:sp>
      <p:sp>
        <p:nvSpPr>
          <p:cNvPr id="29" name="shape-142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30" name="text-143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共享保存了业务知识，也让一次过期的观测传播给之后的每个智能体。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44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100" dirty="0"/>
          </a:p>
        </p:txBody>
      </p:sp>
      <p:sp>
        <p:nvSpPr>
          <p:cNvPr id="3" name="text-145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为什么现有手段挡不住</a:t>
            </a:r>
            <a:endParaRPr lang="en-US" sz="2900" dirty="0"/>
          </a:p>
        </p:txBody>
      </p:sp>
      <p:sp>
        <p:nvSpPr>
          <p:cNvPr id="4" name="text-146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147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§1、§2.4、§7.2、§7.6；gen/review.tex、scen-ds.tex</a:t>
            </a:r>
            <a:endParaRPr lang="en-US" sz="850" dirty="0"/>
          </a:p>
        </p:txBody>
      </p:sp>
      <p:sp>
        <p:nvSpPr>
          <p:cNvPr id="6" name="text-148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050" dirty="0"/>
          </a:p>
        </p:txBody>
      </p:sp>
      <p:sp>
        <p:nvSpPr>
          <p:cNvPr id="8" name="shape-149"/>
          <p:cNvSpPr/>
          <p:nvPr/>
        </p:nvSpPr>
        <p:spPr>
          <a:xfrm>
            <a:off x="548640" y="1481328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150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0" name="text-151"/>
          <p:cNvSpPr txBox="1"/>
          <p:nvPr/>
        </p:nvSpPr>
        <p:spPr>
          <a:xfrm>
            <a:off x="74980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152"/>
          <p:cNvSpPr txBox="1"/>
          <p:nvPr/>
        </p:nvSpPr>
        <p:spPr>
          <a:xfrm>
            <a:off x="1280160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按表结构跟踪</a:t>
            </a:r>
            <a:endParaRPr lang="en-US" sz="1650" dirty="0"/>
          </a:p>
        </p:txBody>
      </p:sp>
      <p:sp>
        <p:nvSpPr>
          <p:cNvPr id="12" name="text-153"/>
          <p:cNvSpPr txBox="1"/>
          <p:nvPr/>
        </p:nvSpPr>
        <p:spPr>
          <a:xfrm>
            <a:off x="768096" y="2304288"/>
            <a:ext cx="216712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表名、列名、类型都没变，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所以什么也看不到。</a:t>
            </a:r>
            <a:endParaRPr lang="en-US" sz="1500" dirty="0"/>
          </a:p>
        </p:txBody>
      </p:sp>
      <p:sp>
        <p:nvSpPr>
          <p:cNvPr id="13" name="text-154"/>
          <p:cNvSpPr txBox="1"/>
          <p:nvPr/>
        </p:nvSpPr>
        <p:spPr>
          <a:xfrm>
            <a:off x="768096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629 个错误答案</a:t>
            </a:r>
            <a:endParaRPr lang="en-US" sz="1700" dirty="0"/>
          </a:p>
        </p:txBody>
      </p:sp>
      <p:sp>
        <p:nvSpPr>
          <p:cNvPr id="14" name="text-155"/>
          <p:cNvSpPr txBox="1"/>
          <p:nvPr/>
        </p:nvSpPr>
        <p:spPr>
          <a:xfrm>
            <a:off x="768096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回放实验，按模式变更失效</a:t>
            </a:r>
            <a:endParaRPr lang="en-US" sz="1250" dirty="0"/>
          </a:p>
        </p:txBody>
      </p:sp>
      <p:sp>
        <p:nvSpPr>
          <p:cNvPr id="15" name="shape-156"/>
          <p:cNvSpPr/>
          <p:nvPr/>
        </p:nvSpPr>
        <p:spPr>
          <a:xfrm>
            <a:off x="3364992" y="1481328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6" name="circle-157"/>
          <p:cNvSpPr/>
          <p:nvPr/>
        </p:nvSpPr>
        <p:spPr>
          <a:xfrm>
            <a:off x="3566160" y="1682496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7" name="text-158"/>
          <p:cNvSpPr txBox="1"/>
          <p:nvPr/>
        </p:nvSpPr>
        <p:spPr>
          <a:xfrm>
            <a:off x="356616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-159"/>
          <p:cNvSpPr txBox="1"/>
          <p:nvPr/>
        </p:nvSpPr>
        <p:spPr>
          <a:xfrm>
            <a:off x="4096512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数据质量测试</a:t>
            </a:r>
            <a:endParaRPr lang="en-US" sz="1650" dirty="0"/>
          </a:p>
        </p:txBody>
      </p:sp>
      <p:sp>
        <p:nvSpPr>
          <p:cNvPr id="19" name="text-160"/>
          <p:cNvSpPr txBox="1"/>
          <p:nvPr/>
        </p:nvSpPr>
        <p:spPr>
          <a:xfrm>
            <a:off x="3584448" y="2304288"/>
            <a:ext cx="216712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dbt 式按表测试：不知道哪个口径依赖哪条性质，失败只能让整张表上的口径失效。</a:t>
            </a:r>
            <a:endParaRPr lang="en-US" sz="1500" dirty="0"/>
          </a:p>
        </p:txBody>
      </p:sp>
      <p:sp>
        <p:nvSpPr>
          <p:cNvPr id="20" name="text-161"/>
          <p:cNvSpPr txBox="1"/>
          <p:nvPr/>
        </p:nvSpPr>
        <p:spPr>
          <a:xfrm>
            <a:off x="3584448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少答对 330 题</a:t>
            </a:r>
            <a:endParaRPr lang="en-US" sz="1700" dirty="0"/>
          </a:p>
        </p:txBody>
      </p:sp>
      <p:sp>
        <p:nvSpPr>
          <p:cNvPr id="21" name="text-162"/>
          <p:cNvSpPr txBox="1"/>
          <p:nvPr/>
        </p:nvSpPr>
        <p:spPr>
          <a:xfrm>
            <a:off x="3584448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都是能修复或本可保留的</a:t>
            </a:r>
            <a:endParaRPr lang="en-US" sz="1250" dirty="0"/>
          </a:p>
        </p:txBody>
      </p:sp>
      <p:sp>
        <p:nvSpPr>
          <p:cNvPr id="22" name="shape-163"/>
          <p:cNvSpPr/>
          <p:nvPr/>
        </p:nvSpPr>
        <p:spPr>
          <a:xfrm>
            <a:off x="6181344" y="1481328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3" name="circle-164"/>
          <p:cNvSpPr/>
          <p:nvPr/>
        </p:nvSpPr>
        <p:spPr>
          <a:xfrm>
            <a:off x="6382512" y="1682496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24" name="text-165"/>
          <p:cNvSpPr txBox="1"/>
          <p:nvPr/>
        </p:nvSpPr>
        <p:spPr>
          <a:xfrm>
            <a:off x="6382512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-166"/>
          <p:cNvSpPr txBox="1"/>
          <p:nvPr/>
        </p:nvSpPr>
        <p:spPr>
          <a:xfrm>
            <a:off x="6912864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指标层靠人声明</a:t>
            </a:r>
            <a:endParaRPr lang="en-US" sz="1650" dirty="0"/>
          </a:p>
        </p:txBody>
      </p:sp>
      <p:sp>
        <p:nvSpPr>
          <p:cNvPr id="26" name="text-167"/>
          <p:cNvSpPr txBox="1"/>
          <p:nvPr/>
        </p:nvSpPr>
        <p:spPr>
          <a:xfrm>
            <a:off x="6400800" y="2304288"/>
            <a:ext cx="216712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连接性质靠人声明。Databricks 文档：该性质“不在运行时验证”。</a:t>
            </a:r>
            <a:endParaRPr lang="en-US" sz="1500" dirty="0"/>
          </a:p>
        </p:txBody>
      </p:sp>
      <p:sp>
        <p:nvSpPr>
          <p:cNvPr id="27" name="text-168"/>
          <p:cNvSpPr txBox="1"/>
          <p:nvPr/>
        </p:nvSpPr>
        <p:spPr>
          <a:xfrm>
            <a:off x="64008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 ≠ 核对</a:t>
            </a:r>
            <a:endParaRPr lang="en-US" sz="1700" dirty="0"/>
          </a:p>
        </p:txBody>
      </p:sp>
      <p:sp>
        <p:nvSpPr>
          <p:cNvPr id="28" name="text-169"/>
          <p:cNvSpPr txBox="1"/>
          <p:nvPr/>
        </p:nvSpPr>
        <p:spPr>
          <a:xfrm>
            <a:off x="6400800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放大行数时度量直接错</a:t>
            </a:r>
            <a:endParaRPr lang="en-US" sz="1250" dirty="0"/>
          </a:p>
        </p:txBody>
      </p:sp>
      <p:sp>
        <p:nvSpPr>
          <p:cNvPr id="29" name="shape-170"/>
          <p:cNvSpPr/>
          <p:nvPr/>
        </p:nvSpPr>
        <p:spPr>
          <a:xfrm>
            <a:off x="8997696" y="1481328"/>
            <a:ext cx="2606040" cy="3429000"/>
          </a:xfrm>
          <a:prstGeom prst="roundRect">
            <a:avLst>
              <a:gd name="adj" fmla="val 350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0" name="circle-171"/>
          <p:cNvSpPr/>
          <p:nvPr/>
        </p:nvSpPr>
        <p:spPr>
          <a:xfrm>
            <a:off x="9198864" y="1682496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1" name="text-172"/>
          <p:cNvSpPr txBox="1"/>
          <p:nvPr/>
        </p:nvSpPr>
        <p:spPr>
          <a:xfrm>
            <a:off x="9198864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-173"/>
          <p:cNvSpPr txBox="1"/>
          <p:nvPr/>
        </p:nvSpPr>
        <p:spPr>
          <a:xfrm>
            <a:off x="9729216" y="1700784"/>
            <a:ext cx="1691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智能体自己检查</a:t>
            </a:r>
            <a:endParaRPr lang="en-US" sz="1650" dirty="0"/>
          </a:p>
        </p:txBody>
      </p:sp>
      <p:sp>
        <p:nvSpPr>
          <p:cNvPr id="33" name="text-174"/>
          <p:cNvSpPr txBox="1"/>
          <p:nvPr/>
        </p:nvSpPr>
        <p:spPr>
          <a:xfrm>
            <a:off x="9217152" y="2304288"/>
            <a:ext cx="2167128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16% 的会话查键唯一性；提示它检查，也要每次重新找出区分列。</a:t>
            </a:r>
            <a:endParaRPr lang="en-US" sz="1500" dirty="0"/>
          </a:p>
        </p:txBody>
      </p:sp>
      <p:sp>
        <p:nvSpPr>
          <p:cNvPr id="34" name="text-175"/>
          <p:cNvSpPr txBox="1"/>
          <p:nvPr/>
        </p:nvSpPr>
        <p:spPr>
          <a:xfrm>
            <a:off x="9217152" y="4114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57% → 63%</a:t>
            </a:r>
            <a:endParaRPr lang="en-US" sz="1700" dirty="0"/>
          </a:p>
        </p:txBody>
      </p:sp>
      <p:sp>
        <p:nvSpPr>
          <p:cNvPr id="35" name="text-176"/>
          <p:cNvSpPr txBox="1"/>
          <p:nvPr/>
        </p:nvSpPr>
        <p:spPr>
          <a:xfrm>
            <a:off x="9217152" y="4480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系统维护时为 74%</a:t>
            </a:r>
            <a:endParaRPr lang="en-US" sz="1250" dirty="0"/>
          </a:p>
        </p:txBody>
      </p:sp>
      <p:sp>
        <p:nvSpPr>
          <p:cNvPr id="36" name="shape-177"/>
          <p:cNvSpPr/>
          <p:nvPr/>
        </p:nvSpPr>
        <p:spPr>
          <a:xfrm>
            <a:off x="548640" y="53492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7" name="text-178"/>
          <p:cNvSpPr txBox="1"/>
          <p:nvPr/>
        </p:nvSpPr>
        <p:spPr>
          <a:xfrm>
            <a:off x="749808" y="54589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缺的是一个专门记录、维护“口径成立条件”并在使用时核对的机制。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179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</a:t>
            </a:r>
            <a:endParaRPr lang="en-US" sz="1100" dirty="0"/>
          </a:p>
        </p:txBody>
      </p:sp>
      <p:sp>
        <p:nvSpPr>
          <p:cNvPr id="3" name="text-180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我们的做法：数据库替智能体记住“定义为什么成立”</a:t>
            </a:r>
            <a:endParaRPr lang="en-US" sz="2900" dirty="0"/>
          </a:p>
        </p:txBody>
      </p:sp>
      <p:sp>
        <p:nvSpPr>
          <p:cNvPr id="4" name="text-18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18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§1、§3–§6</a:t>
            </a:r>
            <a:endParaRPr lang="en-US" sz="850" dirty="0"/>
          </a:p>
        </p:txBody>
      </p:sp>
      <p:sp>
        <p:nvSpPr>
          <p:cNvPr id="6" name="text-18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050" dirty="0"/>
          </a:p>
        </p:txBody>
      </p:sp>
      <p:sp>
        <p:nvSpPr>
          <p:cNvPr id="8" name="shape-184"/>
          <p:cNvSpPr/>
          <p:nvPr/>
        </p:nvSpPr>
        <p:spPr>
          <a:xfrm>
            <a:off x="548640" y="16002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185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186"/>
          <p:cNvSpPr txBox="1"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187"/>
          <p:cNvSpPr txBox="1"/>
          <p:nvPr/>
        </p:nvSpPr>
        <p:spPr>
          <a:xfrm>
            <a:off x="1225296" y="1783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</a:t>
            </a:r>
            <a:endParaRPr lang="en-US" sz="1700" dirty="0"/>
          </a:p>
        </p:txBody>
      </p:sp>
      <p:sp>
        <p:nvSpPr>
          <p:cNvPr id="12" name="text-188"/>
          <p:cNvSpPr txBox="1"/>
          <p:nvPr/>
        </p:nvSpPr>
        <p:spPr>
          <a:xfrm>
            <a:off x="749808" y="2331720"/>
            <a:ext cx="2176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从口径推出四类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可执行的成立条件</a:t>
            </a:r>
            <a:endParaRPr lang="en-US" sz="1550" dirty="0"/>
          </a:p>
        </p:txBody>
      </p:sp>
      <p:sp>
        <p:nvSpPr>
          <p:cNvPr id="13" name="shape-189"/>
          <p:cNvSpPr/>
          <p:nvPr/>
        </p:nvSpPr>
        <p:spPr>
          <a:xfrm>
            <a:off x="548640" y="4160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14" name="text-190"/>
          <p:cNvSpPr txBox="1"/>
          <p:nvPr/>
        </p:nvSpPr>
        <p:spPr>
          <a:xfrm>
            <a:off x="731520" y="4160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该检查什么？</a:t>
            </a:r>
            <a:endParaRPr lang="en-US" sz="1550" dirty="0"/>
          </a:p>
        </p:txBody>
      </p:sp>
      <p:sp>
        <p:nvSpPr>
          <p:cNvPr id="15" name="arrow-191"/>
          <p:cNvSpPr/>
          <p:nvPr/>
        </p:nvSpPr>
        <p:spPr>
          <a:xfrm>
            <a:off x="3127248" y="2788920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6" name="shape-192"/>
          <p:cNvSpPr/>
          <p:nvPr/>
        </p:nvSpPr>
        <p:spPr>
          <a:xfrm>
            <a:off x="3383280" y="16002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7" name="circle-193"/>
          <p:cNvSpPr/>
          <p:nvPr/>
        </p:nvSpPr>
        <p:spPr>
          <a:xfrm>
            <a:off x="3566160" y="178308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18" name="text-194"/>
          <p:cNvSpPr txBox="1"/>
          <p:nvPr/>
        </p:nvSpPr>
        <p:spPr>
          <a:xfrm>
            <a:off x="356616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-195"/>
          <p:cNvSpPr txBox="1"/>
          <p:nvPr/>
        </p:nvSpPr>
        <p:spPr>
          <a:xfrm>
            <a:off x="4059936" y="1783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</a:t>
            </a:r>
            <a:endParaRPr lang="en-US" sz="1700" dirty="0"/>
          </a:p>
        </p:txBody>
      </p:sp>
      <p:sp>
        <p:nvSpPr>
          <p:cNvPr id="20" name="text-196"/>
          <p:cNvSpPr txBox="1"/>
          <p:nvPr/>
        </p:nvSpPr>
        <p:spPr>
          <a:xfrm>
            <a:off x="3584448" y="2331720"/>
            <a:ext cx="2176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检查结果按数据版本保存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更新后只重查受影响条件</a:t>
            </a:r>
            <a:endParaRPr lang="en-US" sz="1550" dirty="0"/>
          </a:p>
        </p:txBody>
      </p:sp>
      <p:sp>
        <p:nvSpPr>
          <p:cNvPr id="21" name="shape-197"/>
          <p:cNvSpPr/>
          <p:nvPr/>
        </p:nvSpPr>
        <p:spPr>
          <a:xfrm>
            <a:off x="3383280" y="4160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22" name="text-198"/>
          <p:cNvSpPr txBox="1"/>
          <p:nvPr/>
        </p:nvSpPr>
        <p:spPr>
          <a:xfrm>
            <a:off x="3566160" y="4160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什么时候要重查？</a:t>
            </a:r>
            <a:endParaRPr lang="en-US" sz="1550" dirty="0"/>
          </a:p>
        </p:txBody>
      </p:sp>
      <p:sp>
        <p:nvSpPr>
          <p:cNvPr id="23" name="arrow-199"/>
          <p:cNvSpPr/>
          <p:nvPr/>
        </p:nvSpPr>
        <p:spPr>
          <a:xfrm>
            <a:off x="5961888" y="2788920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4" name="shape-200"/>
          <p:cNvSpPr/>
          <p:nvPr/>
        </p:nvSpPr>
        <p:spPr>
          <a:xfrm>
            <a:off x="6217920" y="16002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5" name="circle-201"/>
          <p:cNvSpPr/>
          <p:nvPr/>
        </p:nvSpPr>
        <p:spPr>
          <a:xfrm>
            <a:off x="6400800" y="1783080"/>
            <a:ext cx="384048" cy="384048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26" name="text-202"/>
          <p:cNvSpPr txBox="1"/>
          <p:nvPr/>
        </p:nvSpPr>
        <p:spPr>
          <a:xfrm>
            <a:off x="640080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7" name="text-203"/>
          <p:cNvSpPr txBox="1"/>
          <p:nvPr/>
        </p:nvSpPr>
        <p:spPr>
          <a:xfrm>
            <a:off x="6894576" y="1783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约束使用</a:t>
            </a:r>
            <a:endParaRPr lang="en-US" sz="1700" dirty="0"/>
          </a:p>
        </p:txBody>
      </p:sp>
      <p:sp>
        <p:nvSpPr>
          <p:cNvPr id="28" name="text-204"/>
          <p:cNvSpPr txBox="1"/>
          <p:nvPr/>
        </p:nvSpPr>
        <p:spPr>
          <a:xfrm>
            <a:off x="6419088" y="2331720"/>
            <a:ext cx="2176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查询只在条件成立的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快照上执行</a:t>
            </a:r>
            <a:endParaRPr lang="en-US" sz="1550" dirty="0"/>
          </a:p>
        </p:txBody>
      </p:sp>
      <p:sp>
        <p:nvSpPr>
          <p:cNvPr id="29" name="shape-205"/>
          <p:cNvSpPr/>
          <p:nvPr/>
        </p:nvSpPr>
        <p:spPr>
          <a:xfrm>
            <a:off x="6217920" y="4160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30" name="text-206"/>
          <p:cNvSpPr txBox="1"/>
          <p:nvPr/>
        </p:nvSpPr>
        <p:spPr>
          <a:xfrm>
            <a:off x="6400800" y="4160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什么时候可以用？</a:t>
            </a:r>
            <a:endParaRPr lang="en-US" sz="1550" dirty="0"/>
          </a:p>
        </p:txBody>
      </p:sp>
      <p:sp>
        <p:nvSpPr>
          <p:cNvPr id="31" name="arrow-207"/>
          <p:cNvSpPr/>
          <p:nvPr/>
        </p:nvSpPr>
        <p:spPr>
          <a:xfrm>
            <a:off x="8796528" y="2788920"/>
            <a:ext cx="23774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32" name="shape-208"/>
          <p:cNvSpPr/>
          <p:nvPr/>
        </p:nvSpPr>
        <p:spPr>
          <a:xfrm>
            <a:off x="9052560" y="1600200"/>
            <a:ext cx="2560320" cy="2377440"/>
          </a:xfrm>
          <a:prstGeom prst="roundRect">
            <a:avLst>
              <a:gd name="adj" fmla="val 3846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3" name="circle-209"/>
          <p:cNvSpPr/>
          <p:nvPr/>
        </p:nvSpPr>
        <p:spPr>
          <a:xfrm>
            <a:off x="9235440" y="1783080"/>
            <a:ext cx="384048" cy="384048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34" name="text-210"/>
          <p:cNvSpPr txBox="1"/>
          <p:nvPr/>
        </p:nvSpPr>
        <p:spPr>
          <a:xfrm>
            <a:off x="92354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-211"/>
          <p:cNvSpPr txBox="1"/>
          <p:nvPr/>
        </p:nvSpPr>
        <p:spPr>
          <a:xfrm>
            <a:off x="9729216" y="178308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处理失效</a:t>
            </a:r>
            <a:endParaRPr lang="en-US" sz="1700" dirty="0"/>
          </a:p>
        </p:txBody>
      </p:sp>
      <p:sp>
        <p:nvSpPr>
          <p:cNvPr id="36" name="text-212"/>
          <p:cNvSpPr txBox="1"/>
          <p:nvPr/>
        </p:nvSpPr>
        <p:spPr>
          <a:xfrm>
            <a:off x="9253728" y="2331720"/>
            <a:ext cx="2176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唯一且过回归才修复</a:t>
            </a:r>
            <a:endParaRPr lang="en-US" sz="15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否则让口径失效</a:t>
            </a:r>
            <a:endParaRPr lang="en-US" sz="1550" dirty="0"/>
          </a:p>
        </p:txBody>
      </p:sp>
      <p:sp>
        <p:nvSpPr>
          <p:cNvPr id="37" name="shape-213"/>
          <p:cNvSpPr/>
          <p:nvPr/>
        </p:nvSpPr>
        <p:spPr>
          <a:xfrm>
            <a:off x="9052560" y="4160520"/>
            <a:ext cx="256032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0160">
            <a:solidFill>
              <a:srgbClr val="D9E2EE"/>
            </a:solidFill>
            <a:prstDash val="solid"/>
          </a:ln>
        </p:spPr>
      </p:sp>
      <p:sp>
        <p:nvSpPr>
          <p:cNvPr id="38" name="text-214"/>
          <p:cNvSpPr txBox="1"/>
          <p:nvPr/>
        </p:nvSpPr>
        <p:spPr>
          <a:xfrm>
            <a:off x="9235440" y="4160520"/>
            <a:ext cx="2194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坏了怎么办？</a:t>
            </a:r>
            <a:endParaRPr lang="en-US" sz="1550" dirty="0"/>
          </a:p>
        </p:txBody>
      </p:sp>
      <p:sp>
        <p:nvSpPr>
          <p:cNvPr id="39" name="text-215"/>
          <p:cNvSpPr txBox="1"/>
          <p:nvPr/>
        </p:nvSpPr>
        <p:spPr>
          <a:xfrm>
            <a:off x="777240" y="507492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口径的有效性证据成为数据库里一等的、带版本的状态，而不是留在某次探索的轨迹里。</a:t>
            </a:r>
            <a:endParaRPr lang="en-US" sz="1600" dirty="0"/>
          </a:p>
        </p:txBody>
      </p:sp>
      <p:sp>
        <p:nvSpPr>
          <p:cNvPr id="40" name="shape-216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41" name="text-217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对应论文的三项贡献：条件与充分性命题、同快照验证与复用引理、有界修复算法。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18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· 记录</a:t>
            </a:r>
            <a:endParaRPr lang="en-US" sz="1100" dirty="0"/>
          </a:p>
        </p:txBody>
      </p:sp>
      <p:sp>
        <p:nvSpPr>
          <p:cNvPr id="3" name="text-219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记录：四类条件，用退货金额来看</a:t>
            </a:r>
            <a:endParaRPr lang="en-US" sz="2900" dirty="0"/>
          </a:p>
        </p:txBody>
      </p:sp>
      <p:sp>
        <p:nvSpPr>
          <p:cNvPr id="4" name="text-220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221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§4.2、§4.3；命题 1</a:t>
            </a:r>
            <a:endParaRPr lang="en-US" sz="850" dirty="0"/>
          </a:p>
        </p:txBody>
      </p:sp>
      <p:sp>
        <p:nvSpPr>
          <p:cNvPr id="6" name="text-222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050" dirty="0"/>
          </a:p>
        </p:txBody>
      </p:sp>
      <p:graphicFrame>
        <p:nvGraphicFramePr>
          <p:cNvPr id="10" name="table-2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834640"/>
                <a:gridCol w="3931920"/>
                <a:gridCol w="25603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白话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退货金额里是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怎么查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过滤后键唯一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一笔业务事件只有一行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“已完成”过滤后，小票号+商品唯一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按键分组找重复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连接多重性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关联维度表不会放大行数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退货 → 商品表是多对一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维表侧的键唯一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日期角色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事实按正确的日期归期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退货日期 → 日期维度多对一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日期键多对一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日期键完整性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事实不会悄悄掉出所有期间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匹配不到日期的比例不高于准入时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比例对比</a:t>
                      </a:r>
                      <a:endParaRPr lang="en-US" sz="14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shape-224"/>
          <p:cNvSpPr/>
          <p:nvPr/>
        </p:nvSpPr>
        <p:spPr>
          <a:xfrm>
            <a:off x="548640" y="452628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0" name="text-225"/>
          <p:cNvSpPr txBox="1"/>
          <p:nvPr/>
        </p:nvSpPr>
        <p:spPr>
          <a:xfrm>
            <a:off x="768096" y="4745736"/>
            <a:ext cx="10661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 1（充分性）</a:t>
            </a:r>
            <a:endParaRPr lang="en-US" sz="1700" dirty="0"/>
          </a:p>
        </p:txBody>
      </p:sp>
      <p:sp>
        <p:nvSpPr>
          <p:cNvPr id="11" name="text-226"/>
          <p:cNvSpPr txBox="1"/>
          <p:nvPr/>
        </p:nvSpPr>
        <p:spPr>
          <a:xfrm>
            <a:off x="768096" y="5349240"/>
            <a:ext cx="1062532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在业务前提下，四类条件成立 ⇒ 规范 SQL 把每笔业务事件在其期间恰好计数一次，遗漏仅限完整性条件约束的部分。</a:t>
            </a:r>
            <a:endParaRPr lang="en-US" sz="1500" dirty="0"/>
          </a:p>
        </p:txBody>
      </p:sp>
      <p:sp>
        <p:nvSpPr>
          <p:cNvPr id="12" name="shape-227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3" name="text-228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边界也由命题划定：单位换算、两份一样合法的总体、合法但错误的日期键，条件看不到。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29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· 维护</a:t>
            </a:r>
            <a:endParaRPr lang="en-US" sz="1100" dirty="0"/>
          </a:p>
        </p:txBody>
      </p:sp>
      <p:sp>
        <p:nvSpPr>
          <p:cNvPr id="3" name="text-230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维护：更新触及哪些条件，就只重查哪些</a:t>
            </a:r>
            <a:endParaRPr lang="en-US" sz="2900" dirty="0"/>
          </a:p>
        </p:txBody>
      </p:sp>
      <p:sp>
        <p:nvSpPr>
          <p:cNvPr id="4" name="text-23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23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§4.4、§5.2；gen/review.tex</a:t>
            </a:r>
            <a:endParaRPr lang="en-US" sz="850" dirty="0"/>
          </a:p>
        </p:txBody>
      </p:sp>
      <p:sp>
        <p:nvSpPr>
          <p:cNvPr id="6" name="text-23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050" dirty="0"/>
          </a:p>
        </p:txBody>
      </p:sp>
      <p:sp>
        <p:nvSpPr>
          <p:cNvPr id="8" name="shape-234"/>
          <p:cNvSpPr/>
          <p:nvPr/>
        </p:nvSpPr>
        <p:spPr>
          <a:xfrm>
            <a:off x="548640" y="155448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235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10" name="text-236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237"/>
          <p:cNvSpPr txBox="1"/>
          <p:nvPr/>
        </p:nvSpPr>
        <p:spPr>
          <a:xfrm>
            <a:off x="1225296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表的版本变了</a:t>
            </a:r>
            <a:endParaRPr lang="en-US" sz="1700" dirty="0"/>
          </a:p>
        </p:txBody>
      </p:sp>
      <p:sp>
        <p:nvSpPr>
          <p:cNvPr id="12" name="text-238"/>
          <p:cNvSpPr txBox="1"/>
          <p:nvPr/>
        </p:nvSpPr>
        <p:spPr>
          <a:xfrm>
            <a:off x="749808" y="2286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写事务里递增的事务性版本，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或默认的 DML 统计</a:t>
            </a:r>
            <a:endParaRPr lang="en-US" sz="1450" dirty="0"/>
          </a:p>
        </p:txBody>
      </p:sp>
      <p:sp>
        <p:nvSpPr>
          <p:cNvPr id="13" name="shape-239"/>
          <p:cNvSpPr/>
          <p:nvPr/>
        </p:nvSpPr>
        <p:spPr>
          <a:xfrm>
            <a:off x="548640" y="3429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240"/>
          <p:cNvSpPr/>
          <p:nvPr/>
        </p:nvSpPr>
        <p:spPr>
          <a:xfrm>
            <a:off x="731520" y="361188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15" name="text-241"/>
          <p:cNvSpPr txBox="1"/>
          <p:nvPr/>
        </p:nvSpPr>
        <p:spPr>
          <a:xfrm>
            <a:off x="73152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-242"/>
          <p:cNvSpPr txBox="1"/>
          <p:nvPr/>
        </p:nvSpPr>
        <p:spPr>
          <a:xfrm>
            <a:off x="1225296" y="3611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找到读这张表的条件</a:t>
            </a:r>
            <a:endParaRPr lang="en-US" sz="1700" dirty="0"/>
          </a:p>
        </p:txBody>
      </p:sp>
      <p:sp>
        <p:nvSpPr>
          <p:cNvPr id="17" name="text-243"/>
          <p:cNvSpPr txBox="1"/>
          <p:nvPr/>
        </p:nvSpPr>
        <p:spPr>
          <a:xfrm>
            <a:off x="749808" y="416052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只有它们进入重查；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其余条件的检查结果保留</a:t>
            </a:r>
            <a:endParaRPr lang="en-US" sz="1450" dirty="0"/>
          </a:p>
        </p:txBody>
      </p:sp>
      <p:sp>
        <p:nvSpPr>
          <p:cNvPr id="18" name="arrow-244"/>
          <p:cNvSpPr/>
          <p:nvPr/>
        </p:nvSpPr>
        <p:spPr>
          <a:xfrm>
            <a:off x="2194560" y="3264408"/>
            <a:ext cx="0" cy="146304"/>
          </a:xfrm>
          <a:prstGeom prst="line">
            <a:avLst/>
          </a:prstGeom>
          <a:noFill/>
          <a:ln w="22860">
            <a:solidFill>
              <a:srgbClr val="198861"/>
            </a:solidFill>
            <a:prstDash val="solid"/>
            <a:headEnd type="none"/>
            <a:tailEnd type="triangle"/>
          </a:ln>
        </p:spPr>
      </p:sp>
      <p:sp>
        <p:nvSpPr>
          <p:cNvPr id="19" name="shape-245"/>
          <p:cNvSpPr/>
          <p:nvPr/>
        </p:nvSpPr>
        <p:spPr>
          <a:xfrm>
            <a:off x="4069080" y="155448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0" name="circle-246"/>
          <p:cNvSpPr/>
          <p:nvPr/>
        </p:nvSpPr>
        <p:spPr>
          <a:xfrm>
            <a:off x="4251960" y="173736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21" name="text-247"/>
          <p:cNvSpPr txBox="1"/>
          <p:nvPr/>
        </p:nvSpPr>
        <p:spPr>
          <a:xfrm>
            <a:off x="425196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2" name="text-248"/>
          <p:cNvSpPr txBox="1"/>
          <p:nvPr/>
        </p:nvSpPr>
        <p:spPr>
          <a:xfrm>
            <a:off x="4745736" y="17373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重查并保存检查结果</a:t>
            </a:r>
            <a:endParaRPr lang="en-US" sz="1700" dirty="0"/>
          </a:p>
        </p:txBody>
      </p:sp>
      <p:sp>
        <p:nvSpPr>
          <p:cNvPr id="23" name="text-249"/>
          <p:cNvSpPr txBox="1"/>
          <p:nvPr/>
        </p:nvSpPr>
        <p:spPr>
          <a:xfrm>
            <a:off x="4270248" y="228600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索引 = (条件的规范形式, 依赖表版本)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同一检查并发到达时只跑一次</a:t>
            </a:r>
            <a:endParaRPr lang="en-US" sz="1450" dirty="0"/>
          </a:p>
        </p:txBody>
      </p:sp>
      <p:sp>
        <p:nvSpPr>
          <p:cNvPr id="24" name="shape-250"/>
          <p:cNvSpPr/>
          <p:nvPr/>
        </p:nvSpPr>
        <p:spPr>
          <a:xfrm>
            <a:off x="4069080" y="3429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5" name="circle-251"/>
          <p:cNvSpPr/>
          <p:nvPr/>
        </p:nvSpPr>
        <p:spPr>
          <a:xfrm>
            <a:off x="4251960" y="361188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26" name="text-252"/>
          <p:cNvSpPr txBox="1"/>
          <p:nvPr/>
        </p:nvSpPr>
        <p:spPr>
          <a:xfrm>
            <a:off x="4251960" y="3611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7" name="text-253"/>
          <p:cNvSpPr txBox="1"/>
          <p:nvPr/>
        </p:nvSpPr>
        <p:spPr>
          <a:xfrm>
            <a:off x="4745736" y="361188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所有口径共享检查结果</a:t>
            </a:r>
            <a:endParaRPr lang="en-US" sz="1700" dirty="0"/>
          </a:p>
        </p:txBody>
      </p:sp>
      <p:sp>
        <p:nvSpPr>
          <p:cNvPr id="28" name="text-254"/>
          <p:cNvSpPr txBox="1"/>
          <p:nvPr/>
        </p:nvSpPr>
        <p:spPr>
          <a:xfrm>
            <a:off x="4270248" y="4160520"/>
            <a:ext cx="2907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一个检查结果服务所有需要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同一条件的口径和智能体</a:t>
            </a:r>
            <a:endParaRPr lang="en-US" sz="1450" dirty="0"/>
          </a:p>
        </p:txBody>
      </p:sp>
      <p:sp>
        <p:nvSpPr>
          <p:cNvPr id="29" name="arrow-255"/>
          <p:cNvSpPr/>
          <p:nvPr/>
        </p:nvSpPr>
        <p:spPr>
          <a:xfrm>
            <a:off x="3858768" y="2395728"/>
            <a:ext cx="192024" cy="0"/>
          </a:xfrm>
          <a:prstGeom prst="line">
            <a:avLst/>
          </a:prstGeom>
          <a:noFill/>
          <a:ln w="22860">
            <a:solidFill>
              <a:srgbClr val="198861"/>
            </a:solidFill>
            <a:prstDash val="solid"/>
            <a:headEnd type="none"/>
            <a:tailEnd type="triangle"/>
          </a:ln>
        </p:spPr>
      </p:sp>
      <p:sp>
        <p:nvSpPr>
          <p:cNvPr id="30" name="arrow-256"/>
          <p:cNvSpPr/>
          <p:nvPr/>
        </p:nvSpPr>
        <p:spPr>
          <a:xfrm>
            <a:off x="5715000" y="3264408"/>
            <a:ext cx="0" cy="146304"/>
          </a:xfrm>
          <a:prstGeom prst="line">
            <a:avLst/>
          </a:prstGeom>
          <a:noFill/>
          <a:ln w="22860">
            <a:solidFill>
              <a:srgbClr val="198861"/>
            </a:solidFill>
            <a:prstDash val="solid"/>
            <a:headEnd type="none"/>
            <a:tailEnd type="triangle"/>
          </a:ln>
        </p:spPr>
      </p:sp>
      <p:sp>
        <p:nvSpPr>
          <p:cNvPr id="31" name="text-257"/>
          <p:cNvSpPr txBox="1"/>
          <p:nvPr/>
        </p:nvSpPr>
        <p:spPr>
          <a:xfrm>
            <a:off x="7772400" y="169164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次 → 3 次</a:t>
            </a:r>
            <a:endParaRPr lang="en-US" sz="3400" dirty="0"/>
          </a:p>
        </p:txBody>
      </p:sp>
      <p:sp>
        <p:nvSpPr>
          <p:cNvPr id="32" name="text-258"/>
          <p:cNvSpPr txBox="1"/>
          <p:nvPr/>
        </p:nvSpPr>
        <p:spPr>
          <a:xfrm>
            <a:off x="7772400" y="257860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 store_returns：8 个口径受影响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逐口径重查 19 次，不同条件只有 3 个</a:t>
            </a:r>
            <a:endParaRPr lang="en-US" sz="1500" dirty="0"/>
          </a:p>
        </p:txBody>
      </p:sp>
      <p:sp>
        <p:nvSpPr>
          <p:cNvPr id="33" name="text-259"/>
          <p:cNvSpPr txBox="1"/>
          <p:nvPr/>
        </p:nvSpPr>
        <p:spPr>
          <a:xfrm>
            <a:off x="7772400" y="370332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175 / 65</a:t>
            </a:r>
            <a:endParaRPr lang="en-US" sz="3400" dirty="0"/>
          </a:p>
        </p:txBody>
      </p:sp>
      <p:sp>
        <p:nvSpPr>
          <p:cNvPr id="34" name="text-260"/>
          <p:cNvSpPr txBox="1"/>
          <p:nvPr/>
        </p:nvSpPr>
        <p:spPr>
          <a:xfrm>
            <a:off x="7772400" y="4590288"/>
            <a:ext cx="3840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TPC-DS 的 99 个模板：口径数 / 不同条件数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平均每个条件被 8.6 个口径共享</a:t>
            </a:r>
            <a:endParaRPr lang="en-US" sz="1500" dirty="0"/>
          </a:p>
        </p:txBody>
      </p:sp>
      <p:sp>
        <p:nvSpPr>
          <p:cNvPr id="35" name="shape-261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6" name="text-262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维护工作量按“不同条件”计，不按口径数计；这部分节省通用的版本缓存也能拿到。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63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· 约束使用</a:t>
            </a:r>
            <a:endParaRPr lang="en-US" sz="1100" dirty="0"/>
          </a:p>
        </p:txBody>
      </p:sp>
      <p:sp>
        <p:nvSpPr>
          <p:cNvPr id="3" name="text-264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约束使用：检查和查询必须看同一份数据</a:t>
            </a:r>
            <a:endParaRPr lang="en-US" sz="2900" dirty="0"/>
          </a:p>
        </p:txBody>
      </p:sp>
      <p:sp>
        <p:nvSpPr>
          <p:cNvPr id="4" name="text-265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266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§6.2；引理 1；同快照验证为可选模式</a:t>
            </a:r>
            <a:endParaRPr lang="en-US" sz="850" dirty="0"/>
          </a:p>
        </p:txBody>
      </p:sp>
      <p:sp>
        <p:nvSpPr>
          <p:cNvPr id="6" name="text-267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050" dirty="0"/>
          </a:p>
        </p:txBody>
      </p:sp>
      <p:sp>
        <p:nvSpPr>
          <p:cNvPr id="8" name="text-268"/>
          <p:cNvSpPr txBox="1"/>
          <p:nvPr/>
        </p:nvSpPr>
        <p:spPr>
          <a:xfrm>
            <a:off x="548640" y="14813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先检查后执行（常见做法）</a:t>
            </a:r>
            <a:endParaRPr lang="en-US" sz="1500" dirty="0"/>
          </a:p>
        </p:txBody>
      </p:sp>
      <p:sp>
        <p:nvSpPr>
          <p:cNvPr id="9" name="shape-269"/>
          <p:cNvSpPr/>
          <p:nvPr/>
        </p:nvSpPr>
        <p:spPr>
          <a:xfrm>
            <a:off x="548640" y="1828800"/>
            <a:ext cx="2514600" cy="731520"/>
          </a:xfrm>
          <a:prstGeom prst="roundRect">
            <a:avLst>
              <a:gd name="adj" fmla="val 12500"/>
            </a:avLst>
          </a:prstGeom>
          <a:solidFill>
            <a:srgbClr val="E3F2EB"/>
          </a:solidFill>
          <a:ln w="10160">
            <a:solidFill>
              <a:srgbClr val="E3F2EB"/>
            </a:solidFill>
            <a:prstDash val="solid"/>
          </a:ln>
        </p:spPr>
      </p:sp>
      <p:sp>
        <p:nvSpPr>
          <p:cNvPr id="10" name="text-270"/>
          <p:cNvSpPr txBox="1"/>
          <p:nvPr/>
        </p:nvSpPr>
        <p:spPr>
          <a:xfrm>
            <a:off x="685800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检查通过</a:t>
            </a:r>
            <a:endParaRPr lang="en-US" sz="1550" dirty="0"/>
          </a:p>
        </p:txBody>
      </p:sp>
      <p:sp>
        <p:nvSpPr>
          <p:cNvPr id="11" name="arrow-271"/>
          <p:cNvSpPr/>
          <p:nvPr/>
        </p:nvSpPr>
        <p:spPr>
          <a:xfrm>
            <a:off x="3081528" y="2194560"/>
            <a:ext cx="265176" cy="0"/>
          </a:xfrm>
          <a:prstGeom prst="line">
            <a:avLst/>
          </a:prstGeom>
          <a:noFill/>
          <a:ln w="2286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12" name="shape-272"/>
          <p:cNvSpPr/>
          <p:nvPr/>
        </p:nvSpPr>
        <p:spPr>
          <a:xfrm>
            <a:off x="3364992" y="1828800"/>
            <a:ext cx="2514600" cy="731520"/>
          </a:xfrm>
          <a:prstGeom prst="roundRect">
            <a:avLst>
              <a:gd name="adj" fmla="val 12500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3" name="text-273"/>
          <p:cNvSpPr txBox="1"/>
          <p:nvPr/>
        </p:nvSpPr>
        <p:spPr>
          <a:xfrm>
            <a:off x="3502152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写入提交</a:t>
            </a:r>
            <a:endParaRPr lang="en-US" sz="1550" dirty="0"/>
          </a:p>
        </p:txBody>
      </p:sp>
      <p:sp>
        <p:nvSpPr>
          <p:cNvPr id="14" name="arrow-274"/>
          <p:cNvSpPr/>
          <p:nvPr/>
        </p:nvSpPr>
        <p:spPr>
          <a:xfrm>
            <a:off x="5897880" y="2194560"/>
            <a:ext cx="265176" cy="0"/>
          </a:xfrm>
          <a:prstGeom prst="line">
            <a:avLst/>
          </a:prstGeom>
          <a:noFill/>
          <a:ln w="2286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15" name="shape-275"/>
          <p:cNvSpPr/>
          <p:nvPr/>
        </p:nvSpPr>
        <p:spPr>
          <a:xfrm>
            <a:off x="6181344" y="1828800"/>
            <a:ext cx="2514600" cy="731520"/>
          </a:xfrm>
          <a:prstGeom prst="roundRect">
            <a:avLst>
              <a:gd name="adj" fmla="val 12500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6" name="text-276"/>
          <p:cNvSpPr txBox="1"/>
          <p:nvPr/>
        </p:nvSpPr>
        <p:spPr>
          <a:xfrm>
            <a:off x="6318504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查询执行</a:t>
            </a:r>
            <a:endParaRPr lang="en-US" sz="1550" dirty="0"/>
          </a:p>
        </p:txBody>
      </p:sp>
      <p:sp>
        <p:nvSpPr>
          <p:cNvPr id="17" name="arrow-277"/>
          <p:cNvSpPr/>
          <p:nvPr/>
        </p:nvSpPr>
        <p:spPr>
          <a:xfrm>
            <a:off x="8714232" y="2194560"/>
            <a:ext cx="265176" cy="0"/>
          </a:xfrm>
          <a:prstGeom prst="line">
            <a:avLst/>
          </a:prstGeom>
          <a:noFill/>
          <a:ln w="22860">
            <a:solidFill>
              <a:srgbClr val="53657A"/>
            </a:solidFill>
            <a:prstDash val="solid"/>
            <a:headEnd type="none"/>
            <a:tailEnd type="triangle"/>
          </a:ln>
        </p:spPr>
      </p:sp>
      <p:sp>
        <p:nvSpPr>
          <p:cNvPr id="18" name="shape-278"/>
          <p:cNvSpPr/>
          <p:nvPr/>
        </p:nvSpPr>
        <p:spPr>
          <a:xfrm>
            <a:off x="8997696" y="1828800"/>
            <a:ext cx="2514600" cy="731520"/>
          </a:xfrm>
          <a:prstGeom prst="roundRect">
            <a:avLst>
              <a:gd name="adj" fmla="val 12500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9" name="text-279"/>
          <p:cNvSpPr txBox="1"/>
          <p:nvPr/>
        </p:nvSpPr>
        <p:spPr>
          <a:xfrm>
            <a:off x="9134856" y="1828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在违规数据上作答</a:t>
            </a:r>
            <a:endParaRPr lang="en-US" sz="1550" dirty="0"/>
          </a:p>
        </p:txBody>
      </p:sp>
      <p:sp>
        <p:nvSpPr>
          <p:cNvPr id="20" name="text-280"/>
          <p:cNvSpPr txBox="1"/>
          <p:nvPr/>
        </p:nvSpPr>
        <p:spPr>
          <a:xfrm>
            <a:off x="548640" y="28346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同快照验证（MAVRA）</a:t>
            </a:r>
            <a:endParaRPr lang="en-US" sz="1500" dirty="0"/>
          </a:p>
        </p:txBody>
      </p:sp>
      <p:sp>
        <p:nvSpPr>
          <p:cNvPr id="21" name="shape-281"/>
          <p:cNvSpPr/>
          <p:nvPr/>
        </p:nvSpPr>
        <p:spPr>
          <a:xfrm>
            <a:off x="548640" y="3182112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E3F2EB"/>
          </a:solidFill>
          <a:ln w="10160">
            <a:solidFill>
              <a:srgbClr val="E3F2EB"/>
            </a:solidFill>
            <a:prstDash val="solid"/>
          </a:ln>
        </p:spPr>
      </p:sp>
      <p:sp>
        <p:nvSpPr>
          <p:cNvPr id="22" name="text-282"/>
          <p:cNvSpPr txBox="1"/>
          <p:nvPr/>
        </p:nvSpPr>
        <p:spPr>
          <a:xfrm>
            <a:off x="731520" y="3182112"/>
            <a:ext cx="7955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同一个可重复读事务：读取版本 → 复用或执行检查 → 条件全部成立才执行业务 SQL</a:t>
            </a:r>
            <a:endParaRPr lang="en-US" sz="1550" dirty="0"/>
          </a:p>
        </p:txBody>
      </p:sp>
      <p:sp>
        <p:nvSpPr>
          <p:cNvPr id="23" name="shape-283"/>
          <p:cNvSpPr/>
          <p:nvPr/>
        </p:nvSpPr>
        <p:spPr>
          <a:xfrm>
            <a:off x="8997696" y="3182112"/>
            <a:ext cx="2615184" cy="731520"/>
          </a:xfrm>
          <a:prstGeom prst="roundRect">
            <a:avLst>
              <a:gd name="adj" fmla="val 12500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24" name="text-284"/>
          <p:cNvSpPr txBox="1"/>
          <p:nvPr/>
        </p:nvSpPr>
        <p:spPr>
          <a:xfrm>
            <a:off x="9134856" y="3182112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5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任一条件不成立：拒绝</a:t>
            </a:r>
            <a:endParaRPr lang="en-US" sz="1550" dirty="0"/>
          </a:p>
        </p:txBody>
      </p:sp>
      <p:sp>
        <p:nvSpPr>
          <p:cNvPr id="25" name="shape-285"/>
          <p:cNvSpPr/>
          <p:nvPr/>
        </p:nvSpPr>
        <p:spPr>
          <a:xfrm>
            <a:off x="548640" y="4206240"/>
            <a:ext cx="653796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6" name="text-286"/>
          <p:cNvSpPr txBox="1"/>
          <p:nvPr/>
        </p:nvSpPr>
        <p:spPr>
          <a:xfrm>
            <a:off x="768096" y="4425696"/>
            <a:ext cx="6135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 1（检查结果复用）</a:t>
            </a:r>
            <a:endParaRPr lang="en-US" sz="1700" dirty="0"/>
          </a:p>
        </p:txBody>
      </p:sp>
      <p:sp>
        <p:nvSpPr>
          <p:cNvPr id="27" name="text-287"/>
          <p:cNvSpPr txBox="1"/>
          <p:nvPr/>
        </p:nvSpPr>
        <p:spPr>
          <a:xfrm>
            <a:off x="768096" y="5029200"/>
            <a:ext cx="609904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两个快照里，条件读到的每张表的事务性版本都相同 ⇒ 条件在两个快照上的检查结果相同。</a:t>
            </a:r>
            <a:endParaRPr lang="en-US" sz="1500" dirty="0"/>
          </a:p>
        </p:txBody>
      </p:sp>
      <p:sp>
        <p:nvSpPr>
          <p:cNvPr id="28" name="shape-288"/>
          <p:cNvSpPr/>
          <p:nvPr/>
        </p:nvSpPr>
        <p:spPr>
          <a:xfrm>
            <a:off x="7269480" y="4206240"/>
            <a:ext cx="434340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9" name="text-289"/>
          <p:cNvSpPr txBox="1"/>
          <p:nvPr/>
        </p:nvSpPr>
        <p:spPr>
          <a:xfrm>
            <a:off x="7488936" y="4425696"/>
            <a:ext cx="3941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为什么要事务性版本</a:t>
            </a:r>
            <a:endParaRPr lang="en-US" sz="1700" dirty="0"/>
          </a:p>
        </p:txBody>
      </p:sp>
      <p:sp>
        <p:nvSpPr>
          <p:cNvPr id="30" name="text-290"/>
          <p:cNvSpPr txBox="1"/>
          <p:nvPr/>
        </p:nvSpPr>
        <p:spPr>
          <a:xfrm>
            <a:off x="7488936" y="5029200"/>
            <a:ext cx="390448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默认 DML 统计异步更新；统计值相同不代表数据相同。</a:t>
            </a:r>
            <a:endParaRPr lang="en-US" sz="1500" dirty="0"/>
          </a:p>
        </p:txBody>
      </p:sp>
      <p:sp>
        <p:nvSpPr>
          <p:cNvPr id="31" name="shape-291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2" name="text-292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并发写入下：先检查后执行 3.8–4.6% 的使用在违规数据上作答，同快照验证一次也没有。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293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做法 · 处理失效</a:t>
            </a:r>
            <a:endParaRPr lang="en-US" sz="1100" dirty="0"/>
          </a:p>
        </p:txBody>
      </p:sp>
      <p:sp>
        <p:nvSpPr>
          <p:cNvPr id="3" name="text-294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处理失效：三道关才发布修复，否则让它失效</a:t>
            </a:r>
            <a:endParaRPr lang="en-US" sz="2900" dirty="0"/>
          </a:p>
        </p:txBody>
      </p:sp>
      <p:sp>
        <p:nvSpPr>
          <p:cNvPr id="4" name="text-295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296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§5.3；算法 1；§7.4</a:t>
            </a:r>
            <a:endParaRPr lang="en-US" sz="850" dirty="0"/>
          </a:p>
        </p:txBody>
      </p:sp>
      <p:sp>
        <p:nvSpPr>
          <p:cNvPr id="6" name="text-297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050" dirty="0"/>
          </a:p>
        </p:txBody>
      </p:sp>
      <p:sp>
        <p:nvSpPr>
          <p:cNvPr id="8" name="shape-298"/>
          <p:cNvSpPr/>
          <p:nvPr/>
        </p:nvSpPr>
        <p:spPr>
          <a:xfrm>
            <a:off x="548640" y="15544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299"/>
          <p:cNvSpPr/>
          <p:nvPr/>
        </p:nvSpPr>
        <p:spPr>
          <a:xfrm>
            <a:off x="731520" y="1737360"/>
            <a:ext cx="384048" cy="384048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300"/>
          <p:cNvSpPr txBox="1"/>
          <p:nvPr/>
        </p:nvSpPr>
        <p:spPr>
          <a:xfrm>
            <a:off x="73152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301"/>
          <p:cNvSpPr txBox="1"/>
          <p:nvPr/>
        </p:nvSpPr>
        <p:spPr>
          <a:xfrm>
            <a:off x="1225296" y="1737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恢复结构</a:t>
            </a:r>
            <a:endParaRPr lang="en-US" sz="1700" dirty="0"/>
          </a:p>
        </p:txBody>
      </p:sp>
      <p:sp>
        <p:nvSpPr>
          <p:cNvPr id="12" name="text-302"/>
          <p:cNvSpPr txBox="1"/>
          <p:nvPr/>
        </p:nvSpPr>
        <p:spPr>
          <a:xfrm>
            <a:off x="749808" y="228600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过滤后每个业务键一行，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且不丢任何业务键</a:t>
            </a:r>
            <a:endParaRPr lang="en-US" sz="1500" dirty="0"/>
          </a:p>
        </p:txBody>
      </p:sp>
      <p:sp>
        <p:nvSpPr>
          <p:cNvPr id="13" name="arrow-303"/>
          <p:cNvSpPr/>
          <p:nvPr/>
        </p:nvSpPr>
        <p:spPr>
          <a:xfrm>
            <a:off x="3959352" y="2532888"/>
            <a:ext cx="402336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4" name="shape-304"/>
          <p:cNvSpPr/>
          <p:nvPr/>
        </p:nvSpPr>
        <p:spPr>
          <a:xfrm>
            <a:off x="4389120" y="15544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5" name="circle-305"/>
          <p:cNvSpPr/>
          <p:nvPr/>
        </p:nvSpPr>
        <p:spPr>
          <a:xfrm>
            <a:off x="4572000" y="1737360"/>
            <a:ext cx="384048" cy="384048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16" name="text-306"/>
          <p:cNvSpPr txBox="1"/>
          <p:nvPr/>
        </p:nvSpPr>
        <p:spPr>
          <a:xfrm>
            <a:off x="457200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-307"/>
          <p:cNvSpPr txBox="1"/>
          <p:nvPr/>
        </p:nvSpPr>
        <p:spPr>
          <a:xfrm>
            <a:off x="5065776" y="1737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候选唯一</a:t>
            </a:r>
            <a:endParaRPr lang="en-US" sz="1700" dirty="0"/>
          </a:p>
        </p:txBody>
      </p:sp>
      <p:sp>
        <p:nvSpPr>
          <p:cNvPr id="18" name="text-308"/>
          <p:cNvSpPr txBox="1"/>
          <p:nvPr/>
        </p:nvSpPr>
        <p:spPr>
          <a:xfrm>
            <a:off x="4590288" y="228600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没有候选或多个候选，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都让口径失效</a:t>
            </a:r>
            <a:endParaRPr lang="en-US" sz="1500" dirty="0"/>
          </a:p>
        </p:txBody>
      </p:sp>
      <p:sp>
        <p:nvSpPr>
          <p:cNvPr id="19" name="arrow-309"/>
          <p:cNvSpPr/>
          <p:nvPr/>
        </p:nvSpPr>
        <p:spPr>
          <a:xfrm>
            <a:off x="7799832" y="2532888"/>
            <a:ext cx="402336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20" name="shape-310"/>
          <p:cNvSpPr/>
          <p:nvPr/>
        </p:nvSpPr>
        <p:spPr>
          <a:xfrm>
            <a:off x="8229600" y="1554480"/>
            <a:ext cx="3383280" cy="1965960"/>
          </a:xfrm>
          <a:prstGeom prst="roundRect">
            <a:avLst>
              <a:gd name="adj" fmla="val 4651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1" name="circle-311"/>
          <p:cNvSpPr/>
          <p:nvPr/>
        </p:nvSpPr>
        <p:spPr>
          <a:xfrm>
            <a:off x="8412480" y="1737360"/>
            <a:ext cx="384048" cy="384048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22" name="text-312"/>
          <p:cNvSpPr txBox="1"/>
          <p:nvPr/>
        </p:nvSpPr>
        <p:spPr>
          <a:xfrm>
            <a:off x="8412480" y="1737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-313"/>
          <p:cNvSpPr txBox="1"/>
          <p:nvPr/>
        </p:nvSpPr>
        <p:spPr>
          <a:xfrm>
            <a:off x="8906256" y="1737360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通过回归</a:t>
            </a:r>
            <a:endParaRPr lang="en-US" sz="1700" dirty="0"/>
          </a:p>
        </p:txBody>
      </p:sp>
      <p:sp>
        <p:nvSpPr>
          <p:cNvPr id="24" name="text-314"/>
          <p:cNvSpPr txBox="1"/>
          <p:nvPr/>
        </p:nvSpPr>
        <p:spPr>
          <a:xfrm>
            <a:off x="8430768" y="2286000"/>
            <a:ext cx="29992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重新通过准入检查，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在学习时快照上比对数值</a:t>
            </a:r>
            <a:endParaRPr lang="en-US" sz="1500" dirty="0"/>
          </a:p>
        </p:txBody>
      </p:sp>
      <p:sp>
        <p:nvSpPr>
          <p:cNvPr id="25" name="shape-315"/>
          <p:cNvSpPr/>
          <p:nvPr/>
        </p:nvSpPr>
        <p:spPr>
          <a:xfrm>
            <a:off x="548640" y="38404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6" name="text-316"/>
          <p:cNvSpPr txBox="1"/>
          <p:nvPr/>
        </p:nvSpPr>
        <p:spPr>
          <a:xfrm>
            <a:off x="768096" y="405993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状态变更行：修复成功</a:t>
            </a:r>
            <a:endParaRPr lang="en-US" sz="1700" dirty="0"/>
          </a:p>
        </p:txBody>
      </p:sp>
      <p:sp>
        <p:nvSpPr>
          <p:cNvPr id="27" name="text-317"/>
          <p:cNvSpPr txBox="1"/>
          <p:nvPr/>
        </p:nvSpPr>
        <p:spPr>
          <a:xfrm>
            <a:off x="768096" y="4663440"/>
            <a:ext cx="5001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“状态 = 完成”是唯一能恢复一键一行的过滤；回归测试通过后发布新修订。</a:t>
            </a:r>
            <a:endParaRPr lang="en-US" sz="1500" dirty="0"/>
          </a:p>
        </p:txBody>
      </p:sp>
      <p:sp>
        <p:nvSpPr>
          <p:cNvPr id="28" name="shape-318"/>
          <p:cNvSpPr/>
          <p:nvPr/>
        </p:nvSpPr>
        <p:spPr>
          <a:xfrm>
            <a:off x="6172200" y="384048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9" name="text-319"/>
          <p:cNvSpPr txBox="1"/>
          <p:nvPr/>
        </p:nvSpPr>
        <p:spPr>
          <a:xfrm>
            <a:off x="6391656" y="405993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备份副本：让口径失效</a:t>
            </a:r>
            <a:endParaRPr lang="en-US" sz="1700" dirty="0"/>
          </a:p>
        </p:txBody>
      </p:sp>
      <p:sp>
        <p:nvSpPr>
          <p:cNvPr id="30" name="text-320"/>
          <p:cNvSpPr txBox="1"/>
          <p:nvPr/>
        </p:nvSpPr>
        <p:spPr>
          <a:xfrm>
            <a:off x="6391656" y="4663440"/>
            <a:ext cx="50017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“来源 = 主库”和“来源 = 备份”都能恢复粒度，结构上分不出真伪，所以让它失效。</a:t>
            </a:r>
            <a:endParaRPr lang="en-US" sz="1500" dirty="0"/>
          </a:p>
        </p:txBody>
      </p:sp>
      <p:sp>
        <p:nvSpPr>
          <p:cNvPr id="31" name="shape-321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32" name="text-322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宁可让口径失效，也不发布可能错的修复；修复进行中的请求等待结果，不重复算。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23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</a:t>
            </a:r>
            <a:endParaRPr lang="en-US" sz="1100" dirty="0"/>
          </a:p>
        </p:txBody>
      </p:sp>
      <p:sp>
        <p:nvSpPr>
          <p:cNvPr id="3" name="text-324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MAVRA：智能体与 PostgreSQL 之间的中间件</a:t>
            </a:r>
            <a:endParaRPr lang="en-US" sz="2700" dirty="0"/>
          </a:p>
        </p:txBody>
      </p:sp>
      <p:sp>
        <p:nvSpPr>
          <p:cNvPr id="4" name="text-325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26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§3；约 6,600 行 Rust，40 个测试</a:t>
            </a:r>
            <a:endParaRPr lang="en-US" sz="850" dirty="0"/>
          </a:p>
        </p:txBody>
      </p:sp>
      <p:sp>
        <p:nvSpPr>
          <p:cNvPr id="6" name="text-327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050" dirty="0"/>
          </a:p>
        </p:txBody>
      </p:sp>
      <p:sp>
        <p:nvSpPr>
          <p:cNvPr id="8" name="shape-328"/>
          <p:cNvSpPr/>
          <p:nvPr/>
        </p:nvSpPr>
        <p:spPr>
          <a:xfrm>
            <a:off x="2971800" y="1508760"/>
            <a:ext cx="6199632" cy="3977640"/>
          </a:xfrm>
          <a:prstGeom prst="roundRect">
            <a:avLst>
              <a:gd name="adj" fmla="val 2299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text-329"/>
          <p:cNvSpPr txBox="1"/>
          <p:nvPr/>
        </p:nvSpPr>
        <p:spPr>
          <a:xfrm>
            <a:off x="3191256" y="171907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1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共享口径与有效性证据</a:t>
            </a:r>
            <a:endParaRPr lang="en-US" sz="2100" dirty="0"/>
          </a:p>
        </p:txBody>
      </p:sp>
      <p:sp>
        <p:nvSpPr>
          <p:cNvPr id="10" name="shape-330"/>
          <p:cNvSpPr/>
          <p:nvPr/>
        </p:nvSpPr>
        <p:spPr>
          <a:xfrm>
            <a:off x="548640" y="21488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1" name="text-331"/>
          <p:cNvSpPr txBox="1"/>
          <p:nvPr/>
        </p:nvSpPr>
        <p:spPr>
          <a:xfrm>
            <a:off x="768096" y="2368296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数据智能体</a:t>
            </a:r>
            <a:endParaRPr lang="en-US" sz="1700" dirty="0"/>
          </a:p>
        </p:txBody>
      </p:sp>
      <p:sp>
        <p:nvSpPr>
          <p:cNvPr id="12" name="text-332"/>
          <p:cNvSpPr txBox="1"/>
          <p:nvPr/>
        </p:nvSpPr>
        <p:spPr>
          <a:xfrm>
            <a:off x="768096" y="2971800"/>
            <a:ext cx="1572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学习会话 / 新会话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查找口径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声明修订并查询</a:t>
            </a:r>
            <a:endParaRPr lang="en-US" sz="1450" dirty="0"/>
          </a:p>
        </p:txBody>
      </p:sp>
      <p:sp>
        <p:nvSpPr>
          <p:cNvPr id="13" name="shape-333"/>
          <p:cNvSpPr/>
          <p:nvPr/>
        </p:nvSpPr>
        <p:spPr>
          <a:xfrm>
            <a:off x="9637776" y="2148840"/>
            <a:ext cx="2011680" cy="2194560"/>
          </a:xfrm>
          <a:prstGeom prst="roundRect">
            <a:avLst>
              <a:gd name="adj" fmla="val 4545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text-334"/>
          <p:cNvSpPr txBox="1"/>
          <p:nvPr/>
        </p:nvSpPr>
        <p:spPr>
          <a:xfrm>
            <a:off x="9857232" y="2368296"/>
            <a:ext cx="1609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</a:t>
            </a:r>
            <a:endParaRPr lang="en-US" sz="1700" dirty="0"/>
          </a:p>
        </p:txBody>
      </p:sp>
      <p:sp>
        <p:nvSpPr>
          <p:cNvPr id="15" name="text-335"/>
          <p:cNvSpPr txBox="1"/>
          <p:nvPr/>
        </p:nvSpPr>
        <p:spPr>
          <a:xfrm>
            <a:off x="9857232" y="2971800"/>
            <a:ext cx="1572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事实与维度表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条件检查 SQL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事务性表版本</a:t>
            </a:r>
            <a:endParaRPr lang="en-US" sz="1450" dirty="0"/>
          </a:p>
        </p:txBody>
      </p:sp>
      <p:sp>
        <p:nvSpPr>
          <p:cNvPr id="16" name="arrow-336"/>
          <p:cNvSpPr/>
          <p:nvPr/>
        </p:nvSpPr>
        <p:spPr>
          <a:xfrm>
            <a:off x="2624328" y="3200400"/>
            <a:ext cx="283464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7" name="arrow-337"/>
          <p:cNvSpPr/>
          <p:nvPr/>
        </p:nvSpPr>
        <p:spPr>
          <a:xfrm>
            <a:off x="9226296" y="3200400"/>
            <a:ext cx="338328" cy="0"/>
          </a:xfrm>
          <a:prstGeom prst="line">
            <a:avLst/>
          </a:prstGeom>
          <a:noFill/>
          <a:ln w="22860">
            <a:solidFill>
              <a:srgbClr val="2A78D6"/>
            </a:solidFill>
            <a:prstDash val="solid"/>
            <a:headEnd type="none"/>
            <a:tailEnd type="triangle"/>
          </a:ln>
        </p:spPr>
      </p:sp>
      <p:sp>
        <p:nvSpPr>
          <p:cNvPr id="18" name="shape-338"/>
          <p:cNvSpPr/>
          <p:nvPr/>
        </p:nvSpPr>
        <p:spPr>
          <a:xfrm>
            <a:off x="3227832" y="2377440"/>
            <a:ext cx="56692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19" name="text-339"/>
          <p:cNvSpPr txBox="1"/>
          <p:nvPr/>
        </p:nvSpPr>
        <p:spPr>
          <a:xfrm>
            <a:off x="3429000" y="2377440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准入</a:t>
            </a:r>
            <a:endParaRPr lang="en-US" sz="1800" dirty="0"/>
          </a:p>
        </p:txBody>
      </p:sp>
      <p:sp>
        <p:nvSpPr>
          <p:cNvPr id="20" name="text-340"/>
          <p:cNvSpPr txBox="1"/>
          <p:nvPr/>
        </p:nvSpPr>
        <p:spPr>
          <a:xfrm>
            <a:off x="4572000" y="2377440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成功轨迹 → 结构化口径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七项准入检查重放后发布</a:t>
            </a:r>
            <a:endParaRPr lang="en-US" sz="1450" dirty="0"/>
          </a:p>
        </p:txBody>
      </p:sp>
      <p:sp>
        <p:nvSpPr>
          <p:cNvPr id="21" name="shape-341"/>
          <p:cNvSpPr/>
          <p:nvPr/>
        </p:nvSpPr>
        <p:spPr>
          <a:xfrm>
            <a:off x="3227832" y="3273552"/>
            <a:ext cx="56692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2" name="text-342"/>
          <p:cNvSpPr txBox="1"/>
          <p:nvPr/>
        </p:nvSpPr>
        <p:spPr>
          <a:xfrm>
            <a:off x="3429000" y="3273552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</a:t>
            </a:r>
            <a:endParaRPr lang="en-US" sz="1800" dirty="0"/>
          </a:p>
        </p:txBody>
      </p:sp>
      <p:sp>
        <p:nvSpPr>
          <p:cNvPr id="23" name="text-343"/>
          <p:cNvSpPr txBox="1"/>
          <p:nvPr/>
        </p:nvSpPr>
        <p:spPr>
          <a:xfrm>
            <a:off x="4572000" y="3273552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版本变化 → 按条件重查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复用检查结果 / 失效 / 有界修复</a:t>
            </a:r>
            <a:endParaRPr lang="en-US" sz="1450" dirty="0"/>
          </a:p>
        </p:txBody>
      </p:sp>
      <p:sp>
        <p:nvSpPr>
          <p:cNvPr id="24" name="shape-344"/>
          <p:cNvSpPr/>
          <p:nvPr/>
        </p:nvSpPr>
        <p:spPr>
          <a:xfrm>
            <a:off x="3227832" y="4169664"/>
            <a:ext cx="5669280" cy="749808"/>
          </a:xfrm>
          <a:prstGeom prst="roundRect">
            <a:avLst>
              <a:gd name="adj" fmla="val 12195"/>
            </a:avLst>
          </a:prstGeom>
          <a:solidFill>
            <a:srgbClr val="FFFFFF"/>
          </a:solidFill>
          <a:ln w="10160">
            <a:solidFill>
              <a:srgbClr val="FFFFFF"/>
            </a:solidFill>
            <a:prstDash val="solid"/>
          </a:ln>
        </p:spPr>
      </p:sp>
      <p:sp>
        <p:nvSpPr>
          <p:cNvPr id="25" name="text-345"/>
          <p:cNvSpPr txBox="1"/>
          <p:nvPr/>
        </p:nvSpPr>
        <p:spPr>
          <a:xfrm>
            <a:off x="3429000" y="4169664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800" dirty="0"/>
          </a:p>
        </p:txBody>
      </p:sp>
      <p:sp>
        <p:nvSpPr>
          <p:cNvPr id="26" name="text-346"/>
          <p:cNvSpPr txBox="1"/>
          <p:nvPr/>
        </p:nvSpPr>
        <p:spPr>
          <a:xfrm>
            <a:off x="4572000" y="4169664"/>
            <a:ext cx="41605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核对声明的修订 → SQL 审查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可选：同一快照验证并执行</a:t>
            </a:r>
            <a:endParaRPr lang="en-US" sz="1450" dirty="0"/>
          </a:p>
        </p:txBody>
      </p:sp>
      <p:sp>
        <p:nvSpPr>
          <p:cNvPr id="27" name="text-347"/>
          <p:cNvSpPr txBox="1"/>
          <p:nvPr/>
        </p:nvSpPr>
        <p:spPr>
          <a:xfrm>
            <a:off x="3218688" y="51023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口径、连接路径、粒度条目、检查结果和证据都带版本，保存在中间件的知识库里</a:t>
            </a:r>
            <a:endParaRPr lang="en-US" sz="1250" dirty="0"/>
          </a:p>
        </p:txBody>
      </p:sp>
      <p:sp>
        <p:nvSpPr>
          <p:cNvPr id="28" name="shape-348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9" name="text-349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对智能体来说只是多了两个工具：find_metric 返回当前有效的口径，run_sql 在使用时核对。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50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1100" dirty="0"/>
          </a:p>
        </p:txBody>
      </p:sp>
      <p:sp>
        <p:nvSpPr>
          <p:cNvPr id="3" name="text-35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两层实验：先固定口径验证机制，再让真实智能体跑完整任务</a:t>
            </a:r>
            <a:endParaRPr lang="en-US" sz="2700" dirty="0"/>
          </a:p>
        </p:txBody>
      </p:sp>
      <p:sp>
        <p:nvSpPr>
          <p:cNvPr id="4" name="text-352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53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§7.1；表 2、表 3</a:t>
            </a:r>
            <a:endParaRPr lang="en-US" sz="850" dirty="0"/>
          </a:p>
        </p:txBody>
      </p:sp>
      <p:sp>
        <p:nvSpPr>
          <p:cNvPr id="6" name="text-354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050" dirty="0"/>
          </a:p>
        </p:txBody>
      </p:sp>
      <p:sp>
        <p:nvSpPr>
          <p:cNvPr id="8" name="shape-355"/>
          <p:cNvSpPr/>
          <p:nvPr/>
        </p:nvSpPr>
        <p:spPr>
          <a:xfrm>
            <a:off x="548640" y="1481328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356"/>
          <p:cNvSpPr/>
          <p:nvPr/>
        </p:nvSpPr>
        <p:spPr>
          <a:xfrm>
            <a:off x="749808" y="1682496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357"/>
          <p:cNvSpPr txBox="1"/>
          <p:nvPr/>
        </p:nvSpPr>
        <p:spPr>
          <a:xfrm>
            <a:off x="74980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358"/>
          <p:cNvSpPr txBox="1"/>
          <p:nvPr/>
        </p:nvSpPr>
        <p:spPr>
          <a:xfrm>
            <a:off x="1280160" y="1700784"/>
            <a:ext cx="4434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系统层：口径固定，只换维护方式</a:t>
            </a:r>
            <a:endParaRPr lang="en-US" sz="1800" dirty="0"/>
          </a:p>
        </p:txBody>
      </p:sp>
      <p:sp>
        <p:nvSpPr>
          <p:cNvPr id="12" name="text-359"/>
          <p:cNvSpPr txBox="1"/>
          <p:nvPr/>
        </p:nvSpPr>
        <p:spPr>
          <a:xfrm>
            <a:off x="768096" y="2304288"/>
            <a:ext cx="491032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定义库回放：15 个学到的口径库（97 个口径）+ TPC-DS 模板库，各 11 种数据变化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并发写入：先检查后执行 vs 同快照验证，确定性交错 + 随机并发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维护代价：定义级 / 检查结果缓存 / MAVRA，100 万–1600 万行，8–32 个脚本智能体</a:t>
            </a:r>
            <a:endParaRPr lang="en-US" sz="1450" dirty="0"/>
          </a:p>
        </p:txBody>
      </p:sp>
      <p:sp>
        <p:nvSpPr>
          <p:cNvPr id="13" name="shape-360"/>
          <p:cNvSpPr/>
          <p:nvPr/>
        </p:nvSpPr>
        <p:spPr>
          <a:xfrm>
            <a:off x="6080760" y="1481328"/>
            <a:ext cx="5532120" cy="411480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361"/>
          <p:cNvSpPr/>
          <p:nvPr/>
        </p:nvSpPr>
        <p:spPr>
          <a:xfrm>
            <a:off x="6281928" y="1682496"/>
            <a:ext cx="402336" cy="402336"/>
          </a:xfrm>
          <a:prstGeom prst="ellipse">
            <a:avLst/>
          </a:prstGeom>
          <a:solidFill>
            <a:srgbClr val="8250AD"/>
          </a:solidFill>
          <a:ln w="12700">
            <a:solidFill>
              <a:srgbClr val="8250AD"/>
            </a:solidFill>
            <a:prstDash val="solid"/>
          </a:ln>
        </p:spPr>
      </p:sp>
      <p:sp>
        <p:nvSpPr>
          <p:cNvPr id="15" name="text-362"/>
          <p:cNvSpPr txBox="1"/>
          <p:nvPr/>
        </p:nvSpPr>
        <p:spPr>
          <a:xfrm>
            <a:off x="6281928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-363"/>
          <p:cNvSpPr txBox="1"/>
          <p:nvPr/>
        </p:nvSpPr>
        <p:spPr>
          <a:xfrm>
            <a:off x="6812280" y="1700784"/>
            <a:ext cx="4617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端到端：真实智能体完整任务</a:t>
            </a:r>
            <a:endParaRPr lang="en-US" sz="1800" dirty="0"/>
          </a:p>
        </p:txBody>
      </p:sp>
      <p:sp>
        <p:nvSpPr>
          <p:cNvPr id="17" name="text-364"/>
          <p:cNvSpPr txBox="1"/>
          <p:nvPr/>
        </p:nvSpPr>
        <p:spPr>
          <a:xfrm>
            <a:off x="6300216" y="2304288"/>
            <a:ext cx="509320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DeepSeek V4.1 Flash；5 个指标先学再用，只给指标名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种数据变化：状态变更行、多版本更正、缓慢变化维、重复加载、日期键格式变化（条件能发现）；备份副本（修复有歧义）；4 种正常追加；单位换算（对照）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种方法 × 3 次独立运行，2586 道计分题；另有 216 个固定库会话量时间与 token</a:t>
            </a:r>
            <a:endParaRPr lang="en-US" sz="1450" dirty="0"/>
          </a:p>
        </p:txBody>
      </p:sp>
      <p:sp>
        <p:nvSpPr>
          <p:cNvPr id="18" name="shape-365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9" name="text-366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系统层回答“维护对不对、贵不贵”，端到端回答“对使用者有没有用”。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67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· 正确性</a:t>
            </a:r>
            <a:endParaRPr lang="en-US" sz="1100" dirty="0"/>
          </a:p>
        </p:txBody>
      </p:sp>
      <p:sp>
        <p:nvSpPr>
          <p:cNvPr id="3" name="text-368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数据变化后：维护后的口径零错误答案，按模式变更失效 629 个</a:t>
            </a:r>
            <a:endParaRPr lang="en-US" sz="2500" dirty="0"/>
          </a:p>
        </p:txBody>
      </p:sp>
      <p:sp>
        <p:nvSpPr>
          <p:cNvPr id="4" name="text-369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70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§7.2；gen/review.tex；图 4</a:t>
            </a:r>
            <a:endParaRPr lang="en-US" sz="850" dirty="0"/>
          </a:p>
        </p:txBody>
      </p:sp>
      <p:sp>
        <p:nvSpPr>
          <p:cNvPr id="6" name="text-371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050" dirty="0"/>
          </a:p>
        </p:txBody>
      </p:sp>
      <p:graphicFrame>
        <p:nvGraphicFramePr>
          <p:cNvPr id="16" name="table-3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749808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005840"/>
                <a:gridCol w="1005840"/>
                <a:gridCol w="301752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维护方式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其中：条件能发现的变化下答错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按模式变更失效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742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728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629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表级测试（dbt 式）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603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定义级重验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text-373"/>
          <p:cNvSpPr txBox="1"/>
          <p:nvPr/>
        </p:nvSpPr>
        <p:spPr>
          <a:xfrm>
            <a:off x="566928" y="4434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每种方法 1,470 道配对题；99 个错误全部来自单位换算这个对照。</a:t>
            </a:r>
            <a:endParaRPr lang="en-US" sz="1350" dirty="0"/>
          </a:p>
        </p:txBody>
      </p:sp>
      <p:sp>
        <p:nvSpPr>
          <p:cNvPr id="10" name="text-374"/>
          <p:cNvSpPr txBox="1"/>
          <p:nvPr/>
        </p:nvSpPr>
        <p:spPr>
          <a:xfrm>
            <a:off x="8229600" y="160020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vs 629</a:t>
            </a:r>
            <a:endParaRPr lang="en-US" sz="3400" dirty="0"/>
          </a:p>
        </p:txBody>
      </p:sp>
      <p:sp>
        <p:nvSpPr>
          <p:cNvPr id="11" name="text-375"/>
          <p:cNvSpPr txBox="1"/>
          <p:nvPr/>
        </p:nvSpPr>
        <p:spPr>
          <a:xfrm>
            <a:off x="8229600" y="248716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条件能发现的变化下的错误答案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vs 按模式变更失效（学到的库）</a:t>
            </a:r>
            <a:endParaRPr lang="en-US" sz="1500" dirty="0"/>
          </a:p>
        </p:txBody>
      </p:sp>
      <p:sp>
        <p:nvSpPr>
          <p:cNvPr id="12" name="text-376"/>
          <p:cNvSpPr txBox="1"/>
          <p:nvPr/>
        </p:nvSpPr>
        <p:spPr>
          <a:xfrm>
            <a:off x="8229600" y="333756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vs 437</a:t>
            </a:r>
            <a:endParaRPr lang="en-US" sz="3400" dirty="0"/>
          </a:p>
        </p:txBody>
      </p:sp>
      <p:sp>
        <p:nvSpPr>
          <p:cNvPr id="13" name="text-377"/>
          <p:cNvSpPr txBox="1"/>
          <p:nvPr/>
        </p:nvSpPr>
        <p:spPr>
          <a:xfrm>
            <a:off x="8229600" y="4224528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同样的对比，真实 TPC-DS 数据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（99 个官方模板导出的口径库）</a:t>
            </a:r>
            <a:endParaRPr lang="en-US" sz="1500" dirty="0"/>
          </a:p>
        </p:txBody>
      </p:sp>
      <p:sp>
        <p:nvSpPr>
          <p:cNvPr id="14" name="shape-378"/>
          <p:cNvSpPr/>
          <p:nvPr/>
        </p:nvSpPr>
        <p:spPr>
          <a:xfrm>
            <a:off x="548640" y="51206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5" name="text-379"/>
          <p:cNvSpPr txBox="1"/>
          <p:nvPr/>
        </p:nvSpPr>
        <p:spPr>
          <a:xfrm>
            <a:off x="749808" y="52303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表级测试也能让被破坏的口径失效，但不会修：MAVRA 多答对 330 题，来自修复或口径自带的过滤。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80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· 使用时的保证</a:t>
            </a:r>
            <a:endParaRPr lang="en-US" sz="1100" dirty="0"/>
          </a:p>
        </p:txBody>
      </p:sp>
      <p:sp>
        <p:nvSpPr>
          <p:cNvPr id="3" name="text-38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并发写入：先检查后执行 4.6% 违规作答，同快照验证一次没有</a:t>
            </a:r>
            <a:endParaRPr lang="en-US" sz="2500" dirty="0"/>
          </a:p>
        </p:txBody>
      </p:sp>
      <p:sp>
        <p:nvSpPr>
          <p:cNvPr id="4" name="text-382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83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§7.3；gen/review.tex；表 5</a:t>
            </a:r>
            <a:endParaRPr lang="en-US" sz="850" dirty="0"/>
          </a:p>
        </p:txBody>
      </p:sp>
      <p:sp>
        <p:nvSpPr>
          <p:cNvPr id="6" name="text-384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050" dirty="0"/>
          </a:p>
        </p:txBody>
      </p:sp>
      <p:sp>
        <p:nvSpPr>
          <p:cNvPr id="8" name="text-385"/>
          <p:cNvSpPr txBox="1"/>
          <p:nvPr/>
        </p:nvSpPr>
        <p:spPr>
          <a:xfrm>
            <a:off x="786384" y="164592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3.8–4.6%</a:t>
            </a:r>
            <a:endParaRPr lang="en-US" sz="4200" dirty="0"/>
          </a:p>
        </p:txBody>
      </p:sp>
      <p:sp>
        <p:nvSpPr>
          <p:cNvPr id="9" name="text-386"/>
          <p:cNvSpPr txBox="1"/>
          <p:nvPr/>
        </p:nvSpPr>
        <p:spPr>
          <a:xfrm>
            <a:off x="786384" y="2532888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先检查后执行：未通知的写入下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在违规数据上作答的使用</a:t>
            </a:r>
            <a:endParaRPr lang="en-US" sz="1500" dirty="0"/>
          </a:p>
        </p:txBody>
      </p:sp>
      <p:sp>
        <p:nvSpPr>
          <p:cNvPr id="10" name="text-387"/>
          <p:cNvSpPr txBox="1"/>
          <p:nvPr/>
        </p:nvSpPr>
        <p:spPr>
          <a:xfrm>
            <a:off x="6473952" y="1645920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/ 11,297</a:t>
            </a:r>
            <a:endParaRPr lang="en-US" sz="4200" dirty="0"/>
          </a:p>
        </p:txBody>
      </p:sp>
      <p:sp>
        <p:nvSpPr>
          <p:cNvPr id="11" name="text-388"/>
          <p:cNvSpPr txBox="1"/>
          <p:nvPr/>
        </p:nvSpPr>
        <p:spPr>
          <a:xfrm>
            <a:off x="6473952" y="2532888"/>
            <a:ext cx="4892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同快照验证：随机并发合计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在违规数据上作答的使用</a:t>
            </a:r>
            <a:endParaRPr lang="en-US" sz="1500" dirty="0"/>
          </a:p>
        </p:txBody>
      </p:sp>
      <p:graphicFrame>
        <p:nvGraphicFramePr>
          <p:cNvPr id="17" name="table-3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794760"/>
          <a:ext cx="1106424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59436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代价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观测结果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读者中位延迟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26–29 ms，两种模式相同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单写者吞吐（相对无触发器）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0.70×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个并发写者：分片计数 / 不分片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0.97× / 0.36×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-390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text-391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保证来自事务性版本：写入和版本递增在同一事务里提交，读者看到其一就看到其二。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392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· 代价</a:t>
            </a:r>
            <a:endParaRPr lang="en-US" sz="1100" dirty="0"/>
          </a:p>
        </p:txBody>
      </p:sp>
      <p:sp>
        <p:nvSpPr>
          <p:cNvPr id="3" name="text-393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维护代价：共享条件后，只需定义级重验的 14%</a:t>
            </a:r>
            <a:endParaRPr lang="en-US" sz="2900" dirty="0"/>
          </a:p>
        </p:txBody>
      </p:sp>
      <p:sp>
        <p:nvSpPr>
          <p:cNvPr id="4" name="text-394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395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§7.5；gen/review.tex；19 个口径、错峰到达</a:t>
            </a:r>
            <a:endParaRPr lang="en-US" sz="850" dirty="0"/>
          </a:p>
        </p:txBody>
      </p:sp>
      <p:sp>
        <p:nvSpPr>
          <p:cNvPr id="6" name="text-396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050" dirty="0"/>
          </a:p>
        </p:txBody>
      </p:sp>
      <p:sp>
        <p:nvSpPr>
          <p:cNvPr id="8" name="text-397"/>
          <p:cNvSpPr txBox="1"/>
          <p:nvPr/>
        </p:nvSpPr>
        <p:spPr>
          <a:xfrm>
            <a:off x="7772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维护数据库时间，相对定义级（%）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91640"/>
          <a:ext cx="6437376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398"/>
          <p:cNvSpPr txBox="1"/>
          <p:nvPr/>
        </p:nvSpPr>
        <p:spPr>
          <a:xfrm>
            <a:off x="7315200" y="1691640"/>
            <a:ext cx="4261104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定义级随口径数增长：63.6 → 227.0 秒。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 个口径：MAVRA 为定义级的 14.0%，检查结果缓存 16.7%。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万到 1600 万行：比例稳定在 12.0–13.0%。</a:t>
            </a:r>
            <a:endParaRPr lang="en-US" sz="1600" dirty="0"/>
          </a:p>
          <a:p>
            <a:pPr marL="203200" indent="-2032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口径之间没有共享条件时，所有方法都是定义级的 95–102%。</a:t>
            </a:r>
            <a:endParaRPr lang="en-US" sz="1600" dirty="0"/>
          </a:p>
        </p:txBody>
      </p:sp>
      <p:sp>
        <p:nvSpPr>
          <p:cNvPr id="11" name="shape-399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2" name="text-400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节省来自检查结果共享，检查结果缓存也能拿到；论文的贡献在条件、使用保证和修复规则。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01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· 真实智能体</a:t>
            </a:r>
            <a:endParaRPr lang="en-US" sz="1100" dirty="0"/>
          </a:p>
        </p:txBody>
      </p:sp>
      <p:sp>
        <p:nvSpPr>
          <p:cNvPr id="3" name="text-402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5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端到端：共享把正确率从 32% 提到 75%，维护再拉开 17 个点</a:t>
            </a:r>
            <a:endParaRPr lang="en-US" sz="2500" dirty="0"/>
          </a:p>
        </p:txBody>
      </p:sp>
      <p:sp>
        <p:nvSpPr>
          <p:cNvPr id="4" name="text-403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04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§7.6；gen/scen-ds.tex；9 种方法 × 3 次</a:t>
            </a:r>
            <a:endParaRPr lang="en-US" sz="850" dirty="0"/>
          </a:p>
        </p:txBody>
      </p:sp>
      <p:sp>
        <p:nvSpPr>
          <p:cNvPr id="6" name="text-405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050" dirty="0"/>
          </a:p>
        </p:txBody>
      </p:sp>
      <p:sp>
        <p:nvSpPr>
          <p:cNvPr id="8" name="text-406"/>
          <p:cNvSpPr txBox="1"/>
          <p:nvPr/>
        </p:nvSpPr>
        <p:spPr>
          <a:xfrm>
            <a:off x="777240" y="1463040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智能体最终答案正确率（%）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664208"/>
          <a:ext cx="7269480" cy="4069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-407"/>
          <p:cNvSpPr txBox="1"/>
          <p:nvPr/>
        </p:nvSpPr>
        <p:spPr>
          <a:xfrm>
            <a:off x="8092440" y="1691640"/>
            <a:ext cx="3520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共享本身：32% → 75%；再加维护 81%。</a:t>
            </a:r>
            <a:endParaRPr lang="en-US" sz="1500" dirty="0"/>
          </a:p>
          <a:p>
            <a:pPr marL="190500" indent="-1905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破坏性变化：MAVRA 74% vs 轨迹检索 57%；预登记的差 +17（95% 区间 15–18）。</a:t>
            </a:r>
            <a:endParaRPr lang="en-US" sz="1500" dirty="0"/>
          </a:p>
          <a:p>
            <a:pPr marL="190500" indent="-1905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让检索的智能体自己检查：63%，仍落后 11 个点。</a:t>
            </a:r>
            <a:endParaRPr lang="en-US" sz="1500" dirty="0"/>
          </a:p>
        </p:txBody>
      </p:sp>
      <p:sp>
        <p:nvSpPr>
          <p:cNvPr id="11" name="text-408"/>
          <p:cNvSpPr txBox="1"/>
          <p:nvPr/>
        </p:nvSpPr>
        <p:spPr>
          <a:xfrm>
            <a:off x="8092440" y="4846320"/>
            <a:ext cx="3520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反例：备份副本下 MAVRA 让口径失效，这一组 61% 低于检索的 72%。</a:t>
            </a:r>
            <a:endParaRPr lang="en-US" sz="1400" dirty="0"/>
          </a:p>
        </p:txBody>
      </p:sp>
      <p:sp>
        <p:nvSpPr>
          <p:cNvPr id="12" name="shape-409"/>
          <p:cNvSpPr/>
          <p:nvPr/>
        </p:nvSpPr>
        <p:spPr>
          <a:xfrm>
            <a:off x="548640" y="58064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3" name="text-410"/>
          <p:cNvSpPr txBox="1"/>
          <p:nvPr/>
        </p:nvSpPr>
        <p:spPr>
          <a:xfrm>
            <a:off x="749808" y="59161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共享提高准确率；维护让共享的口径在数据变了之后仍然可靠。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11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· 使用者的开销</a:t>
            </a:r>
            <a:endParaRPr lang="en-US" sz="1100" dirty="0"/>
          </a:p>
        </p:txBody>
      </p:sp>
      <p:sp>
        <p:nvSpPr>
          <p:cNvPr id="3" name="text-412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对使用者：任务更快、调用更少、token 更少</a:t>
            </a:r>
            <a:endParaRPr lang="en-US" sz="2900" dirty="0"/>
          </a:p>
        </p:txBody>
      </p:sp>
      <p:sp>
        <p:nvSpPr>
          <p:cNvPr id="4" name="text-413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14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§7.6；gen/session-latency.tex；exp/2026-10-03-shared-memory/analysis/summary.json</a:t>
            </a:r>
            <a:endParaRPr lang="en-US" sz="850" dirty="0"/>
          </a:p>
        </p:txBody>
      </p:sp>
      <p:sp>
        <p:nvSpPr>
          <p:cNvPr id="6" name="text-415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1050" dirty="0"/>
          </a:p>
        </p:txBody>
      </p:sp>
      <p:graphicFrame>
        <p:nvGraphicFramePr>
          <p:cNvPr id="20" name="table-4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600200"/>
                <a:gridCol w="2286000"/>
                <a:gridCol w="2194560"/>
                <a:gridCol w="26060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答对 / 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平均完成（秒）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LLM 调用 / 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输入 token / 次尝试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不共享口径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16/54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64.47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5.43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16,329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定义级重验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54/54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3.76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9,227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检查结果缓存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54/54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31.97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3.74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9,137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54/54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37.68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3.83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9,689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text-417"/>
          <p:cNvSpPr txBox="1"/>
          <p:nvPr/>
        </p:nvSpPr>
        <p:spPr>
          <a:xfrm>
            <a:off x="777240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−40.7%</a:t>
            </a:r>
            <a:endParaRPr lang="en-US" sz="3200" dirty="0"/>
          </a:p>
        </p:txBody>
      </p:sp>
      <p:sp>
        <p:nvSpPr>
          <p:cNvPr id="10" name="text-418"/>
          <p:cNvSpPr txBox="1"/>
          <p:nvPr/>
        </p:nvSpPr>
        <p:spPr>
          <a:xfrm>
            <a:off x="777240" y="5230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相对不共享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每次尝试的输入 token</a:t>
            </a:r>
            <a:endParaRPr lang="en-US" sz="1500" dirty="0"/>
          </a:p>
        </p:txBody>
      </p:sp>
      <p:sp>
        <p:nvSpPr>
          <p:cNvPr id="11" name="text-419"/>
          <p:cNvSpPr txBox="1"/>
          <p:nvPr/>
        </p:nvSpPr>
        <p:spPr>
          <a:xfrm>
            <a:off x="3703320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−27.7%</a:t>
            </a:r>
            <a:endParaRPr lang="en-US" sz="3200" dirty="0"/>
          </a:p>
        </p:txBody>
      </p:sp>
      <p:sp>
        <p:nvSpPr>
          <p:cNvPr id="12" name="text-420"/>
          <p:cNvSpPr txBox="1"/>
          <p:nvPr/>
        </p:nvSpPr>
        <p:spPr>
          <a:xfrm>
            <a:off x="3703320" y="5230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业务定义相同时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每题的结构查找次数</a:t>
            </a:r>
            <a:endParaRPr lang="en-US" sz="1500" dirty="0"/>
          </a:p>
        </p:txBody>
      </p:sp>
      <p:sp>
        <p:nvSpPr>
          <p:cNvPr id="13" name="text-421"/>
          <p:cNvSpPr txBox="1"/>
          <p:nvPr/>
        </p:nvSpPr>
        <p:spPr>
          <a:xfrm>
            <a:off x="6629400" y="43434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−72.7%</a:t>
            </a:r>
            <a:endParaRPr lang="en-US" sz="3200" dirty="0"/>
          </a:p>
        </p:txBody>
      </p:sp>
      <p:sp>
        <p:nvSpPr>
          <p:cNvPr id="14" name="text-422"/>
          <p:cNvSpPr txBox="1"/>
          <p:nvPr/>
        </p:nvSpPr>
        <p:spPr>
          <a:xfrm>
            <a:off x="6629400" y="523036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业务定义相同时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每题的 SQL 探查次数</a:t>
            </a:r>
            <a:endParaRPr lang="en-US" sz="1500" dirty="0"/>
          </a:p>
        </p:txBody>
      </p:sp>
      <p:sp>
        <p:nvSpPr>
          <p:cNvPr id="15" name="text-423"/>
          <p:cNvSpPr txBox="1"/>
          <p:nvPr/>
        </p:nvSpPr>
        <p:spPr>
          <a:xfrm>
            <a:off x="9509760" y="438912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节省来自共享：定义级 32.97 秒、检查结果缓存 31.97 秒，维护方式之间没有延迟优势。</a:t>
            </a:r>
            <a:endParaRPr lang="en-US" sz="1300" dirty="0"/>
          </a:p>
        </p:txBody>
      </p:sp>
      <p:sp>
        <p:nvSpPr>
          <p:cNvPr id="16" name="shape-424"/>
          <p:cNvSpPr/>
          <p:nvPr/>
        </p:nvSpPr>
        <p:spPr>
          <a:xfrm>
            <a:off x="548640" y="58064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7" name="text-425"/>
          <p:cNvSpPr txBox="1"/>
          <p:nvPr/>
        </p:nvSpPr>
        <p:spPr>
          <a:xfrm>
            <a:off x="749808" y="59161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216 个全新会话：不共享 16/54 答对、64.47 秒；MAVRA 54/54、37.68 秒。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26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</a:t>
            </a:r>
            <a:endParaRPr lang="en-US" sz="1100" dirty="0"/>
          </a:p>
        </p:txBody>
      </p:sp>
      <p:sp>
        <p:nvSpPr>
          <p:cNvPr id="3" name="text-427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保证的范围，和现在还做不到的</a:t>
            </a:r>
            <a:endParaRPr lang="en-US" sz="2900" dirty="0"/>
          </a:p>
        </p:txBody>
      </p:sp>
      <p:sp>
        <p:nvSpPr>
          <p:cNvPr id="4" name="text-428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29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§6.3、§7.6、§9</a:t>
            </a:r>
            <a:endParaRPr lang="en-US" sz="850" dirty="0"/>
          </a:p>
        </p:txBody>
      </p:sp>
      <p:sp>
        <p:nvSpPr>
          <p:cNvPr id="6" name="text-430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1050" dirty="0"/>
          </a:p>
        </p:txBody>
      </p:sp>
      <p:sp>
        <p:nvSpPr>
          <p:cNvPr id="8" name="shape-431"/>
          <p:cNvSpPr/>
          <p:nvPr/>
        </p:nvSpPr>
        <p:spPr>
          <a:xfrm>
            <a:off x="548640" y="150876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circle-432"/>
          <p:cNvSpPr/>
          <p:nvPr/>
        </p:nvSpPr>
        <p:spPr>
          <a:xfrm>
            <a:off x="749808" y="1709928"/>
            <a:ext cx="402336" cy="402336"/>
          </a:xfrm>
          <a:prstGeom prst="ellipse">
            <a:avLst/>
          </a:prstGeom>
          <a:solidFill>
            <a:srgbClr val="2A78D6"/>
          </a:solidFill>
          <a:ln w="12700">
            <a:solidFill>
              <a:srgbClr val="2A78D6"/>
            </a:solidFill>
            <a:prstDash val="solid"/>
          </a:ln>
        </p:spPr>
      </p:sp>
      <p:sp>
        <p:nvSpPr>
          <p:cNvPr id="10" name="text-433"/>
          <p:cNvSpPr txBox="1"/>
          <p:nvPr/>
        </p:nvSpPr>
        <p:spPr>
          <a:xfrm>
            <a:off x="74980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-434"/>
          <p:cNvSpPr txBox="1"/>
          <p:nvPr/>
        </p:nvSpPr>
        <p:spPr>
          <a:xfrm>
            <a:off x="1280160" y="17282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保证只覆盖声明的使用</a:t>
            </a:r>
            <a:endParaRPr lang="en-US" sz="1800" dirty="0"/>
          </a:p>
        </p:txBody>
      </p:sp>
      <p:sp>
        <p:nvSpPr>
          <p:cNvPr id="12" name="text-435"/>
          <p:cNvSpPr txBox="1"/>
          <p:nvPr/>
        </p:nvSpPr>
        <p:spPr>
          <a:xfrm>
            <a:off x="768096" y="2331720"/>
            <a:ext cx="312724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声明口径 + 同快照验证：条件在所读数据上成立。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未声明的 SQL 不在契约内；此前样本中 25.7% 的答案未声明口径，声明正确修订后仍有 1.3% 因 SQL 偏离而答错。</a:t>
            </a:r>
            <a:endParaRPr lang="en-US" sz="1450" dirty="0"/>
          </a:p>
        </p:txBody>
      </p:sp>
      <p:sp>
        <p:nvSpPr>
          <p:cNvPr id="13" name="shape-436"/>
          <p:cNvSpPr/>
          <p:nvPr/>
        </p:nvSpPr>
        <p:spPr>
          <a:xfrm>
            <a:off x="4297680" y="150876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circle-437"/>
          <p:cNvSpPr/>
          <p:nvPr/>
        </p:nvSpPr>
        <p:spPr>
          <a:xfrm>
            <a:off x="4498848" y="1709928"/>
            <a:ext cx="402336" cy="402336"/>
          </a:xfrm>
          <a:prstGeom prst="ellipse">
            <a:avLst/>
          </a:prstGeom>
          <a:solidFill>
            <a:srgbClr val="EB6834"/>
          </a:solidFill>
          <a:ln w="12700">
            <a:solidFill>
              <a:srgbClr val="EB6834"/>
            </a:solidFill>
            <a:prstDash val="solid"/>
          </a:ln>
        </p:spPr>
      </p:sp>
      <p:sp>
        <p:nvSpPr>
          <p:cNvPr id="15" name="text-438"/>
          <p:cNvSpPr txBox="1"/>
          <p:nvPr/>
        </p:nvSpPr>
        <p:spPr>
          <a:xfrm>
            <a:off x="449884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-439"/>
          <p:cNvSpPr txBox="1"/>
          <p:nvPr/>
        </p:nvSpPr>
        <p:spPr>
          <a:xfrm>
            <a:off x="5029200" y="17282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条件看不到取值语义</a:t>
            </a:r>
            <a:endParaRPr lang="en-US" sz="1800" dirty="0"/>
          </a:p>
        </p:txBody>
      </p:sp>
      <p:sp>
        <p:nvSpPr>
          <p:cNvPr id="17" name="text-440"/>
          <p:cNvSpPr txBox="1"/>
          <p:nvPr/>
        </p:nvSpPr>
        <p:spPr>
          <a:xfrm>
            <a:off x="4517136" y="2331720"/>
            <a:ext cx="312724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单位换算不违反任何条件；备份副本里两份总体都合法。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这两类要靠业务证据；修复也只会加过滤，还不会去重或重映射键。</a:t>
            </a:r>
            <a:endParaRPr lang="en-US" sz="1450" dirty="0"/>
          </a:p>
        </p:txBody>
      </p:sp>
      <p:sp>
        <p:nvSpPr>
          <p:cNvPr id="18" name="shape-441"/>
          <p:cNvSpPr/>
          <p:nvPr/>
        </p:nvSpPr>
        <p:spPr>
          <a:xfrm>
            <a:off x="8046720" y="1508760"/>
            <a:ext cx="3566160" cy="3520440"/>
          </a:xfrm>
          <a:prstGeom prst="roundRect">
            <a:avLst>
              <a:gd name="adj" fmla="val 2597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9" name="circle-442"/>
          <p:cNvSpPr/>
          <p:nvPr/>
        </p:nvSpPr>
        <p:spPr>
          <a:xfrm>
            <a:off x="8247888" y="1709928"/>
            <a:ext cx="402336" cy="402336"/>
          </a:xfrm>
          <a:prstGeom prst="ellipse">
            <a:avLst/>
          </a:prstGeom>
          <a:solidFill>
            <a:srgbClr val="198861"/>
          </a:solidFill>
          <a:ln w="12700">
            <a:solidFill>
              <a:srgbClr val="198861"/>
            </a:solidFill>
            <a:prstDash val="solid"/>
          </a:ln>
        </p:spPr>
      </p:sp>
      <p:sp>
        <p:nvSpPr>
          <p:cNvPr id="20" name="text-443"/>
          <p:cNvSpPr txBox="1"/>
          <p:nvPr/>
        </p:nvSpPr>
        <p:spPr>
          <a:xfrm>
            <a:off x="8247888" y="1709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-444"/>
          <p:cNvSpPr txBox="1"/>
          <p:nvPr/>
        </p:nvSpPr>
        <p:spPr>
          <a:xfrm>
            <a:off x="8778240" y="1728216"/>
            <a:ext cx="2651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评估的局限</a:t>
            </a:r>
            <a:endParaRPr lang="en-US" sz="1800" dirty="0"/>
          </a:p>
        </p:txBody>
      </p:sp>
      <p:sp>
        <p:nvSpPr>
          <p:cNvPr id="22" name="text-445"/>
          <p:cNvSpPr txBox="1"/>
          <p:nvPr/>
        </p:nvSpPr>
        <p:spPr>
          <a:xfrm>
            <a:off x="8266176" y="2331720"/>
            <a:ext cx="3127248" cy="2551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数据变化由我们注入，不是真实更新历史。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端到端主实验一个模型、每种方法 3 次；更早一轮三个模型趋势一致。</a:t>
            </a:r>
            <a:endParaRPr lang="en-US" sz="1450" dirty="0"/>
          </a:p>
        </p:txBody>
      </p:sp>
      <p:sp>
        <p:nvSpPr>
          <p:cNvPr id="23" name="shape-446"/>
          <p:cNvSpPr/>
          <p:nvPr/>
        </p:nvSpPr>
        <p:spPr>
          <a:xfrm>
            <a:off x="548640" y="53492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24" name="text-447"/>
          <p:cNvSpPr txBox="1"/>
          <p:nvPr/>
        </p:nvSpPr>
        <p:spPr>
          <a:xfrm>
            <a:off x="749808" y="54589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下一步：取值层面的条件、识别未声明的使用、去重和重映射修复、真实更新历史。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48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</a:t>
            </a:r>
            <a:endParaRPr lang="en-US" sz="1100" dirty="0"/>
          </a:p>
        </p:txBody>
      </p:sp>
      <p:sp>
        <p:nvSpPr>
          <p:cNvPr id="3" name="text-449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论文贡献与当前进展</a:t>
            </a:r>
            <a:endParaRPr lang="en-US" sz="2900" dirty="0"/>
          </a:p>
        </p:txBody>
      </p:sp>
      <p:sp>
        <p:nvSpPr>
          <p:cNvPr id="4" name="text-450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51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 overleaf/；docs/research-status.md</a:t>
            </a:r>
            <a:endParaRPr lang="en-US" sz="850" dirty="0"/>
          </a:p>
        </p:txBody>
      </p:sp>
      <p:sp>
        <p:nvSpPr>
          <p:cNvPr id="6" name="text-452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1050" dirty="0"/>
          </a:p>
        </p:txBody>
      </p:sp>
      <p:sp>
        <p:nvSpPr>
          <p:cNvPr id="8" name="shape-453"/>
          <p:cNvSpPr/>
          <p:nvPr/>
        </p:nvSpPr>
        <p:spPr>
          <a:xfrm>
            <a:off x="548640" y="1481328"/>
            <a:ext cx="5486400" cy="411480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9" name="text-454"/>
          <p:cNvSpPr txBox="1"/>
          <p:nvPr/>
        </p:nvSpPr>
        <p:spPr>
          <a:xfrm>
            <a:off x="768096" y="1700784"/>
            <a:ext cx="50840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四项贡献</a:t>
            </a:r>
            <a:endParaRPr lang="en-US" sz="1800" dirty="0"/>
          </a:p>
        </p:txBody>
      </p:sp>
      <p:sp>
        <p:nvSpPr>
          <p:cNvPr id="10" name="text-455"/>
          <p:cNvSpPr txBox="1"/>
          <p:nvPr/>
        </p:nvSpPr>
        <p:spPr>
          <a:xfrm>
            <a:off x="768096" y="2304288"/>
            <a:ext cx="504748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把共享口径建模为依赖四类可执行条件的可维护知识，并证明条件的充分性（命题 1）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把每次声明的使用绑定到查询自身快照上成立的证据，复用规则可靠（引理 1）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有界修复算法：唯一、不丢键、过回归，否则让它失效（算法 1）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实现与两层评估：定义库回放、TPC-DS、并发、代价、端到端</a:t>
            </a:r>
            <a:endParaRPr lang="en-US" sz="1450" dirty="0"/>
          </a:p>
        </p:txBody>
      </p:sp>
      <p:sp>
        <p:nvSpPr>
          <p:cNvPr id="11" name="shape-456"/>
          <p:cNvSpPr/>
          <p:nvPr/>
        </p:nvSpPr>
        <p:spPr>
          <a:xfrm>
            <a:off x="6217920" y="1481328"/>
            <a:ext cx="5394960" cy="4114800"/>
          </a:xfrm>
          <a:prstGeom prst="roundRect">
            <a:avLst>
              <a:gd name="adj" fmla="val 222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2" name="text-457"/>
          <p:cNvSpPr txBox="1"/>
          <p:nvPr/>
        </p:nvSpPr>
        <p:spPr>
          <a:xfrm>
            <a:off x="6437376" y="1700784"/>
            <a:ext cx="4992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进展与下一步</a:t>
            </a:r>
            <a:endParaRPr lang="en-US" sz="1800" dirty="0"/>
          </a:p>
        </p:txBody>
      </p:sp>
      <p:sp>
        <p:nvSpPr>
          <p:cNvPr id="13" name="text-458"/>
          <p:cNvSpPr txBox="1"/>
          <p:nvPr/>
        </p:nvSpPr>
        <p:spPr>
          <a:xfrm>
            <a:off x="6437376" y="2304288"/>
            <a:ext cx="4956048" cy="3145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论文完整初稿，投稿目标 SIGMOD 2027 研究track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摘要、引言按“问题—做法—效果”重写，引用逐条核对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代码、工具和实验数据在仓库主线上，可复算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正文约 12.6 页，需压缩 0.6 页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10 月 7 日配额重置后补跑其他模型</a:t>
            </a:r>
            <a:endParaRPr lang="en-US" sz="14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○ 真实更新历史、取值条件、未声明使用</a:t>
            </a:r>
            <a:endParaRPr lang="en-US" sz="1450" dirty="0"/>
          </a:p>
        </p:txBody>
      </p:sp>
      <p:sp>
        <p:nvSpPr>
          <p:cNvPr id="14" name="shape-459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5" name="text-460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方法、证明、系统和实验已经闭环；剩下的是压缩篇幅和补强评估。</a:t>
            </a:r>
            <a:endParaRPr lang="en-US" sz="16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6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C4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3" name="text-46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C4D2E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§10</a:t>
            </a:r>
            <a:endParaRPr lang="en-US" sz="850" dirty="0"/>
          </a:p>
        </p:txBody>
      </p:sp>
      <p:sp>
        <p:nvSpPr>
          <p:cNvPr id="4" name="text-46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050" dirty="0"/>
          </a:p>
        </p:txBody>
      </p:sp>
      <p:sp>
        <p:nvSpPr>
          <p:cNvPr id="6" name="text-464"/>
          <p:cNvSpPr txBox="1"/>
          <p:nvPr/>
        </p:nvSpPr>
        <p:spPr>
          <a:xfrm>
            <a:off x="731520" y="914400"/>
            <a:ext cx="10652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让共享知识在变化的数据上继续成立</a:t>
            </a:r>
            <a:endParaRPr lang="en-US" sz="3400" dirty="0"/>
          </a:p>
        </p:txBody>
      </p:sp>
      <p:sp>
        <p:nvSpPr>
          <p:cNvPr id="7" name="text-465"/>
          <p:cNvSpPr txBox="1"/>
          <p:nvPr/>
        </p:nvSpPr>
        <p:spPr>
          <a:xfrm>
            <a:off x="786384" y="1965960"/>
            <a:ext cx="10561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 记录：从口径推出粒度、连接、日期角色、日期键完整性四类条件</a:t>
            </a:r>
            <a:endParaRPr lang="en-US" sz="20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 维护：检查结果按数据版本保存，更新后只重查受影响的条件</a:t>
            </a:r>
            <a:endParaRPr lang="en-US" sz="20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  约束使用：查询只在条件成立的快照上执行</a:t>
            </a:r>
            <a:endParaRPr lang="en-US" sz="2000" dirty="0"/>
          </a:p>
          <a:p>
            <a:pPr indent="0" marL="0">
              <a:lnSpc>
                <a:spcPct val="112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④  处理失效：唯一且过回归才修复，否则让它失效</a:t>
            </a:r>
            <a:endParaRPr lang="en-US" sz="2000" dirty="0"/>
          </a:p>
        </p:txBody>
      </p:sp>
      <p:sp>
        <p:nvSpPr>
          <p:cNvPr id="8" name="shape-466"/>
          <p:cNvSpPr/>
          <p:nvPr/>
        </p:nvSpPr>
        <p:spPr>
          <a:xfrm>
            <a:off x="731520" y="4251960"/>
            <a:ext cx="10698480" cy="1965960"/>
          </a:xfrm>
          <a:prstGeom prst="roundRect">
            <a:avLst>
              <a:gd name="adj" fmla="val 4651"/>
            </a:avLst>
          </a:prstGeom>
          <a:solidFill>
            <a:srgbClr val="24364D"/>
          </a:solidFill>
          <a:ln w="10160">
            <a:solidFill>
              <a:srgbClr val="24364D"/>
            </a:solidFill>
            <a:prstDash val="solid"/>
          </a:ln>
        </p:spPr>
      </p:sp>
      <p:sp>
        <p:nvSpPr>
          <p:cNvPr id="9" name="text-467"/>
          <p:cNvSpPr txBox="1"/>
          <p:nvPr/>
        </p:nvSpPr>
        <p:spPr>
          <a:xfrm>
            <a:off x="960120" y="43891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800" b="1" dirty="0">
                <a:solidFill>
                  <a:srgbClr val="88B9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想请老师把关的三个问题</a:t>
            </a:r>
            <a:endParaRPr lang="en-US" sz="1800" dirty="0"/>
          </a:p>
        </p:txBody>
      </p:sp>
      <p:sp>
        <p:nvSpPr>
          <p:cNvPr id="10" name="text-468"/>
          <p:cNvSpPr txBox="1"/>
          <p:nvPr/>
        </p:nvSpPr>
        <p:spPr>
          <a:xfrm>
            <a:off x="960120" y="4800600"/>
            <a:ext cx="102412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定位：聚焦“共享指标口径的有效性维护”，而不是更宽的“智能体共享记忆层”，这样切是否站得住？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评估：端到端一个模型 × 3 次、数据变化由我们注入；补哪一项最有说服力？</a:t>
            </a:r>
            <a:endParaRPr lang="en-US" sz="1550" dirty="0"/>
          </a:p>
          <a:p>
            <a:pPr indent="0" marL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550" dirty="0">
                <a:solidFill>
                  <a:srgbClr val="D8E5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投稿：按 SIGMOD 2027 研究track，正文再压 0.6 页；目标与时间是否合适？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69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形式化</a:t>
            </a:r>
            <a:endParaRPr lang="en-US" sz="1100" dirty="0"/>
          </a:p>
        </p:txBody>
      </p:sp>
      <p:sp>
        <p:nvSpPr>
          <p:cNvPr id="3" name="text-470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形式化：定义、命题 1、引理 1 与算法 1</a:t>
            </a:r>
            <a:endParaRPr lang="en-US" sz="2900" dirty="0"/>
          </a:p>
        </p:txBody>
      </p:sp>
      <p:sp>
        <p:nvSpPr>
          <p:cNvPr id="4" name="text-471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72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§4、§6.2、§5.3</a:t>
            </a:r>
            <a:endParaRPr lang="en-US" sz="850" dirty="0"/>
          </a:p>
        </p:txBody>
      </p:sp>
      <p:sp>
        <p:nvSpPr>
          <p:cNvPr id="6" name="text-473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1050" dirty="0"/>
          </a:p>
        </p:txBody>
      </p:sp>
      <p:sp>
        <p:nvSpPr>
          <p:cNvPr id="8" name="text-474"/>
          <p:cNvSpPr txBox="1"/>
          <p:nvPr/>
        </p:nvSpPr>
        <p:spPr>
          <a:xfrm>
            <a:off x="576072" y="14813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5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修订  mʳ = (B, I, C, E, r)   业务含义 · 结构化实现 · 条件集 · 证据 · 修订号；规范 SQL 由 I 编译</a:t>
            </a:r>
            <a:endParaRPr lang="en-US" sz="1650" dirty="0"/>
          </a:p>
        </p:txBody>
      </p:sp>
      <p:sp>
        <p:nvSpPr>
          <p:cNvPr id="9" name="shape-475"/>
          <p:cNvSpPr/>
          <p:nvPr/>
        </p:nvSpPr>
        <p:spPr>
          <a:xfrm>
            <a:off x="548640" y="2057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0" name="text-476"/>
          <p:cNvSpPr txBox="1"/>
          <p:nvPr/>
        </p:nvSpPr>
        <p:spPr>
          <a:xfrm>
            <a:off x="768096" y="227685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988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 1（充分性）</a:t>
            </a:r>
            <a:endParaRPr lang="en-US" sz="1600" dirty="0"/>
          </a:p>
        </p:txBody>
      </p:sp>
      <p:sp>
        <p:nvSpPr>
          <p:cNvPr id="11" name="text-477"/>
          <p:cNvSpPr txBox="1"/>
          <p:nvPr/>
        </p:nvSpPr>
        <p:spPr>
          <a:xfrm>
            <a:off x="768096" y="2880360"/>
            <a:ext cx="5001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B1、B2 与 C(mʳ) 在快照 Dₛ 上成立 ⇒ 对每个期间 p，规范 SQL 返回角色日期落在 p 内的事件度量的聚合，每个事件恰好贡献一次；遗漏仅为日期键匹配不到日期维度的事件，其比例受完整性条件约束。</a:t>
            </a:r>
            <a:endParaRPr lang="en-US" sz="1350" dirty="0"/>
          </a:p>
        </p:txBody>
      </p:sp>
      <p:sp>
        <p:nvSpPr>
          <p:cNvPr id="12" name="shape-478"/>
          <p:cNvSpPr/>
          <p:nvPr/>
        </p:nvSpPr>
        <p:spPr>
          <a:xfrm>
            <a:off x="6172200" y="2057400"/>
            <a:ext cx="5440680" cy="1783080"/>
          </a:xfrm>
          <a:prstGeom prst="roundRect">
            <a:avLst>
              <a:gd name="adj" fmla="val 5128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3" name="text-479"/>
          <p:cNvSpPr txBox="1"/>
          <p:nvPr/>
        </p:nvSpPr>
        <p:spPr>
          <a:xfrm>
            <a:off x="6391656" y="227685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8250A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引理 1（检查结果复用）</a:t>
            </a:r>
            <a:endParaRPr lang="en-US" sz="1600" dirty="0"/>
          </a:p>
        </p:txBody>
      </p:sp>
      <p:sp>
        <p:nvSpPr>
          <p:cNvPr id="14" name="text-480"/>
          <p:cNvSpPr txBox="1"/>
          <p:nvPr/>
        </p:nvSpPr>
        <p:spPr>
          <a:xfrm>
            <a:off x="6391656" y="2880360"/>
            <a:ext cx="5001768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两个快照 s₁、s₂ 中，条件 c 读到的每张表 T 的事务性版本相同 ⇒ c(D_{s₁}) = c(D_{s₂})。证明用快照嵌套与“写入和版本递增在同一事务提交”。</a:t>
            </a:r>
            <a:endParaRPr lang="en-US" sz="1350" dirty="0"/>
          </a:p>
        </p:txBody>
      </p:sp>
      <p:sp>
        <p:nvSpPr>
          <p:cNvPr id="15" name="shape-481"/>
          <p:cNvSpPr/>
          <p:nvPr/>
        </p:nvSpPr>
        <p:spPr>
          <a:xfrm>
            <a:off x="548640" y="402336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6" name="text-482"/>
          <p:cNvSpPr txBox="1"/>
          <p:nvPr/>
        </p:nvSpPr>
        <p:spPr>
          <a:xfrm>
            <a:off x="768096" y="4242816"/>
            <a:ext cx="106619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1（有界修复）</a:t>
            </a:r>
            <a:endParaRPr lang="en-US" sz="1600" dirty="0"/>
          </a:p>
        </p:txBody>
      </p:sp>
      <p:sp>
        <p:nvSpPr>
          <p:cNvPr id="17" name="text-483"/>
          <p:cNvSpPr txBox="1"/>
          <p:nvPr/>
        </p:nvSpPr>
        <p:spPr>
          <a:xfrm>
            <a:off x="768096" y="4846320"/>
            <a:ext cx="10625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粒度条件失效 → 在低基数列上枚举等值过滤 → 保留恢复一键一行且不丢业务键的候选 → 候选恰好一个 → 通过准入检查 G3–G5 与学习时快照上的回归 G8 → 发布新修订；任一步失败则让口径失效。</a:t>
            </a:r>
            <a:endParaRPr lang="en-US" sz="1350" dirty="0"/>
          </a:p>
        </p:txBody>
      </p:sp>
      <p:sp>
        <p:nvSpPr>
          <p:cNvPr id="18" name="shape-484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FDEDE4"/>
          </a:solidFill>
          <a:ln w="10160">
            <a:solidFill>
              <a:srgbClr val="FDEDE4"/>
            </a:solidFill>
            <a:prstDash val="solid"/>
          </a:ln>
        </p:spPr>
      </p:sp>
      <p:sp>
        <p:nvSpPr>
          <p:cNvPr id="19" name="text-485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命题划定检测边界：取值变化、结构等价的总体、合法但错误的日期键不由结构条件证明。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486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修复细节</a:t>
            </a:r>
            <a:endParaRPr lang="en-US" sz="1100" dirty="0"/>
          </a:p>
        </p:txBody>
      </p:sp>
      <p:sp>
        <p:nvSpPr>
          <p:cNvPr id="3" name="text-487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回归测试放在学习时快照上做：不需要标准答案也能修好</a:t>
            </a:r>
            <a:endParaRPr lang="en-US" sz="2700" dirty="0"/>
          </a:p>
        </p:txBody>
      </p:sp>
      <p:sp>
        <p:nvSpPr>
          <p:cNvPr id="4" name="text-488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489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§5.3、§7.4；gen/review.tex</a:t>
            </a:r>
            <a:endParaRPr lang="en-US" sz="850" dirty="0"/>
          </a:p>
        </p:txBody>
      </p:sp>
      <p:sp>
        <p:nvSpPr>
          <p:cNvPr id="6" name="text-490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1050" dirty="0"/>
          </a:p>
        </p:txBody>
      </p:sp>
      <p:graphicFrame>
        <p:nvGraphicFramePr>
          <p:cNvPr id="25" name="table-49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3566160"/>
                <a:gridCol w="32918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同一批题：答对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G8 在学习时快照上（MAVRA）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G8 在当前数据上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定义库回放（1,470 道）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933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其中：多版本更正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168/168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69/168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其中：缓慢变化维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63/66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9/66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TPC-DS（981 道）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630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5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360</a:t>
                      </a:r>
                      <a:endParaRPr lang="en-US" sz="15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shape-492"/>
          <p:cNvSpPr/>
          <p:nvPr/>
        </p:nvSpPr>
        <p:spPr>
          <a:xfrm>
            <a:off x="548640" y="42062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0" name="text-493"/>
          <p:cNvSpPr txBox="1"/>
          <p:nvPr/>
        </p:nvSpPr>
        <p:spPr>
          <a:xfrm>
            <a:off x="768096" y="442569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反例：追加备份副本</a:t>
            </a:r>
            <a:endParaRPr lang="en-US" sz="1700" dirty="0"/>
          </a:p>
        </p:txBody>
      </p:sp>
      <p:sp>
        <p:nvSpPr>
          <p:cNvPr id="11" name="text-494"/>
          <p:cNvSpPr txBox="1"/>
          <p:nvPr/>
        </p:nvSpPr>
        <p:spPr>
          <a:xfrm>
            <a:off x="768096" y="5029200"/>
            <a:ext cx="5001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不要求候选唯一时可发布错误修复；要求唯一时让口径失效。</a:t>
            </a:r>
            <a:endParaRPr lang="en-US" sz="1500" dirty="0"/>
          </a:p>
        </p:txBody>
      </p:sp>
      <p:sp>
        <p:nvSpPr>
          <p:cNvPr id="12" name="shape-495"/>
          <p:cNvSpPr/>
          <p:nvPr/>
        </p:nvSpPr>
        <p:spPr>
          <a:xfrm>
            <a:off x="6172200" y="4206240"/>
            <a:ext cx="5440680" cy="1417320"/>
          </a:xfrm>
          <a:prstGeom prst="roundRect">
            <a:avLst>
              <a:gd name="adj" fmla="val 6452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3" name="text-496"/>
          <p:cNvSpPr txBox="1"/>
          <p:nvPr/>
        </p:nvSpPr>
        <p:spPr>
          <a:xfrm>
            <a:off x="6391656" y="4425696"/>
            <a:ext cx="50383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修复期间等待</a:t>
            </a:r>
            <a:endParaRPr lang="en-US" sz="1700" dirty="0"/>
          </a:p>
        </p:txBody>
      </p:sp>
      <p:sp>
        <p:nvSpPr>
          <p:cNvPr id="14" name="text-497"/>
          <p:cNvSpPr txBox="1"/>
          <p:nvPr/>
        </p:nvSpPr>
        <p:spPr>
          <a:xfrm>
            <a:off x="6391656" y="5029200"/>
            <a:ext cx="5001768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同时到达的不可用从 63 降为 0；后到的请求共享已有的维护结果。</a:t>
            </a:r>
            <a:endParaRPr lang="en-US" sz="1500" dirty="0"/>
          </a:p>
        </p:txBody>
      </p:sp>
      <p:sp>
        <p:nvSpPr>
          <p:cNvPr id="15" name="shape-498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6" name="text-499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参照只在它被判对的快照上可信；放回那个快照，就不需要标准答案。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00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基线与定位</a:t>
            </a:r>
            <a:endParaRPr lang="en-US" sz="1100" dirty="0"/>
          </a:p>
        </p:txBody>
      </p:sp>
      <p:sp>
        <p:nvSpPr>
          <p:cNvPr id="3" name="text-501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各类方法分别覆盖生命周期的哪些环节</a:t>
            </a:r>
            <a:endParaRPr lang="en-US" sz="2900" dirty="0"/>
          </a:p>
        </p:txBody>
      </p:sp>
      <p:sp>
        <p:nvSpPr>
          <p:cNvPr id="4" name="text-502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503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§2.4、表 3；概念对照</a:t>
            </a:r>
            <a:endParaRPr lang="en-US" sz="850" dirty="0"/>
          </a:p>
        </p:txBody>
      </p:sp>
      <p:sp>
        <p:nvSpPr>
          <p:cNvPr id="6" name="text-504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050" dirty="0"/>
          </a:p>
        </p:txBody>
      </p:sp>
      <p:graphicFrame>
        <p:nvGraphicFramePr>
          <p:cNvPr id="26" name="table-5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1490472"/>
                <a:gridCol w="2788920"/>
                <a:gridCol w="2249424"/>
                <a:gridCol w="2066544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正常更新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条件破坏后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使用时保证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维护单位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轨迹检索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 SQL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靠智能体自己发现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不绑定条件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检索到的成功轨迹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按模式变更失效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结构未变时漏检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 / 修订核对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结构指纹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表级测试（dbt 式）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让相关表上的口径失效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先测试后执行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按表声明的测试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写入即失效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失效并重学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失效并重学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执行前核对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每次写入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定义级 + 版本缓存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同样的修复与回归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先检查后执行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缓存的检查 SQL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MAVRA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保留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有界修复或让它失效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可绑定同一快照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2A78D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变化触及的不同条件</a:t>
                      </a:r>
                      <a:endParaRPr lang="en-US" sz="14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9" name="shape-506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0" name="text-507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共享、验证和缓存是基础设施；本文研究的是口径的有效性生命周期。</a:t>
            </a:r>
            <a:endParaRPr lang="en-US" sz="16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08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完整会话</a:t>
            </a:r>
            <a:endParaRPr lang="en-US" sz="1100" dirty="0"/>
          </a:p>
        </p:txBody>
      </p:sp>
      <p:sp>
        <p:nvSpPr>
          <p:cNvPr id="3" name="text-509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7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完整会话延迟：更新后首用更快，突发到达仍有模型长尾</a:t>
            </a:r>
            <a:endParaRPr lang="en-US" sz="2700" dirty="0"/>
          </a:p>
        </p:txBody>
      </p:sp>
      <p:sp>
        <p:nvSpPr>
          <p:cNvPr id="4" name="text-510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511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exp/2026-10-03-session-latency/stats.json、report.md</a:t>
            </a:r>
            <a:endParaRPr lang="en-US" sz="850" dirty="0"/>
          </a:p>
        </p:txBody>
      </p:sp>
      <p:sp>
        <p:nvSpPr>
          <p:cNvPr id="6" name="text-512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050" dirty="0"/>
          </a:p>
        </p:txBody>
      </p:sp>
      <p:sp>
        <p:nvSpPr>
          <p:cNvPr id="8" name="text-513"/>
          <p:cNvSpPr txBox="1"/>
          <p:nvPr/>
        </p:nvSpPr>
        <p:spPr>
          <a:xfrm>
            <a:off x="777240" y="1481328"/>
            <a:ext cx="6035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平均完整会话完成时间（秒）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1719072"/>
          <a:ext cx="6419088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-514"/>
          <p:cNvSpPr/>
          <p:nvPr/>
        </p:nvSpPr>
        <p:spPr>
          <a:xfrm>
            <a:off x="7315200" y="1719072"/>
            <a:ext cx="4288536" cy="1737360"/>
          </a:xfrm>
          <a:prstGeom prst="roundRect">
            <a:avLst>
              <a:gd name="adj" fmla="val 5263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1" name="text-515"/>
          <p:cNvSpPr txBox="1"/>
          <p:nvPr/>
        </p:nvSpPr>
        <p:spPr>
          <a:xfrm>
            <a:off x="7534656" y="1938528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数据库工作量减少</a:t>
            </a:r>
            <a:endParaRPr lang="en-US" sz="1700" dirty="0"/>
          </a:p>
        </p:txBody>
      </p:sp>
      <p:sp>
        <p:nvSpPr>
          <p:cNvPr id="12" name="text-516"/>
          <p:cNvSpPr txBox="1"/>
          <p:nvPr/>
        </p:nvSpPr>
        <p:spPr>
          <a:xfrm>
            <a:off x="7534656" y="2542032"/>
            <a:ext cx="384962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比检查结果缓存少 25.3% 的数据库查询时间。</a:t>
            </a:r>
            <a:endParaRPr lang="en-US" sz="1500" dirty="0"/>
          </a:p>
        </p:txBody>
      </p:sp>
      <p:sp>
        <p:nvSpPr>
          <p:cNvPr id="13" name="shape-517"/>
          <p:cNvSpPr/>
          <p:nvPr/>
        </p:nvSpPr>
        <p:spPr>
          <a:xfrm>
            <a:off x="7315200" y="3703320"/>
            <a:ext cx="4288536" cy="1828800"/>
          </a:xfrm>
          <a:prstGeom prst="roundRect">
            <a:avLst>
              <a:gd name="adj" fmla="val 5000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4" name="text-518"/>
          <p:cNvSpPr txBox="1"/>
          <p:nvPr/>
        </p:nvSpPr>
        <p:spPr>
          <a:xfrm>
            <a:off x="7534656" y="3922776"/>
            <a:ext cx="38862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700" b="1" dirty="0">
                <a:solidFill>
                  <a:srgbClr val="EB683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整体延迟优势不成立</a:t>
            </a:r>
            <a:endParaRPr lang="en-US" sz="1700" dirty="0"/>
          </a:p>
        </p:txBody>
      </p:sp>
      <p:sp>
        <p:nvSpPr>
          <p:cNvPr id="15" name="text-519"/>
          <p:cNvSpPr txBox="1"/>
          <p:nvPr/>
        </p:nvSpPr>
        <p:spPr>
          <a:xfrm>
            <a:off x="7534656" y="4526280"/>
            <a:ext cx="384962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2436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全矩阵平均 37.68 对 31.97 秒；一次 356.23 秒的长尾中模型接口占 338.45 秒。</a:t>
            </a:r>
            <a:endParaRPr lang="en-US" sz="1500" dirty="0"/>
          </a:p>
        </p:txBody>
      </p:sp>
      <p:sp>
        <p:nvSpPr>
          <p:cNvPr id="16" name="shape-520"/>
          <p:cNvSpPr/>
          <p:nvPr/>
        </p:nvSpPr>
        <p:spPr>
          <a:xfrm>
            <a:off x="548640" y="580644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7" name="text-521"/>
          <p:cNvSpPr txBox="1"/>
          <p:nvPr/>
        </p:nvSpPr>
        <p:spPr>
          <a:xfrm>
            <a:off x="749808" y="591616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测量包括模型、工具与排队；数据库工作量和完整会话时间要分开报告。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-522"/>
          <p:cNvSpPr txBox="1"/>
          <p:nvPr/>
        </p:nvSpPr>
        <p:spPr>
          <a:xfrm>
            <a:off x="548640" y="256032"/>
            <a:ext cx="10789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b="1" spc="150" kern="0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 · 工作负载刻画</a:t>
            </a:r>
            <a:endParaRPr lang="en-US" sz="1100" dirty="0"/>
          </a:p>
        </p:txBody>
      </p:sp>
      <p:sp>
        <p:nvSpPr>
          <p:cNvPr id="3" name="text-523"/>
          <p:cNvSpPr txBox="1"/>
          <p:nvPr/>
        </p:nvSpPr>
        <p:spPr>
          <a:xfrm>
            <a:off x="548640" y="54864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2900" b="1" dirty="0">
                <a:solidFill>
                  <a:srgbClr val="1B2A4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应用重复的是查询，智能体重复的是知识</a:t>
            </a:r>
            <a:endParaRPr lang="en-US" sz="2900" dirty="0"/>
          </a:p>
        </p:txBody>
      </p:sp>
      <p:sp>
        <p:nvSpPr>
          <p:cNvPr id="4" name="text-524"/>
          <p:cNvSpPr txBox="1"/>
          <p:nvPr/>
        </p:nvSpPr>
        <p:spPr>
          <a:xfrm>
            <a:off x="548640" y="649224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MAVRA · 2026-10-12 组会汇报</a:t>
            </a:r>
            <a:endParaRPr lang="en-US" sz="950" dirty="0"/>
          </a:p>
        </p:txBody>
      </p:sp>
      <p:sp>
        <p:nvSpPr>
          <p:cNvPr id="5" name="text-525"/>
          <p:cNvSpPr txBox="1"/>
          <p:nvPr/>
        </p:nvSpPr>
        <p:spPr>
          <a:xfrm>
            <a:off x="4572000" y="6492240"/>
            <a:ext cx="6492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 §2.1；exp/2026-10-01-workload-characterization/</a:t>
            </a:r>
            <a:endParaRPr lang="en-US" sz="850" dirty="0"/>
          </a:p>
        </p:txBody>
      </p:sp>
      <p:sp>
        <p:nvSpPr>
          <p:cNvPr id="6" name="text-526"/>
          <p:cNvSpPr txBox="1"/>
          <p:nvPr/>
        </p:nvSpPr>
        <p:spPr>
          <a:xfrm>
            <a:off x="11155680" y="647395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3657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1050" dirty="0"/>
          </a:p>
        </p:txBody>
      </p:sp>
      <p:graphicFrame>
        <p:nvGraphicFramePr>
          <p:cNvPr id="28" name="table-5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931920"/>
                <a:gridCol w="5303520"/>
              </a:tblGrid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观察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应用负载：Redset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智能体：100 个全新会话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复用对象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稳定的查询模板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表结构、粒度、连接等事实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重复程度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半数集群 80% 的查询完全重复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93% 的查找重复此前会话获得的事实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SQL 探查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34% 的读查询由结果缓存回答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38% 重复事实；逐字相同的 SQL 为 0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探索与验证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知识预先写在应用代码里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68% 的调用用于探索；16% 的会话查键唯一性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7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错误方式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—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4364D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 个错误答案全部来自成功执行的 SQL</a:t>
                      </a:r>
                      <a:endParaRPr lang="en-US" sz="15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7724" marR="77724" marT="41148" marB="41148" anchor="ctr">
                    <a:lnL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24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-528"/>
          <p:cNvSpPr/>
          <p:nvPr/>
        </p:nvSpPr>
        <p:spPr>
          <a:xfrm>
            <a:off x="548640" y="5760720"/>
            <a:ext cx="11064240" cy="521208"/>
          </a:xfrm>
          <a:prstGeom prst="roundRect">
            <a:avLst>
              <a:gd name="adj" fmla="val 17544"/>
            </a:avLst>
          </a:prstGeom>
          <a:solidFill>
            <a:srgbClr val="EEF2F7"/>
          </a:solidFill>
          <a:ln w="10160">
            <a:solidFill>
              <a:srgbClr val="EEF2F7"/>
            </a:solidFill>
            <a:prstDash val="solid"/>
          </a:ln>
        </p:spPr>
      </p:sp>
      <p:sp>
        <p:nvSpPr>
          <p:cNvPr id="10" name="text-529"/>
          <p:cNvSpPr txBox="1"/>
          <p:nvPr/>
        </p:nvSpPr>
        <p:spPr>
          <a:xfrm>
            <a:off x="749808" y="5870448"/>
            <a:ext cx="10661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2A78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共享能减少重复探索；支撑共享口径的事实仍需在更新后重验。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Research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MAVRA：让数据智能体共享的指标定义在数据变化后依然正确 · 2026-10-12</dc:title>
  <dc:subject>Keeping Shared Metric Definitions Valid for Data Agents</dc:subject>
  <dc:creator>MAVRA</dc:creator>
  <cp:lastModifiedBy>MAVRA</cp:lastModifiedBy>
  <cp:revision>1</cp:revision>
  <dcterms:created xsi:type="dcterms:W3CDTF">2026-10-06T12:47:56Z</dcterms:created>
  <dcterms:modified xsi:type="dcterms:W3CDTF">2026-10-06T12:47:56Z</dcterms:modified>
</cp:coreProperties>
</file>