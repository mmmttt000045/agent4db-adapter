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cf0377aa-7372-28be-78f3-9fc83703f0c1}">
          <p14:sldIdLst>
            <p14:sldId id="256"/>
            <p14:sldId id="257"/>
          </p14:sldIdLst>
        </p14:section>
        <p14:section name="结构与功能" id="{1d1490c8-87ed-4bbb-7fda-a6ab209c457c}">
          <p14:sldIdLst>
            <p14:sldId id="258"/>
            <p14:sldId id="259"/>
          </p14:sldIdLst>
        </p14:section>
        <p14:section name="工作流" id="{e3f55606-be7b-032b-ebeb-4081bf9a985a}">
          <p14:sldIdLst>
            <p14:sldId id="260"/>
            <p14:sldId id="261"/>
            <p14:sldId id="262"/>
            <p14:sldId id="263"/>
            <p14:sldId id="264"/>
          </p14:sldIdLst>
        </p14:section>
        <p14:section name="小结" id="{2c3396e8-5e8a-e153-9de2-1b0f9755745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这次只讲系统：它要解决什么问题、由哪几部分组成、各做什么、请求怎么走、口径坏了怎么办。全程用一个例子：门店退货金额。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先讲清楚问题。智能体 A 花了很多步学会“门店退货金额”怎么算，口径被存下来给别的智能体用。后来 ETL 改了写法，每笔退货多写一行“申请”状态，表结构没变，SQL 还能跑，但同一笔退货被算了两次，5 月的答案翻倍。用口径的智能体没有标准答案，发现不了。MAVRA 就是来管这件事的。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智能体不直接碰数据库：问口径、发 SQL 都经过 MAVRA。MAVRA 里面三块：请求处理负责接待；共享知识库存口径和检查结果；学习与维护负责学新口径、在数据变化后管好旧口径。数据库那边，ETL 一直在写新数据，这就是口径会过期的原因。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模块的分工。请求处理是前台；共享知识库是记忆，除了口径本身，还存每个条件的检查结果；学习与维护是后台：内置的分析优化器（一个大模型智能体）负责学新口径，维护负责在数据变化后检查、修复或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智能体只说“退货金额”。第一步按名字或别名找到口径；第二步看这个口径用到的表有没有被写过；写过就进入第三步，重新确认它依赖的条件——这里能复用就复用，下一页专门讲；最后把口径和参考 SQL 返回。数据没变就直接返回；口径已经停用就明确告诉智能体。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MAVRA 省工作量的地方。很多口径依赖同一个条件，比如退货金额和退货率都要求“每笔退货只有一行”。检查结果按“条件 + 数据版本”保存：退货率先查过，退货金额再来就直接用。表一被写入，版本号就变，旧结果对新数据不再算数，下次用到时重查一次，再存起来。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智能体拿到口径后写 SQL，并在请求里声明用的是哪个口径的哪一版。MAVRA 先核对：这一版有没有被替换或停用；再在这条查询要读的那份数据上确认条件成立，能复用的检查结果直接用。核对和执行用同一个数据库快照，所以中间即使有写入，也不会出现“核对时对、执行时错”。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把一个口径从生到死串起来。内置的大模型智能体答题学会口径，通过检查后发布第 1 版，各个智能体使用。数据被写入后，MAVRA 检查它依赖的条件：成立就继续用；不成立就先停用，再看能不能修。有唯一的修复，就发布第 2 版，回到使用；没有，就保持停用，等以后重新学习。下一页看具体怎么修。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具体看怎么修。新写进来的“申请”行让同一笔退货出现两行，“每笔退货只有一行”不成立，第 1 版先停用。修复时在取值很少的列上逐个试过滤：只算“完成”能做到每笔一行、一笔不少；只算“申请”会丢掉早期退货。只有一个能用，再用学习时的数据核对，新口径算出的 4 月答案和当初一样，就发布第 2 版。如果有两个过滤都能用，比如追加了整份备份，就没法判断，宁可停用。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三句话收尾：结构是智能体和数据库之间的三个模块；功能是学、存、查口径，数据变了检查，用之前核对；工作流是查口径、执行 SQL，以及口径坏了以后检查、修复或停用、重新学习。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MAVRA：让智能体共享的指标口径，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数据变了也不出错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 · 功能 · 工作流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问题：共享的口径会悄悄过期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2464994" cy="2377440"/>
          </a:xfrm>
          <a:prstGeom prst="roundRect">
            <a:avLst>
              <a:gd name="adj" fmla="val 3846"/>
            </a:avLst>
          </a:prstGeom>
          <a:solidFill>
            <a:srgbClr val="EFECF7"/>
          </a:solidFill>
          <a:ln w="12700">
            <a:solidFill>
              <a:srgbClr val="EFECF7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学会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 A 学会：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 =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退货表金额加起来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077642" y="2788920"/>
            <a:ext cx="283464" cy="0"/>
          </a:xfrm>
          <a:prstGeom prst="line">
            <a:avLst/>
          </a:prstGeom>
          <a:noFill/>
          <a:ln w="317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3425114" y="1600200"/>
            <a:ext cx="2464994" cy="2377440"/>
          </a:xfrm>
          <a:prstGeom prst="roundRect">
            <a:avLst>
              <a:gd name="adj" fmla="val 3846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共享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口径存起来，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 B、C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直接拿来用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54116" y="2788920"/>
            <a:ext cx="283464" cy="0"/>
          </a:xfrm>
          <a:prstGeom prst="line">
            <a:avLst/>
          </a:prstGeom>
          <a:noFill/>
          <a:ln w="317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301588" y="1600200"/>
            <a:ext cx="2464994" cy="2377440"/>
          </a:xfrm>
          <a:prstGeom prst="roundRect">
            <a:avLst>
              <a:gd name="adj" fmla="val 3846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数据变了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给每笔退货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多写一行“申请”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表结构没变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830589" y="2788920"/>
            <a:ext cx="283464" cy="0"/>
          </a:xfrm>
          <a:prstGeom prst="line">
            <a:avLst/>
          </a:prstGeom>
          <a:noFill/>
          <a:ln w="317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78061" y="1600200"/>
            <a:ext cx="2464994" cy="2377440"/>
          </a:xfrm>
          <a:prstGeom prst="roundRect">
            <a:avLst>
              <a:gd name="adj" fmla="val 3846"/>
            </a:avLst>
          </a:prstGeom>
          <a:solidFill>
            <a:srgbClr val="FBEAE7"/>
          </a:solidFill>
          <a:ln w="12700">
            <a:solidFill>
              <a:srgbClr val="FBEAE7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悄悄算错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算 5 月退货：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658.9 万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329.4 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480560"/>
            <a:ext cx="1109441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</a:ln>
        </p:spPr>
        <p:txBody>
          <a:bodyPr wrap="square" lIns="274320" tIns="274320" rIns="274320" bIns="27432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照样能跑、不报错，用口径的智能体发现不了。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要做的：记住每个口径依赖什么条件，数据变了就检查，用之前再核对。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系统结构：MAVRA 在智能体和数据库之间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108960" y="123444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F1F3F6"/>
          </a:solidFill>
          <a:ln w="12700">
            <a:solidFill>
              <a:srgbClr val="C9D1DB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用户端智能体（很多个）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120640" y="1965960"/>
            <a:ext cx="0" cy="640080"/>
          </a:xfrm>
          <a:prstGeom prst="line">
            <a:avLst/>
          </a:prstGeom>
          <a:noFill/>
          <a:ln w="28575">
            <a:solidFill>
              <a:srgbClr val="1F2A3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V="1">
            <a:off x="7040880" y="1965960"/>
            <a:ext cx="0" cy="640080"/>
          </a:xfrm>
          <a:prstGeom prst="line">
            <a:avLst/>
          </a:prstGeom>
          <a:noFill/>
          <a:ln w="28575">
            <a:solidFill>
              <a:srgbClr val="1F2A37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2926080" y="2103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问口径、发 SQL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80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口径、查询结果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10515600" cy="2240280"/>
          </a:xfrm>
          <a:prstGeom prst="roundRect">
            <a:avLst>
              <a:gd name="adj" fmla="val 4082"/>
            </a:avLst>
          </a:prstGeom>
          <a:solidFill>
            <a:srgbClr val="EEF3FA"/>
          </a:solidFill>
          <a:ln w="12700">
            <a:solidFill>
              <a:srgbClr val="EEF3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24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中间件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D5BA6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请求处理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接待智能体的请求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320040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F7A72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1F7A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共享知识库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存口径和检查结果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320040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6A58A3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学习与维护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学口径、管口径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4846320"/>
            <a:ext cx="0" cy="502920"/>
          </a:xfrm>
          <a:prstGeom prst="line">
            <a:avLst/>
          </a:prstGeom>
          <a:noFill/>
          <a:ln w="28575">
            <a:solidFill>
              <a:srgbClr val="1F2A37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263640" y="4919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读数据、跑检查、执行查询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09160" y="5349240"/>
            <a:ext cx="2743200" cy="960120"/>
          </a:xfrm>
          <a:prstGeom prst="can">
            <a:avLst>
              <a:gd name="adj" fmla="val 9524"/>
            </a:avLst>
          </a:prstGeom>
          <a:solidFill>
            <a:srgbClr val="FBF0E2"/>
          </a:solidFill>
          <a:ln w="19050">
            <a:solidFill>
              <a:srgbClr val="B5671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数据库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0" y="55321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C9D1DB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/ 写入方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 flipH="1">
            <a:off x="7498080" y="5852160"/>
            <a:ext cx="1645920" cy="0"/>
          </a:xfrm>
          <a:prstGeom prst="line">
            <a:avLst/>
          </a:prstGeom>
          <a:noFill/>
          <a:ln w="28575">
            <a:solidFill>
              <a:srgbClr val="B567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635240" y="59253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不断写入新数据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三个模块各管什么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3484778" cy="4892040"/>
          </a:xfrm>
          <a:prstGeom prst="roundRect">
            <a:avLst>
              <a:gd name="adj" fmla="val 2624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1D5BA6"/>
          </a:solidFill>
          <a:ln>
            <a:solidFill>
              <a:srgbClr val="1D5B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691640"/>
            <a:ext cx="2113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请求处理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28446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智能体问“某指标怎么算”：返回现在能用的口径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智能体发 SQL：先核对它用的口径还成立，再执行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口径过时或停用：拒绝，并告诉智能体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53458" y="1325880"/>
            <a:ext cx="3484778" cy="4892040"/>
          </a:xfrm>
          <a:prstGeom prst="roundRect">
            <a:avLst>
              <a:gd name="adj" fmla="val 2624"/>
            </a:avLst>
          </a:prstGeom>
          <a:solidFill>
            <a:srgbClr val="E3F2F0"/>
          </a:solidFill>
          <a:ln w="12700">
            <a:solidFill>
              <a:srgbClr val="E3F2F0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73498" y="1600200"/>
            <a:ext cx="685800" cy="685800"/>
          </a:xfrm>
          <a:prstGeom prst="ellipse">
            <a:avLst/>
          </a:prstGeom>
          <a:solidFill>
            <a:srgbClr val="1F7A72"/>
          </a:solidFill>
          <a:ln>
            <a:solidFill>
              <a:srgbClr val="1F7A7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542178" y="1691640"/>
            <a:ext cx="2113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7A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共享知识库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560320"/>
            <a:ext cx="28446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口径：怎么算，依赖哪些条件（如“每笔退货只有一行”）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检查结果：哪个条件、在哪份数据上、成不成立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所有智能体共用同一份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58277" y="1325880"/>
            <a:ext cx="3484778" cy="4892040"/>
          </a:xfrm>
          <a:prstGeom prst="roundRect">
            <a:avLst>
              <a:gd name="adj" fmla="val 2624"/>
            </a:avLst>
          </a:prstGeom>
          <a:solidFill>
            <a:srgbClr val="EFECF7"/>
          </a:solidFill>
          <a:ln w="12700">
            <a:solidFill>
              <a:srgbClr val="EFECF7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78317" y="1600200"/>
            <a:ext cx="685800" cy="685800"/>
          </a:xfrm>
          <a:prstGeom prst="ellipse">
            <a:avLst/>
          </a:prstGeom>
          <a:solidFill>
            <a:srgbClr val="6A58A3"/>
          </a:solidFill>
          <a:ln>
            <a:solidFill>
              <a:srgbClr val="6A58A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346997" y="1691640"/>
            <a:ext cx="2113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学习与维护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78317" y="2560320"/>
            <a:ext cx="28446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学：内置的大模型智能体答题，答对且通过检查才发布口径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管：数据变了就重新检查条件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坏了：能唯一修好就发新版，修不好就停用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工作流①：智能体来问“退货金额怎么算”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1F3F6"/>
          </a:solidFill>
          <a:ln w="12700">
            <a:solidFill>
              <a:srgbClr val="F1F3F6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智能体：“5 月门店退货金额是多少？”——它只知道指标名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248556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按名字找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“退货金额”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找到口径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“门店退货金额”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44536" y="2011680"/>
            <a:ext cx="502920" cy="502920"/>
          </a:xfrm>
          <a:prstGeom prst="ellipse">
            <a:avLst/>
          </a:prstGeom>
          <a:solidFill>
            <a:srgbClr val="1D5BA6"/>
          </a:solidFill>
          <a:ln>
            <a:solidFill>
              <a:srgbClr val="1D5B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089072" y="3383280"/>
            <a:ext cx="274320" cy="0"/>
          </a:xfrm>
          <a:prstGeom prst="line">
            <a:avLst/>
          </a:prstGeom>
          <a:noFill/>
          <a:ln w="31750">
            <a:solidFill>
              <a:srgbClr val="1D5BA6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18256" y="2331720"/>
            <a:ext cx="248556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看数据变没变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它用的表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store_returns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刚有新写入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4152" y="2011680"/>
            <a:ext cx="502920" cy="502920"/>
          </a:xfrm>
          <a:prstGeom prst="ellipse">
            <a:avLst/>
          </a:prstGeom>
          <a:solidFill>
            <a:srgbClr val="1D5BA6"/>
          </a:solidFill>
          <a:ln>
            <a:solidFill>
              <a:srgbClr val="1D5B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58688" y="3383280"/>
            <a:ext cx="274320" cy="0"/>
          </a:xfrm>
          <a:prstGeom prst="line">
            <a:avLst/>
          </a:prstGeom>
          <a:noFill/>
          <a:ln w="31750">
            <a:solidFill>
              <a:srgbClr val="1D5BA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287872" y="2331720"/>
            <a:ext cx="248556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需要就重新检查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查过的：直接用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没查过的：现在查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83768" y="2011680"/>
            <a:ext cx="502920" cy="502920"/>
          </a:xfrm>
          <a:prstGeom prst="ellipse">
            <a:avLst/>
          </a:prstGeom>
          <a:solidFill>
            <a:srgbClr val="1D5BA6"/>
          </a:solidFill>
          <a:ln>
            <a:solidFill>
              <a:srgbClr val="1D5B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828303" y="3383280"/>
            <a:ext cx="274320" cy="0"/>
          </a:xfrm>
          <a:prstGeom prst="line">
            <a:avLst/>
          </a:prstGeom>
          <a:noFill/>
          <a:ln w="31750">
            <a:solidFill>
              <a:srgbClr val="1D5BA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7487" y="2331720"/>
            <a:ext cx="248556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返回口径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怎么算 + 参考 SQL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智能体照着写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53383" y="2011680"/>
            <a:ext cx="502920" cy="502920"/>
          </a:xfrm>
          <a:prstGeom prst="ellipse">
            <a:avLst/>
          </a:prstGeom>
          <a:solidFill>
            <a:srgbClr val="1D5BA6"/>
          </a:solidFill>
          <a:ln>
            <a:solidFill>
              <a:srgbClr val="1D5B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484632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E6F3EA"/>
          </a:solidFill>
          <a:ln w="12700">
            <a:solidFill>
              <a:srgbClr val="E6F3EA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数据没变：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跳过第 3 步，直接返回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17920" y="4846320"/>
            <a:ext cx="5425135" cy="685800"/>
          </a:xfrm>
          <a:prstGeom prst="roundRect">
            <a:avLst>
              <a:gd name="adj" fmla="val 13333"/>
            </a:avLst>
          </a:prstGeom>
          <a:solidFill>
            <a:srgbClr val="FBEAE7"/>
          </a:solidFill>
          <a:ln w="12700">
            <a:solidFill>
              <a:srgbClr val="FBEAE7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口径已停用：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告诉智能体“这个口径现在不能用”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检查结果：查一次，大家都能用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门店退货金额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需要：每笔退货只有一行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门店退货率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需要：每笔退货只有一行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75488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1F7A72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7A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条件：每笔退货只有一行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数据版本：第 15 版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结论：成立 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0" y="2057400"/>
            <a:ext cx="548640" cy="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2057400"/>
            <a:ext cx="0" cy="59436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2651760"/>
            <a:ext cx="548640" cy="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657600" y="3977640"/>
            <a:ext cx="548640" cy="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06240" y="3383280"/>
            <a:ext cx="0" cy="59436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3383280"/>
            <a:ext cx="548640" cy="0"/>
          </a:xfrm>
          <a:prstGeom prst="line">
            <a:avLst/>
          </a:prstGeom>
          <a:noFill/>
          <a:ln w="25400">
            <a:solidFill>
              <a:srgbClr val="1D5BA6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先到的：现在查，存起来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后到的：直接拿结果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0" y="3017520"/>
            <a:ext cx="640080" cy="0"/>
          </a:xfrm>
          <a:prstGeom prst="line">
            <a:avLst/>
          </a:prstGeom>
          <a:noFill/>
          <a:ln w="28575">
            <a:solidFill>
              <a:srgbClr val="B5671A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686800" y="1920240"/>
            <a:ext cx="2953512" cy="2194560"/>
          </a:xfrm>
          <a:prstGeom prst="roundRect">
            <a:avLst>
              <a:gd name="adj" fmla="val 4167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又有新数据写入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版本变成第 16 版：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这条结果对新数据不算数，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下次用到时重查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5120640"/>
            <a:ext cx="11094415" cy="1097280"/>
          </a:xfrm>
          <a:prstGeom prst="roundRect">
            <a:avLst>
              <a:gd name="adj" fmla="val 8333"/>
            </a:avLst>
          </a:prstGeom>
          <a:solidFill>
            <a:srgbClr val="F1F3F6"/>
          </a:solidFill>
          <a:ln w="12700">
            <a:solidFill>
              <a:srgbClr val="F1F3F6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7A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规则：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检查结果按“条件 + 数据版本”存。同一个条件、同一份数据，不管哪个口径、哪个智能体用到，只查一次。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数据版本：一张表每被写入一次，版本号加 1。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工作流②：智能体执行 SQL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1F3F6"/>
          </a:solidFill>
          <a:ln w="12700">
            <a:solidFill>
              <a:srgbClr val="F1F3F6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智能体按拿到的口径写好 SQL，发给 MAVRA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3393338" cy="1920240"/>
          </a:xfrm>
          <a:prstGeom prst="roundRect">
            <a:avLst>
              <a:gd name="adj" fmla="val 4762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里写明：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用“退货金额”第 2 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998421" y="2011680"/>
            <a:ext cx="502920" cy="502920"/>
          </a:xfrm>
          <a:prstGeom prst="ellipse">
            <a:avLst/>
          </a:prstGeom>
          <a:solidFill>
            <a:srgbClr val="B5671A"/>
          </a:solidFill>
          <a:ln>
            <a:solidFill>
              <a:srgbClr val="B56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015130" y="3291840"/>
            <a:ext cx="310896" cy="0"/>
          </a:xfrm>
          <a:prstGeom prst="line">
            <a:avLst/>
          </a:prstGeom>
          <a:noFill/>
          <a:ln w="31750">
            <a:solidFill>
              <a:srgbClr val="B5671A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399178" y="2331720"/>
            <a:ext cx="3393338" cy="1920240"/>
          </a:xfrm>
          <a:prstGeom prst="roundRect">
            <a:avLst>
              <a:gd name="adj" fmla="val 4762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这一版还有效吗？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它的条件在“这一刻的数据”上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还成立吗？（能复用就复用）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48960" y="2011680"/>
            <a:ext cx="502920" cy="502920"/>
          </a:xfrm>
          <a:prstGeom prst="ellipse">
            <a:avLst/>
          </a:prstGeom>
          <a:solidFill>
            <a:srgbClr val="B5671A"/>
          </a:solidFill>
          <a:ln>
            <a:solidFill>
              <a:srgbClr val="B56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865669" y="3291840"/>
            <a:ext cx="310896" cy="0"/>
          </a:xfrm>
          <a:prstGeom prst="line">
            <a:avLst/>
          </a:prstGeom>
          <a:noFill/>
          <a:ln w="31750">
            <a:solidFill>
              <a:srgbClr val="B5671A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249717" y="2331720"/>
            <a:ext cx="3393338" cy="1920240"/>
          </a:xfrm>
          <a:prstGeom prst="roundRect">
            <a:avLst>
              <a:gd name="adj" fmla="val 4762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37160" tIns="685800" rIns="137160" bIns="9144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在同一份数据上跑 SQL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月退货金额：329.4 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99498" y="2011680"/>
            <a:ext cx="502920" cy="502920"/>
          </a:xfrm>
          <a:prstGeom prst="ellipse">
            <a:avLst/>
          </a:prstGeom>
          <a:solidFill>
            <a:srgbClr val="B5671A"/>
          </a:solidFill>
          <a:ln>
            <a:solidFill>
              <a:srgbClr val="B567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95848" y="4251960"/>
            <a:ext cx="0" cy="457200"/>
          </a:xfrm>
          <a:prstGeom prst="line">
            <a:avLst/>
          </a:prstGeom>
          <a:noFill/>
          <a:ln w="25400">
            <a:solidFill>
              <a:srgbClr val="B5392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804008" y="4709160"/>
            <a:ext cx="6583680" cy="594360"/>
          </a:xfrm>
          <a:prstGeom prst="roundRect">
            <a:avLst>
              <a:gd name="adj" fmla="val 15385"/>
            </a:avLst>
          </a:prstGeom>
          <a:solidFill>
            <a:srgbClr val="FBEAE7"/>
          </a:solidFill>
          <a:ln w="12700">
            <a:solidFill>
              <a:srgbClr val="FBEAE7"/>
            </a:solidFill>
          </a:ln>
        </p:spPr>
        <p:txBody>
          <a:bodyPr wrap="square" lIns="182880" tIns="182880" rIns="182880" bIns="18288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不成立或版本过时：</a:t>
            </a:r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拒绝执行，提示智能体重新查口径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235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“这一刻的数据”：</a:t>
            </a:r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核对和执行看同一个数据库快照。核对完、执行前有人写入，也不会让核对白做。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工作流③：一个口径的一生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FECF7"/>
          </a:solidFill>
          <a:ln w="12700">
            <a:solidFill>
              <a:srgbClr val="EFECF7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大模型答题，判对才收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0" y="1897380"/>
            <a:ext cx="228600" cy="0"/>
          </a:xfrm>
          <a:prstGeom prst="line">
            <a:avLst/>
          </a:prstGeom>
          <a:noFill/>
          <a:ln w="2540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3474720" y="1371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FECF7"/>
          </a:solidFill>
          <a:ln w="12700">
            <a:solidFill>
              <a:srgbClr val="EFECF7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发布口径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版（修好后第 2 版）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35040" y="1897380"/>
            <a:ext cx="228600" cy="0"/>
          </a:xfrm>
          <a:prstGeom prst="line">
            <a:avLst/>
          </a:prstGeom>
          <a:noFill/>
          <a:ln w="2540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309360" y="1371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8F0FA"/>
          </a:solidFill>
          <a:ln w="12700">
            <a:solidFill>
              <a:srgbClr val="E8F0FA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智能体使用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查口径、执行 SQL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869680" y="1897380"/>
            <a:ext cx="228600" cy="0"/>
          </a:xfrm>
          <a:prstGeom prst="line">
            <a:avLst/>
          </a:prstGeom>
          <a:noFill/>
          <a:ln w="2540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0" y="1371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F0E2"/>
          </a:solidFill>
          <a:ln w="12700">
            <a:solidFill>
              <a:srgbClr val="FBF0E2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数据被写入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例：多了“申请”行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01300" y="2423160"/>
            <a:ext cx="0" cy="411480"/>
          </a:xfrm>
          <a:prstGeom prst="line">
            <a:avLst/>
          </a:prstGeom>
          <a:noFill/>
          <a:ln w="2540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029700" y="2834640"/>
            <a:ext cx="2743200" cy="1097280"/>
          </a:xfrm>
          <a:prstGeom prst="diamond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F2A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条件还成立？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 flipH="1">
            <a:off x="7566660" y="3383280"/>
            <a:ext cx="1463040" cy="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566660" y="2423160"/>
            <a:ext cx="0" cy="9601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7703820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成立：继续用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401300" y="3931920"/>
            <a:ext cx="0" cy="457200"/>
          </a:xfrm>
          <a:prstGeom prst="line">
            <a:avLst/>
          </a:prstGeom>
          <a:noFill/>
          <a:ln w="25400">
            <a:solidFill>
              <a:srgbClr val="B5392A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462772" y="3950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不成立：先停用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29700" y="4389120"/>
            <a:ext cx="2743200" cy="1097280"/>
          </a:xfrm>
          <a:prstGeom prst="diamond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F2A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有唯一修复？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flipH="1">
            <a:off x="4732020" y="4937760"/>
            <a:ext cx="4297680" cy="0"/>
          </a:xfrm>
          <a:prstGeom prst="line">
            <a:avLst/>
          </a:prstGeom>
          <a:noFill/>
          <a:ln w="25400">
            <a:solidFill>
              <a:srgbClr val="6A58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4732020" y="2423160"/>
            <a:ext cx="0" cy="2514600"/>
          </a:xfrm>
          <a:prstGeom prst="line">
            <a:avLst/>
          </a:prstGeom>
          <a:noFill/>
          <a:ln w="25400">
            <a:solidFill>
              <a:srgbClr val="6A58A3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869180" y="45537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有：发布新版本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401300" y="5486400"/>
            <a:ext cx="0" cy="502920"/>
          </a:xfrm>
          <a:prstGeom prst="line">
            <a:avLst/>
          </a:prstGeom>
          <a:noFill/>
          <a:ln w="25400">
            <a:solidFill>
              <a:srgbClr val="B539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1897380" y="5989320"/>
            <a:ext cx="8503920" cy="0"/>
          </a:xfrm>
          <a:prstGeom prst="line">
            <a:avLst/>
          </a:prstGeom>
          <a:noFill/>
          <a:ln w="25400">
            <a:solidFill>
              <a:srgbClr val="B539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897380" y="2423160"/>
            <a:ext cx="0" cy="3566160"/>
          </a:xfrm>
          <a:prstGeom prst="line">
            <a:avLst/>
          </a:prstGeom>
          <a:noFill/>
          <a:ln w="25400">
            <a:solidFill>
              <a:srgbClr val="B5392A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034540" y="5577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没有：保持停用，等重新学习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修复的例子：退货表多了“申请”行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store_returns（示意）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4206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91440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小票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1001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1001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申请（新）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E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1002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4206240" cy="960120"/>
          </a:xfrm>
          <a:prstGeom prst="roundRect">
            <a:avLst>
              <a:gd name="adj" fmla="val 9524"/>
            </a:avLst>
          </a:prstGeom>
          <a:solidFill>
            <a:srgbClr val="FBEAE7"/>
          </a:solidFill>
          <a:ln w="12700">
            <a:solidFill>
              <a:srgbClr val="FBEAE7"/>
            </a:solidFill>
          </a:ln>
        </p:spPr>
        <p:txBody>
          <a:bodyPr wrap="square" lIns="182880" tIns="182880" rIns="182880" bIns="18288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检查：每笔退货只有一行？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不成立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第 1 版先停用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892040" y="2743200"/>
            <a:ext cx="594360" cy="0"/>
          </a:xfrm>
          <a:prstGeom prst="line">
            <a:avLst/>
          </a:prstGeom>
          <a:noFill/>
          <a:ln w="317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577840" y="1280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修复：在取值很少的列上试过滤</a:t>
            </a:r>
            <a:endParaRPr lang="en-US" sz="16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691640"/>
          <a:ext cx="6062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2450592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试的过滤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每笔一行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一笔不少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只算“完成”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只算“申请”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早期退货没有申请行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不行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577840" y="3246120"/>
            <a:ext cx="6062472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</a:ln>
        </p:spPr>
        <p:txBody>
          <a:bodyPr wrap="square" lIns="182880" tIns="182880" rIns="182880" bIns="18288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只有一个能用 → 再核对：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用学习时的数据（4 月）重算，新旧口径都是 313.3 万 ✓</a:t>
            </a:r>
            <a:endParaRPr lang="en-US" sz="1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发布第 2 版：只算“完成”的行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48640" y="50292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 w="12700">
            <a:solidFill>
              <a:srgbClr val="F1F3F6"/>
            </a:solidFill>
          </a:ln>
        </p:spPr>
        <p:txBody>
          <a:bodyPr wrap="square" lIns="228600" tIns="228600" rIns="228600" bIns="2286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修不了就不修：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如果追加了整份备份，“只算主表”和“只算备份”都能做到每笔一行，没法判断哪个对——宁可停用，不乱猜。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463040" cy="640080"/>
          </a:xfrm>
          <a:prstGeom prst="roundRect">
            <a:avLst>
              <a:gd name="adj" fmla="val 14286"/>
            </a:avLst>
          </a:prstGeom>
          <a:solidFill>
            <a:srgbClr val="1D5BA6"/>
          </a:solidFill>
          <a:ln w="12700">
            <a:solidFill>
              <a:srgbClr val="1D5BA6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16459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 ↔ MAVRA（请求处理、共享知识库、学习与维护）↔ 数据库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463040" cy="640080"/>
          </a:xfrm>
          <a:prstGeom prst="roundRect">
            <a:avLst>
              <a:gd name="adj" fmla="val 14286"/>
            </a:avLst>
          </a:prstGeom>
          <a:solidFill>
            <a:srgbClr val="1D5BA6"/>
          </a:solidFill>
          <a:ln w="12700">
            <a:solidFill>
              <a:srgbClr val="1D5BA6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30175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学口径、存口径、查口径；数据变了就检查；用之前再核对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1463040" cy="640080"/>
          </a:xfrm>
          <a:prstGeom prst="roundRect">
            <a:avLst>
              <a:gd name="adj" fmla="val 14286"/>
            </a:avLst>
          </a:prstGeom>
          <a:solidFill>
            <a:srgbClr val="1D5BA6"/>
          </a:solidFill>
          <a:ln w="12700">
            <a:solidFill>
              <a:srgbClr val="1D5BA6"/>
            </a:solidFill>
          </a:ln>
        </p:spPr>
        <p:txBody>
          <a:bodyPr wrap="square" lIns="109728" tIns="109728" rIns="109728" bIns="109728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43891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查口径 → 执行 SQL；数据变了 → 检查 → 修复或停用 → 重新学习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MAVRA：系统结构、功能与工作流</dc:title>
  <dc:subject>PptxGenJS Presentation</dc:subject>
  <dc:creator>PptxGenJS</dc:creator>
  <cp:lastModifiedBy>PptxGenJS</cp:lastModifiedBy>
  <cp:revision>1</cp:revision>
  <dcterms:created xsi:type="dcterms:W3CDTF">2026-10-07T08:54:36Z</dcterms:created>
  <dcterms:modified xsi:type="dcterms:W3CDTF">2026-10-07T08:54:36Z</dcterms:modified>
</cp:coreProperties>
</file>