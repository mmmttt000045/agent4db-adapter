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5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embeddedFontLst>
    <p:embeddedFont>
      <p:font typeface="微软雅黑" panose="020B0503020204020204" pitchFamily="34" charset="-122"/>
      <p:regular r:id="rId25"/>
      <p:bold r:id="rId26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65A9FE-0638-E1AD-55F9-8C6FFAC0F837}" name="梦阳 马" initials="梦马" userId="9fbde04e6393f71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6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8/10/relationships/authors" Target="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建议用时：30 秒</a:t>
            </a:r>
          </a:p>
          <a:p>
            <a:endParaRPr/>
          </a:p>
          <a:p>
            <a:r>
              <a:t>今天介绍 MAVRA。它处理一个具体问题：一个 Agent 已经学会了某个指标的计算口径，其他 Agent 怎样复用，以及数据更新以后如何继续信任这条知识。接下来先完整讲一次退货金额查询，再解释系统架构、数据模型和生命周期。</a:t>
            </a:r>
          </a:p>
          <a:p>
            <a:endParaRPr/>
          </a:p>
          <a:p>
            <a:r>
              <a:t>资料来源：用户提供的 main-en.pdf，MAVRA: Maintainable Shared Memory for Data Agents。摘要与第 1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 分钟</a:t>
            </a:r>
          </a:p>
          <a:p>
            <a:endParaRPr/>
          </a:p>
          <a:p>
            <a:r>
              <a:t>这是学习阶段的一次请求。用户把业务口径一起说清楚：只统计已经完成的退货，月份按退货日期计算。屏幕右侧只有三笔业务事件，金额分别是 100、200 和 300 元，所以答案是 600 元。R01/A 表示一张小票中的一个商品，真正标识业务事件的是小票和商品的组合。后面所有页面都围绕这三笔退货展开。这里的金额和编号是解释机制的小例子，不是论文实验测量值。</a:t>
            </a:r>
          </a:p>
          <a:p>
            <a:endParaRPr/>
          </a:p>
          <a:p>
            <a:r>
              <a:t>资料来源：用户提供的 main-en.pdf，MAVRA: Maintainable Shared Memory for Data Agents。第 1、3、4.1 节。该数值例子依据论文的退货状态变更场景构造。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先沿四个方框讲一遍退货示意例子。用户已经给出明确口径，Agent 找到相关表和列，把已完成状态与退货日期落实到 SQL，得到 600 元。此时应记住的是计算定义及其依据。下一页展示同样过程在门店营业额归档运行中留下的七次工具调用。</a:t>
            </a:r>
          </a:p>
          <a:p>
            <a:endParaRPr/>
          </a:p>
          <a:p>
            <a:r>
              <a:t>来源：用户提供的 main-en.pdf，MAVRA: Maintainable Shared Memory for Data Agents。第 1、5.1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这里切换为门店营业额真实运行。业务口径是门店销售行净支付额之和，按销售日期归属月份。七次调用中，describe_table 分别查看事实表和日期维表，因此有七次调用而不是合并展示时看到的六项。运行共五轮，部分调用可以同轮发出。先确认没有现成指标，再查看表结构和关联，执行右侧 SQL 得到 13,570,368.70 元，最后提交答案并判对。0.3 秒是工具侧累计时间，不是 Agent 的端到端时间。右侧保留原查询结构，年份按图稿说明省略。</a:t>
            </a:r>
          </a:p>
          <a:p>
            <a:endParaRPr/>
          </a:p>
          <a:p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第二位 Agent 不再从头探索业务口径。它找到已验证的定义，把月份替换成十月，交给数据库在当前数据上执行。六百元属于上一份示意数据，不会作为十月答案缓存使用。后续系统图说明使用时怎样比较表版本，以及在需要时重新校验前提。</a:t>
            </a:r>
          </a:p>
          <a:p>
            <a:endParaRPr/>
          </a:p>
          <a:p>
            <a:r>
              <a:t>来源：用户提供的 main-en.pdf，MAVRA: Maintainable Shared Memory for Data Agents。第 3、6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业务系统后来把退货流程中的申请态也写入同一张表。R01 和 R02 因而各有两行，R03 只有完成态。正确的业务结果仍然是三笔已经完成的退货，共 600 元。旧 SQL 不知道新增行只是状态流水，于是把 100 和 200 元各多算一次，得到 900 元。这里并没有新增字段，也没有语法错误，靠 SQL 是否执行成功无法发现问题。更严重的是，所有复用旧定义的 Agent 都会拿到同一种错误计算方法。论文的真实场景中也出现了退货金额被重复计算的情况，本页只用小数字展示成因。</a:t>
            </a:r>
          </a:p>
          <a:p>
            <a:endParaRPr/>
          </a:p>
          <a:p>
            <a:r>
              <a:t>资料来源：用户提供的 main-en.pdf，MAVRA: Maintainable Shared Memory for Data Agents。第 1、2.2、7.6 节。示意数值，非论文原始结果。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按左、中、右三部分讲主线。左侧是学习题：三月门店营业额，题面明确净支付额与销售日期口径。Agent 共五轮七次工具调用，得到 13,570,368.70 并判对。中间把 SQL 提取成度量、事实表、日期角色、业务键和期间参数，提取器看不到数据行。提取耗时十二点七秒，随后七项发布检查全部通过，五条查询耗时五点六秒。右侧是共享记忆中的 v1：规范 SQL、前提和证据一起保存，版本发布后不原地改写。图里的 r1 只是查询结果编号，与指标版本 v1 不同。此页只讲流程，调用细节已在第四页，七项检查将在第九页展开。</a:t>
            </a:r>
          </a:p>
          <a:p>
            <a:endParaRPr/>
          </a:p>
          <a:p>
            <a:r>
              <a:t>资料来源：用户提供的 run-publish-zh.png；steps.py 中的 2026-10-08 归档运行及 2026-10-10 对照说明。原始 PNG 嵌入 PPT，图内对象为图片内容。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这页展开发布总览右侧保存的内容，并统一到门店营业额真实运行。度量是净支付额，业务键由日期键、小票号和商品键组成。年月成为查询参数，所以三月学到的定义可以用于九月。v1 是学习后发布的原定义，v2 是等价优化版，v3 是数据更正后的修复版，三者各自保持版本不可变。这里讲的是共享层保存的完整记录，用户 Agent 并不直接读取完整的前提对象、校验结果和学习证据。下一页展开发布前七项检查。</a:t>
            </a:r>
          </a:p>
          <a:p>
            <a:endParaRPr/>
          </a:p>
          <a:p>
            <a:r>
              <a:t>资料来源：run-publish-zh.png、run-use-zh.png 和 steps.py。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这页按校验清单讲，七项必须全部通过才发布。前三项确保业务依据、正确答案和结构合法；第四项执行主键唯一性 SQL，非空业务键参与的校验域中行数与不同键数都是 989,695；第五项审查 SQL；最后分别重放学习示例 SQL 和由结构化定义编译的规范 SQL，两者都要复现 13,570,368.70 元。总共五条查询，耗时五点六秒。任一项失败，候选都不会进入共享记忆。七项检查不是七条查询。</a:t>
            </a:r>
          </a:p>
          <a:p>
            <a:endParaRPr/>
          </a:p>
          <a:p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合成零售数据。来源：用户提供的 main-en.pdf，MAVRA: Maintainable Shared Memory for Data Agents。第 5.1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这是归档运行中从 v1 到 v2 的优化。原查询连接日期维表按年月过滤，候选把期间筛选改为日期键范围，减少连接。它同时检查新前提、学习时回归、十四个期间的结果等价性以及执行性能。十四个期间包含十二个月、一季度和一次差值，全部相同。十四对查询在同一快照交替执行，平均耗时从三十九点七毫秒降至三十三点三毫秒，减少百分之十六点一。该例新增日期键连续前提，三十六个月检查都通过；这一前提失效后只撤销范围优化。这里的 v2 是优化版本，后面修复更正写入后发布 v3。</a:t>
            </a:r>
          </a:p>
          <a:p>
            <a:endParaRPr/>
          </a:p>
          <a:p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合成零售数据。draw_optimize。</a:t>
            </a:r>
          </a:p>
          <a:p>
            <a:endParaRPr/>
          </a:p>
          <a:p>
            <a:r>
              <a:t>衔接：下一页展示用户 Agent 实际读取并使用优化后的 v2。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这一页承接上一页的等价优化，Agent B 读取的是 v2。B 只问九月门店营业额，没有得到计算口径。find_metric 按指标名匹配并比较表版本，依赖未变化，四毫秒就返回当前有效定义。B 看到口径、结构、注意事项和示例 SQL，完整前提及校验结果由 MAVRA 保管。B 仿照示例写查询，并声明使用 v2。run_sql 检查只读性、版本有效性和必需过滤后执行，本条 SQL 二十四毫秒。最终答案是 13,069,651.80 元，约 1307.0 万，全程四轮六次工具调用，七点四秒。图左下的 1413.8 万是没有共享记忆时选错列的对照，不是下一页不维护的共享 SQL 的结果。该归档未开启跨校验与执行的同快照模式，图中的 SQL 在快照上执行不等于已经启用了这一并发保证；第十七页单独解释并发实验。</a:t>
            </a:r>
          </a:p>
          <a:p>
            <a:endParaRPr/>
          </a:p>
          <a:p>
            <a:r>
              <a:t>资料来源：用户提供的 run-use-zh.png；steps.py 中的 2026-10-08 归档运行及 2026-10-10 对照说明。原始 PNG 嵌入 PPT，图内对象为图片内容。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按上、中、下三行讲。上行先发生更正写入，旧行保留，当前金额改为九折，表版本发生变化。写入时 MAVRA 什么都不做。直到 B 再问九月营业额、调用 find_metric，系统比较到表版本不同，才启动维护。中行只重查受影响前提：日期维表没变就跳过，参照完整性仍通过，主键唯一检查发现 1,055,610 行只有 989,695 个键。v2 失效后，只有 ss_is_current 等于一能做到每键一行且不丢键；在学习时数据上回归，三月结果仍为 13,570,368.70。下行发布 v3，九月答案为 1293.3 万。不维护的共享 SQL 会给出 1430.1 万，旧金额也被算进去。三十一点六秒是本定义的维护与修复时间，只做一次。左下重复加载是另一种无法修复的场景，作为拒绝分支简要说明。随后几页逐项展开检查 SQL、修复候选和最终答案。</a:t>
            </a:r>
          </a:p>
          <a:p>
            <a:endParaRPr/>
          </a:p>
          <a:p>
            <a:r>
              <a:t>资料来源：用户提供的 run-maintain-zh.png；steps.py 中的 2026-10-08 归档运行及 2026-10-10 对照说明。原始 PNG 嵌入 PPT，图内对象为图片内容。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数据更正保留旧行，并为被更正的销售插入当前行。MAVRA 不在写入时做事，直到下一次 find_metric 比较表版本，才检查依赖事实表的前提。左侧是依据实现展开的主键唯一校验 SQL，明确排除了业务键含空值的记录，因此这里不是整张事实表的总行数。返回 1,055,610 行和 989,695 个不同键，差额为 65,915，校验失败，耗时六秒。日期维表没变化，维表主键唯一和日期键连续不必重查。参照完整性仍通过，耗时零点二秒。检查失败使 v2 失效并进入修复。</a:t>
            </a:r>
          </a:p>
          <a:p>
            <a:endParaRPr/>
          </a:p>
          <a:p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合成零售数据。draw_check；校验 SQL 的非空键过滤依据工作区 src/checks.rs Check::Unique 查询生成逻辑。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暂时回到退货示意，帮助理解上一页主键唯一失败以后，为什么必须同时满足每键一行与不丢键。只保留申请中会丢掉 R03，不能作为修复；只保留已完成同时满足两个条件，再通过学习时回归才能发布。下一页回到门店营业额的真实候选：只有 ss_is_current 等于一通过。</a:t>
            </a:r>
          </a:p>
          <a:p>
            <a:endParaRPr/>
          </a:p>
          <a:p>
            <a:r>
              <a:t>资料来源：main-en.pdf 第 5.3 节，退货为讲解示意。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系统试取值较少的列，而不是让模型猜一个 WHERE。ss_is_current 等于一时，恰好每键一行且所有键仍在；等于零只保留被更正的销售，丢键；数量列的每个取值也只覆盖部分销售。只有一个候选通过，才生成新定义，再做静态检查、主键唯一和 SQL 审查。最后回到学习时快照重算三月，结果与原来判对的 13,570,368.70 完全相同，发布 v3。本条定义的维护与修复共三十一点六秒；归档分项为校验十一点九秒、修复十九点六秒，分项有四舍五入。不能把该时间与一次 find_metric 处理两条定义的五十四点五秒混用。</a:t>
            </a:r>
          </a:p>
          <a:p>
            <a:endParaRPr/>
          </a:p>
          <a:p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合成零售数据。draw_repair。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最后回到用户的九月问题。修复后的 v3 带上当前行过滤，查询得到 12,932,888.04 元，约一千二百九十三点三万元，判题正确。不维护的共享 SQL 把旧金额也加了进去，给出一千四百三十点一万元。两组结果来自相同更正场景的归档与对照运行。首次处理更正时，这位 Agent 共九次工具调用、端到端八十一秒，包含维护、探索和模型等待等；后续同阶段的 find_metric 已经复用发布的 v3，只用三毫秒。不要把八十一秒、三十一点六秒和三毫秒当成同一计时口径。</a:t>
            </a:r>
          </a:p>
          <a:p>
            <a:endParaRPr/>
          </a:p>
          <a:p>
            <a:r>
              <a:t>来源：用户提供的 steps.py，draw_learn / draw_admit / draw_check / draw_repair / draw_after / draw_optimize。该文件记录 noctis 的 results/scen-20261008-trace/metric-1791449167012862 归档运行，学习题 M1-L1、探查题 M1-P1，以及 results/scen-20261010 对照。数据为 TPC-DS 合成零售数据。draw_after，10-10 对照结果。</a:t>
            </a:r>
          </a:p>
          <a:p>
            <a:endParaRPr/>
          </a:p>
          <a:p>
            <a:r>
              <a:t>对照区分：本页 1430.1 万来自数据更正后“不维护的共享 SQL”。第十一页的 1413.8 万则来自更正前“没有共享记忆”的 Agent，两者不是同一组实验。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上半部分是时间差问题：检查时数据满足前提，但并发写入在执行前提交，执行读到了另一份数据。论文随机并发实验中，未通知写入场景最多有百分之四点六的已作答查询违反声明前提。下半部分把版本读取、前提校验和执行放进同一快照，并使用与写事务同步提交的表版本。四组设置合计一万一千二百九十七次已作答查询，观测到零次违反前提。该指标衡量前提违反，不等同于业务问答错误率。</a:t>
            </a:r>
          </a:p>
          <a:p>
            <a:endParaRPr/>
          </a:p>
          <a:p>
            <a:r>
              <a:t>来源：用户提供的 main-en.pdf，MAVRA: Maintainable Shared Memory for Data Agents。第 7.3 节、表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 分钟</a:t>
            </a:r>
          </a:p>
          <a:p>
            <a:endParaRPr/>
          </a:p>
          <a:p>
            <a:r>
              <a:t>前面解释了为什么共享值得做，这页看论文测量。对于没有参与学习的新问题，没有共享时准确率是 49%，使用 MAVRA 定义后达到 100%。从首次工具调用到最终答案，平均任务时间由 75.6 秒降到 8.5 秒，约快 8.9 倍。这个收益主要来自复用业务知识，不能全部归因于维护机制。公平的对照是检索历史成功示例，它在数据不变时同样能达到 100%。因此真正区分 MAVRA 的场景在下一页：数据变化之后，记忆怎样继续保持可用。这里所有数字是论文的全量任务实验，不是前面三笔退货的小数据。</a:t>
            </a:r>
          </a:p>
          <a:p>
            <a:endParaRPr/>
          </a:p>
          <a:p>
            <a:r>
              <a:t>资料来源：用户提供的 main-en.pdf，MAVRA: Maintainable Shared Memory for Data Agents。第 7.6、7.7 节。建库成本另计，约 181k tokens、283 秒/库。</a:t>
            </a:r>
          </a:p>
          <a:p>
            <a:endParaRPr/>
          </a:p>
          <a:p>
            <a:r>
              <a:t>第十一页的 7.4 秒是单个真实任务的运行时间。本页 8.5 秒与 75.6 秒是全量任务平均值，不能混作同一计时口径。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数据发生会破坏已有前提的写入后，MAVRA 的最终回答准确率为 73%，检索历史示例为 57%，提升 16 个百分点。即使要求检索 Agent 自行检查粒度、连接和日期键，也只有 63%。原因对应前面的例子：历史示例可以告诉 Agent 曾经怎么求和，却不会自动判断这条 SQL 是否已经过时，而受维护的定义可以附带检查结果和共享的修复。必须区分系统保证和端到端准确率，73% 并不是所有请求都能自动修好。某些场景只能让定义失效，后续仍由 Agent 自行探索。实验共覆盖五类破坏性写入，论文报告 MAVRA 的三次运行区间为 69%–76%。</a:t>
            </a:r>
          </a:p>
          <a:p>
            <a:endParaRPr/>
          </a:p>
          <a:p>
            <a:r>
              <a:t>资料来源：用户提供的 main-en.pdf，MAVRA: Maintainable Shared Memory for Data Agents。第 7.6 节，图 4；19% 与用户原 PPT 第 7 页一致。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建议用时：1–2 分钟</a:t>
            </a:r>
          </a:p>
          <a:p>
            <a:endParaRPr/>
          </a:p>
          <a:p>
            <a:r>
              <a:t>用表格对比两类边界。金额单位从元改成分，行数和键没有改变，结构条件不会自动理解金额单位，必须依赖新的业务证据。完整副本则会破坏主键唯一，但过滤主数据或备份都能得到每键一行，系统无法仅凭结构分辨哪份可信，因此拒绝自动选一个，保持失效。这也说明前面的零次前提违反不能理解为零次业务语义错误。</a:t>
            </a:r>
          </a:p>
          <a:p>
            <a:endParaRPr/>
          </a:p>
          <a:p>
            <a:r>
              <a:t>来源：用户提供的 main-en.pdf，MAVRA: Maintainable Shared Memory for Data Agents。第 4.3、5.3、7.4、9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建议用时：30 秒</a:t>
            </a:r>
          </a:p>
          <a:p>
            <a:endParaRPr/>
          </a:p>
          <a:p>
            <a:r>
              <a:t>回到最开始的退货问题。第一次 Agent 学会怎样计算，下一位 Agent 直接复用定义。数据新增申请态以后，旧 SQL 仍能执行，MAVRA 通过前提检查发现重复，只在找到唯一并通过回归的修复时发布新版本。这就是系统架构、数据模型和生命周期共同解决的一件事：让一次学到的指标知识能够持续被其他 Agent 信任和使用。</a:t>
            </a:r>
          </a:p>
          <a:p>
            <a:endParaRPr/>
          </a:p>
          <a:p>
            <a:r>
              <a:t>资料来源：用户提供的 main-en.pdf，MAVRA: Maintainable Shared Memory for Data Agents。第 10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724929-BCC5-4CC2-98DA-E5CE8B9E1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276025-84A2-4E30-A556-4DE7BB565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86AF6C-8CDC-4F70-9681-6E7C90E3C8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1">
              <a:t>2026/10/10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F202A6-EE69-4FB1-9544-B40999FD95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D5FD5A-B47E-4252-B784-154314CBD7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98C98C0B-8FEB-4CAA-ADEE-33842A2AE742}"/>
              </a:ext>
            </a:extLst>
          </p:cNvPr>
          <p:cNvSpPr>
            <a:spLocks noGrp="1"/>
          </p:cNvSpPr>
          <p:nvPr/>
        </p:nvSpPr>
        <p:spPr>
          <a:xfrm>
            <a:off x="3723162" y="1212615"/>
            <a:ext cx="8468838" cy="5645385"/>
          </a:xfrm>
          <a:prstGeom prst="roundRect">
            <a:avLst>
              <a:gd name="adj" fmla="val 0"/>
            </a:avLst>
          </a:prstGeom>
          <a:blipFill rotWithShape="1">
            <a:blip r:embed="rId2">
              <a:alphaModFix amt="78000"/>
              <a:lum bright="70000" contrast="-70000"/>
            </a:blip>
            <a:srcRect/>
            <a:stretch>
              <a:fillRect l="-2104" t="-17263" r="-2232" b="-9915"/>
            </a:stretch>
          </a:blipFill>
          <a:ln w="1270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3355D6-2F6C-48B6-ABBD-828CBE85E2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1">
              <a:t>2026/10/10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224570-F67B-4896-9742-078884E041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2C199E-2D6B-4F24-A270-A6DA2519D7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1197BAD-8471-42E3-B55F-94B02D3A3FA2}"/>
              </a:ext>
            </a:extLst>
          </p:cNvPr>
          <p:cNvSpPr>
            <a:spLocks noGrp="1"/>
          </p:cNvSpPr>
          <p:nvPr/>
        </p:nvSpPr>
        <p:spPr>
          <a:xfrm>
            <a:off x="0" y="2692400"/>
            <a:ext cx="12192000" cy="2159000"/>
          </a:xfrm>
          <a:prstGeom prst="rect">
            <a:avLst/>
          </a:prstGeom>
          <a:gradFill flip="none" rotWithShape="1">
            <a:gsLst>
              <a:gs pos="0">
                <a:srgbClr val="B53132"/>
              </a:gs>
              <a:gs pos="100000">
                <a:srgbClr val="DC5A5D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716620-4920-4A5E-B2BE-BD785AACB4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4E63B7F-BEDC-44E3-891F-8E1DE6767941}" type="datetime1">
              <a:t>2026/10/10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8B925C-B809-48EA-926E-B32C40C200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77201C-D887-44D0-9699-92DF7E5B35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4F3269D-51BB-4135-9D7F-7CA81D23812E}" type="slidenum">
              <a:t>‹#›</a:t>
            </a:fld>
            <a:endParaRPr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1B73877-D1B1-4D97-B1B9-157EE9F44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029" y="298670"/>
            <a:ext cx="2409371" cy="59998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46E5408-DD16-4339-881A-3FEAFF0229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12" t="4985" r="7595" b="7042"/>
          <a:stretch>
            <a:fillRect/>
          </a:stretch>
        </p:blipFill>
        <p:spPr>
          <a:xfrm>
            <a:off x="552450" y="819150"/>
            <a:ext cx="5086350" cy="5295900"/>
          </a:xfrm>
          <a:prstGeom prst="rect">
            <a:avLst/>
          </a:prstGeom>
        </p:spPr>
      </p:pic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2392986B-7AAA-4364-80D2-5E2F7870E4D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790700" y="1428750"/>
            <a:ext cx="3133725" cy="41529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28DD1A-9D90-4DFE-95E5-F08BE9859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DE2BE2D-9BCF-473C-8E55-1E20C47544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1">
              <a:t>2026/10/10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F20095-DE12-4616-83A6-E49EB3890C3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46A099-0922-44B2-9979-9C3FAAA30B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F8948A-56E2-48C0-897F-8589CEE8A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92ECAB-C5E7-4916-8A49-8AD742749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BA331B-FD06-48D3-8557-9DF6ED3805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1">
              <a:t>2026/10/10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4E925B-61E5-4406-AD38-8720E87F7E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055AAF-FF7E-4C82-9F24-B0C84100F0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A588321E-4836-4E53-97AE-663132234D41}"/>
              </a:ext>
            </a:extLst>
          </p:cNvPr>
          <p:cNvSpPr>
            <a:spLocks noGrp="1"/>
          </p:cNvSpPr>
          <p:nvPr/>
        </p:nvSpPr>
        <p:spPr>
          <a:xfrm>
            <a:off x="3723162" y="1212615"/>
            <a:ext cx="8468838" cy="5645385"/>
          </a:xfrm>
          <a:prstGeom prst="roundRect">
            <a:avLst>
              <a:gd name="adj" fmla="val 0"/>
            </a:avLst>
          </a:prstGeom>
          <a:blipFill rotWithShape="1">
            <a:blip r:embed="rId2">
              <a:alphaModFix amt="78000"/>
              <a:lum bright="70000" contrast="-70000"/>
            </a:blip>
            <a:srcRect/>
            <a:stretch>
              <a:fillRect l="-2104" t="-17263" r="-2232" b="-9915"/>
            </a:stretch>
          </a:blipFill>
          <a:ln w="1270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5B29C6-C5FF-48F7-A809-97AD3C4823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97B5FA-0921-464F-AAE1-844C04324D75}" type="datetime1">
              <a:t>2026/10/10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396EF8-F962-478F-A039-B739EEC127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92CF06-67DE-4985-9C51-CF7EB36D3A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65CE74E-AB26-4998-AD42-012C4C1AD076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122A22-8B2A-48CE-8EC0-7F5B7400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D587D2-5CA0-4546-BB01-11DCA67AA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2670AD-7A14-46CF-8FEA-A0E0402536D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1">
              <a:t>2026/10/10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174E54-CE15-445E-B7FF-4F07E72DD95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0139F-4348-4C89-9A6C-29A98F352AF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A415578-ED20-4249-9EFA-D576CF109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445888-2C5F-49DB-A915-356147545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5C5E9-6DD9-46CE-A56F-DCB6E7E910E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1">
              <a:t>2026/10/10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6A1402-B9BB-4D97-8269-CFBA311B6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FDC072-78C5-4F21-9B7A-957E79E78BD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9">
            <a:extLst>
              <a:ext uri="{FF2B5EF4-FFF2-40B4-BE49-F238E27FC236}">
                <a16:creationId xmlns:a16="http://schemas.microsoft.com/office/drawing/2014/main" id="{F253E41A-F615-4244-8DF1-D8F920BACE1C}"/>
              </a:ext>
            </a:extLst>
          </p:cNvPr>
          <p:cNvSpPr>
            <a:spLocks noGrp="1"/>
          </p:cNvSpPr>
          <p:nvPr/>
        </p:nvSpPr>
        <p:spPr>
          <a:xfrm>
            <a:off x="-447534" y="4894560"/>
            <a:ext cx="8328409" cy="360000"/>
          </a:xfrm>
          <a:custGeom>
            <a:avLst/>
            <a:gdLst/>
            <a:ahLst/>
            <a:cxnLst/>
            <a:rect l="l" t="t" r="r" b="b"/>
            <a:pathLst>
              <a:path w="4283112" h="320914">
                <a:moveTo>
                  <a:pt x="203200" y="0"/>
                </a:moveTo>
                <a:lnTo>
                  <a:pt x="4283112" y="0"/>
                </a:lnTo>
                <a:lnTo>
                  <a:pt x="4079912" y="320914"/>
                </a:lnTo>
                <a:lnTo>
                  <a:pt x="0" y="320914"/>
                </a:lnTo>
                <a:lnTo>
                  <a:pt x="203200" y="0"/>
                </a:lnTo>
                <a:close/>
              </a:path>
            </a:pathLst>
          </a:custGeom>
          <a:solidFill>
            <a:srgbClr val="D4D7DD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476CD9C6-F298-4878-8577-9ABD41EAF55C}"/>
              </a:ext>
            </a:extLst>
          </p:cNvPr>
          <p:cNvSpPr>
            <a:spLocks noGrp="1"/>
          </p:cNvSpPr>
          <p:nvPr/>
        </p:nvSpPr>
        <p:spPr>
          <a:xfrm>
            <a:off x="7160375" y="4894560"/>
            <a:ext cx="5567601" cy="360000"/>
          </a:xfrm>
          <a:custGeom>
            <a:avLst/>
            <a:gdLst/>
            <a:ahLst/>
            <a:cxnLst/>
            <a:rect l="l" t="t" r="r" b="b"/>
            <a:pathLst>
              <a:path w="6326234" h="281353">
                <a:moveTo>
                  <a:pt x="203200" y="0"/>
                </a:moveTo>
                <a:lnTo>
                  <a:pt x="6326234" y="0"/>
                </a:lnTo>
                <a:lnTo>
                  <a:pt x="6123034" y="281353"/>
                </a:lnTo>
                <a:lnTo>
                  <a:pt x="0" y="281353"/>
                </a:lnTo>
                <a:lnTo>
                  <a:pt x="20320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9">
            <a:extLst>
              <a:ext uri="{FF2B5EF4-FFF2-40B4-BE49-F238E27FC236}">
                <a16:creationId xmlns:a16="http://schemas.microsoft.com/office/drawing/2014/main" id="{CD3C70C4-9D69-4D80-B1F1-4801FB198E5C}"/>
              </a:ext>
            </a:extLst>
          </p:cNvPr>
          <p:cNvSpPr>
            <a:spLocks noGrp="1"/>
          </p:cNvSpPr>
          <p:nvPr/>
        </p:nvSpPr>
        <p:spPr>
          <a:xfrm>
            <a:off x="-460640" y="1273160"/>
            <a:ext cx="6441858" cy="360000"/>
          </a:xfrm>
          <a:custGeom>
            <a:avLst/>
            <a:gdLst/>
            <a:ahLst/>
            <a:cxnLst/>
            <a:rect l="l" t="t" r="r" b="b"/>
            <a:pathLst>
              <a:path w="4283112" h="320914">
                <a:moveTo>
                  <a:pt x="203200" y="0"/>
                </a:moveTo>
                <a:lnTo>
                  <a:pt x="4283112" y="0"/>
                </a:lnTo>
                <a:lnTo>
                  <a:pt x="4079912" y="320914"/>
                </a:lnTo>
                <a:lnTo>
                  <a:pt x="0" y="320914"/>
                </a:lnTo>
                <a:lnTo>
                  <a:pt x="203200" y="0"/>
                </a:lnTo>
                <a:close/>
              </a:path>
            </a:pathLst>
          </a:custGeom>
          <a:solidFill>
            <a:srgbClr val="D4D7DD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A7C8868F-C0C7-462E-BA83-21F7F14392E0}"/>
              </a:ext>
            </a:extLst>
          </p:cNvPr>
          <p:cNvSpPr>
            <a:spLocks noGrp="1"/>
          </p:cNvSpPr>
          <p:nvPr/>
        </p:nvSpPr>
        <p:spPr>
          <a:xfrm>
            <a:off x="4517271" y="1273160"/>
            <a:ext cx="8197597" cy="360000"/>
          </a:xfrm>
          <a:custGeom>
            <a:avLst/>
            <a:gdLst/>
            <a:ahLst/>
            <a:cxnLst/>
            <a:rect l="l" t="t" r="r" b="b"/>
            <a:pathLst>
              <a:path w="6326234" h="281353">
                <a:moveTo>
                  <a:pt x="203200" y="0"/>
                </a:moveTo>
                <a:lnTo>
                  <a:pt x="6326234" y="0"/>
                </a:lnTo>
                <a:lnTo>
                  <a:pt x="6123034" y="281353"/>
                </a:lnTo>
                <a:lnTo>
                  <a:pt x="0" y="281353"/>
                </a:lnTo>
                <a:lnTo>
                  <a:pt x="20320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6C9F30-F14A-4EBA-BD87-E8C06673CD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61" t="20535" r="8157" b="34135"/>
          <a:stretch>
            <a:fillRect/>
          </a:stretch>
        </p:blipFill>
        <p:spPr>
          <a:xfrm flipH="1">
            <a:off x="0" y="1485265"/>
            <a:ext cx="12192000" cy="3602355"/>
          </a:xfrm>
          <a:prstGeom prst="rect">
            <a:avLst/>
          </a:prstGeom>
        </p:spPr>
      </p:pic>
      <p:sp>
        <p:nvSpPr>
          <p:cNvPr id="6" name="淘宝-想搞设计PPT(倒卖必究)-24">
            <a:extLst>
              <a:ext uri="{FF2B5EF4-FFF2-40B4-BE49-F238E27FC236}">
                <a16:creationId xmlns:a16="http://schemas.microsoft.com/office/drawing/2014/main" id="{6A077481-A485-4EC7-BF16-60CA8A0CA448}"/>
              </a:ext>
            </a:extLst>
          </p:cNvPr>
          <p:cNvSpPr>
            <a:spLocks noGrp="1"/>
          </p:cNvSpPr>
          <p:nvPr/>
        </p:nvSpPr>
        <p:spPr>
          <a:xfrm>
            <a:off x="0" y="1485265"/>
            <a:ext cx="12192000" cy="3602355"/>
          </a:xfrm>
          <a:prstGeom prst="rect">
            <a:avLst/>
          </a:prstGeom>
          <a:solidFill>
            <a:srgbClr val="A23838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7CE113-EFFB-4221-8425-8DE25BEB3FF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淘宝-想搞设计PPT(倒卖必究)-4">
            <a:extLst>
              <a:ext uri="{FF2B5EF4-FFF2-40B4-BE49-F238E27FC236}">
                <a16:creationId xmlns:a16="http://schemas.microsoft.com/office/drawing/2014/main" id="{3EA09B1E-425B-4DD9-A209-E78F610475D6}"/>
              </a:ext>
            </a:extLst>
          </p:cNvPr>
          <p:cNvSpPr>
            <a:spLocks noGrp="1"/>
          </p:cNvSpPr>
          <p:nvPr/>
        </p:nvSpPr>
        <p:spPr>
          <a:xfrm>
            <a:off x="5499348" y="938302"/>
            <a:ext cx="1193304" cy="11933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DFB04A7-A83C-40AF-BB9B-4C4DF5054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381" y="957335"/>
            <a:ext cx="1155238" cy="1155238"/>
          </a:xfrm>
          <a:prstGeom prst="rect">
            <a:avLst/>
          </a:prstGeom>
        </p:spPr>
      </p:pic>
      <p:sp>
        <p:nvSpPr>
          <p:cNvPr id="8" name="淘宝-想搞设计PPT(倒卖必究)-7">
            <a:extLst>
              <a:ext uri="{FF2B5EF4-FFF2-40B4-BE49-F238E27FC236}">
                <a16:creationId xmlns:a16="http://schemas.microsoft.com/office/drawing/2014/main" id="{4C62805F-9F58-4549-ACAA-03CAEAC54EBD}"/>
              </a:ext>
            </a:extLst>
          </p:cNvPr>
          <p:cNvSpPr>
            <a:spLocks noGrp="1"/>
          </p:cNvSpPr>
          <p:nvPr/>
        </p:nvSpPr>
        <p:spPr>
          <a:xfrm>
            <a:off x="1143000" y="2495550"/>
            <a:ext cx="9906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buNone/>
              <a:defRPr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  <p:sp>
        <p:nvSpPr>
          <p:cNvPr id="10" name="淘宝-想搞设计PPT(倒卖必究)-8">
            <a:extLst>
              <a:ext uri="{FF2B5EF4-FFF2-40B4-BE49-F238E27FC236}">
                <a16:creationId xmlns:a16="http://schemas.microsoft.com/office/drawing/2014/main" id="{E204C7C1-C610-447D-A41D-5281CF7DB3FE}"/>
              </a:ext>
            </a:extLst>
          </p:cNvPr>
          <p:cNvSpPr>
            <a:spLocks noGrp="1"/>
          </p:cNvSpPr>
          <p:nvPr/>
        </p:nvSpPr>
        <p:spPr>
          <a:xfrm>
            <a:off x="1143000" y="4105275"/>
            <a:ext cx="990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buNone/>
              <a:def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面向数据 Agent 的可维护共享记忆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4CBDFD-5AB2-42A2-8FAC-0FECD7E9161D}"/>
              </a:ext>
            </a:extLst>
          </p:cNvPr>
          <p:cNvSpPr>
            <a:spLocks noGrp="1"/>
          </p:cNvSpPr>
          <p:nvPr/>
        </p:nvSpPr>
        <p:spPr>
          <a:xfrm>
            <a:off x="1047750" y="5495925"/>
            <a:ext cx="10096500" cy="5394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1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从退货示意到真实运行，理解知识怎样被共享与维护</a:t>
            </a:r>
            <a:endParaRPr sz="20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A2719A35-67E1-4662-8716-DFB8B6B33CC4}"/>
              </a:ext>
            </a:extLst>
          </p:cNvPr>
          <p:cNvSpPr>
            <a:spLocks noGrp="1"/>
          </p:cNvSpPr>
          <p:nvPr/>
        </p:nvSpPr>
        <p:spPr>
          <a:xfrm>
            <a:off x="2552700" y="3895725"/>
            <a:ext cx="7086600" cy="0"/>
          </a:xfrm>
          <a:prstGeom prst="line">
            <a:avLst/>
          </a:prstGeom>
          <a:ln w="28575">
            <a:solidFill>
              <a:srgbClr val="FEF9F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6" name="灯片编号占位符 45">
            <a:extLst>
              <a:ext uri="{FF2B5EF4-FFF2-40B4-BE49-F238E27FC236}">
                <a16:creationId xmlns:a16="http://schemas.microsoft.com/office/drawing/2014/main" id="{127AA94E-5478-4818-AD2A-9EABC04C83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25200" y="6657975"/>
            <a:ext cx="800100" cy="171450"/>
          </a:xfrm>
        </p:spPr>
        <p:txBody>
          <a:bodyPr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AD75FED6-38D0-DE9C-92C0-6E7FA635581C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MAVRA-footer">
            <a:extLst>
              <a:ext uri="{FF2B5EF4-FFF2-40B4-BE49-F238E27FC236}">
                <a16:creationId xmlns:a16="http://schemas.microsoft.com/office/drawing/2014/main" id="{9E57A2D1-7CB8-48A6-97B6-91D59FBBF7E8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078868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739EAA58-84DE-4DD5-8893-21393FF0A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用户请求：9 </a:t>
            </a:r>
            <a:r>
              <a:rPr sz="2850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月门店退货金额是多少</a:t>
            </a:r>
            <a:r>
              <a:rPr sz="2850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？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E2598689-54C9-18A7-3A19-ED76AA08988F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-19050" y="14302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9" name="request">
            <a:extLst>
              <a:ext uri="{FF2B5EF4-FFF2-40B4-BE49-F238E27FC236}">
                <a16:creationId xmlns:a16="http://schemas.microsoft.com/office/drawing/2014/main" id="{11865C83-6D42-4068-862A-F5FA054A1202}"/>
              </a:ext>
            </a:extLst>
          </p:cNvPr>
          <p:cNvSpPr>
            <a:spLocks noGrp="1"/>
          </p:cNvSpPr>
          <p:nvPr/>
        </p:nvSpPr>
        <p:spPr>
          <a:xfrm>
            <a:off x="742950" y="1895475"/>
            <a:ext cx="5810250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“请统计 9 月门店退货金额。</a:t>
            </a:r>
          </a:p>
          <a:p>
            <a:pPr algn="l">
              <a:buNone/>
              <a:def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只计已完成的退货，</a:t>
            </a:r>
          </a:p>
          <a:p>
            <a:pPr algn="l">
              <a:buNone/>
              <a:def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按退货日期归属月份。”</a:t>
            </a:r>
          </a:p>
        </p:txBody>
      </p:sp>
      <p:sp>
        <p:nvSpPr>
          <p:cNvPr id="50" name="target-label">
            <a:extLst>
              <a:ext uri="{FF2B5EF4-FFF2-40B4-BE49-F238E27FC236}">
                <a16:creationId xmlns:a16="http://schemas.microsoft.com/office/drawing/2014/main" id="{F9FB115B-393C-46E6-B79A-8A2722FBBD3B}"/>
              </a:ext>
            </a:extLst>
          </p:cNvPr>
          <p:cNvSpPr>
            <a:spLocks noGrp="1"/>
          </p:cNvSpPr>
          <p:nvPr/>
        </p:nvSpPr>
        <p:spPr>
          <a:xfrm>
            <a:off x="742950" y="4171950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用户需要的结果</a:t>
            </a:r>
          </a:p>
        </p:txBody>
      </p:sp>
      <p:sp>
        <p:nvSpPr>
          <p:cNvPr id="51" name="target">
            <a:extLst>
              <a:ext uri="{FF2B5EF4-FFF2-40B4-BE49-F238E27FC236}">
                <a16:creationId xmlns:a16="http://schemas.microsoft.com/office/drawing/2014/main" id="{B2FE55E2-A738-4E3C-B59E-D082B23A5DAD}"/>
              </a:ext>
            </a:extLst>
          </p:cNvPr>
          <p:cNvSpPr>
            <a:spLocks noGrp="1"/>
          </p:cNvSpPr>
          <p:nvPr/>
        </p:nvSpPr>
        <p:spPr>
          <a:xfrm>
            <a:off x="742950" y="4648200"/>
            <a:ext cx="47625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4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4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4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600 元</a:t>
            </a:r>
          </a:p>
        </p:txBody>
      </p:sp>
      <p:graphicFrame>
        <p:nvGraphicFramePr>
          <p:cNvPr id="52" name="learning-data">
            <a:extLst>
              <a:ext uri="{FF2B5EF4-FFF2-40B4-BE49-F238E27FC236}">
                <a16:creationId xmlns:a16="http://schemas.microsoft.com/office/drawing/2014/main" id="{D3101C8F-5793-49D7-9B33-D2DC52359D46}"/>
              </a:ext>
            </a:extLst>
          </p:cNvPr>
          <p:cNvGraphicFramePr/>
          <p:nvPr/>
        </p:nvGraphicFramePr>
        <p:xfrm>
          <a:off x="7010400" y="2047875"/>
          <a:ext cx="4438650" cy="2971800"/>
        </p:xfrm>
        <a:graphic>
          <a:graphicData uri="http://schemas.openxmlformats.org/drawingml/2006/table">
            <a:tbl>
              <a:tblPr/>
              <a:tblGrid>
                <a:gridCol w="157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退货键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金额（元）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 / A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R02 /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R03 / C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" name="table-caption">
            <a:extLst>
              <a:ext uri="{FF2B5EF4-FFF2-40B4-BE49-F238E27FC236}">
                <a16:creationId xmlns:a16="http://schemas.microsoft.com/office/drawing/2014/main" id="{13E01189-0290-4278-9792-F4A094E61105}"/>
              </a:ext>
            </a:extLst>
          </p:cNvPr>
          <p:cNvSpPr>
            <a:spLocks noGrp="1"/>
          </p:cNvSpPr>
          <p:nvPr/>
        </p:nvSpPr>
        <p:spPr>
          <a:xfrm>
            <a:off x="7010400" y="5238750"/>
            <a:ext cx="44386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三笔退货均发生在 9 月</a:t>
            </a:r>
          </a:p>
        </p:txBody>
      </p:sp>
      <p:sp>
        <p:nvSpPr>
          <p:cNvPr id="54" name="source-caveat">
            <a:extLst>
              <a:ext uri="{FF2B5EF4-FFF2-40B4-BE49-F238E27FC236}">
                <a16:creationId xmlns:a16="http://schemas.microsoft.com/office/drawing/2014/main" id="{2CEC15E8-2858-4D1E-9521-B8F520B0B514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讲解示例：退货键简写为“小票 / 商品”。金额为示意数值。</a:t>
            </a:r>
          </a:p>
        </p:txBody>
      </p:sp>
      <p:sp>
        <p:nvSpPr>
          <p:cNvPr id="55" name="MAVRA-footer">
            <a:extLst>
              <a:ext uri="{FF2B5EF4-FFF2-40B4-BE49-F238E27FC236}">
                <a16:creationId xmlns:a16="http://schemas.microsoft.com/office/drawing/2014/main" id="{599A54FD-E45B-49A4-B787-A8F83A8CE50D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65AD8CC4-6C8D-4628-A5D6-361ED9975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Agent </a:t>
            </a:r>
            <a:r>
              <a:rPr sz="2850" b="0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怎样得到</a:t>
            </a:r>
            <a:r>
              <a:rPr sz="2850" b="0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600 元？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202359C0-8A7A-196E-DD58-8E6569619F09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9" name="setup">
            <a:extLst>
              <a:ext uri="{FF2B5EF4-FFF2-40B4-BE49-F238E27FC236}">
                <a16:creationId xmlns:a16="http://schemas.microsoft.com/office/drawing/2014/main" id="{BA644F19-B964-4EE1-8E05-7CA59F251A6E}"/>
              </a:ext>
            </a:extLst>
          </p:cNvPr>
          <p:cNvSpPr>
            <a:spLocks noGrp="1"/>
          </p:cNvSpPr>
          <p:nvPr/>
        </p:nvSpPr>
        <p:spPr>
          <a:xfrm>
            <a:off x="742950" y="1724025"/>
            <a:ext cx="107061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把用户给出的口径，逐步落实到查询里</a:t>
            </a:r>
          </a:p>
        </p:txBody>
      </p:sp>
      <p:sp>
        <p:nvSpPr>
          <p:cNvPr id="50" name="learn-0">
            <a:extLst>
              <a:ext uri="{FF2B5EF4-FFF2-40B4-BE49-F238E27FC236}">
                <a16:creationId xmlns:a16="http://schemas.microsoft.com/office/drawing/2014/main" id="{52AF9FB7-4689-4AC2-8F91-CBB92D302457}"/>
              </a:ext>
            </a:extLst>
          </p:cNvPr>
          <p:cNvSpPr>
            <a:spLocks noGrp="1"/>
          </p:cNvSpPr>
          <p:nvPr/>
        </p:nvSpPr>
        <p:spPr>
          <a:xfrm>
            <a:off x="714375" y="2800350"/>
            <a:ext cx="2381250" cy="13049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learn-0-head">
            <a:extLst>
              <a:ext uri="{FF2B5EF4-FFF2-40B4-BE49-F238E27FC236}">
                <a16:creationId xmlns:a16="http://schemas.microsoft.com/office/drawing/2014/main" id="{2932657C-9A31-4E9A-811B-D3F112FDFE46}"/>
              </a:ext>
            </a:extLst>
          </p:cNvPr>
          <p:cNvSpPr>
            <a:spLocks noGrp="1"/>
          </p:cNvSpPr>
          <p:nvPr/>
        </p:nvSpPr>
        <p:spPr>
          <a:xfrm>
            <a:off x="809625" y="28860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找数据</a:t>
            </a:r>
          </a:p>
        </p:txBody>
      </p:sp>
      <p:sp>
        <p:nvSpPr>
          <p:cNvPr id="52" name="learn-0-body">
            <a:extLst>
              <a:ext uri="{FF2B5EF4-FFF2-40B4-BE49-F238E27FC236}">
                <a16:creationId xmlns:a16="http://schemas.microsoft.com/office/drawing/2014/main" id="{4CAE77B4-4951-4184-982C-70E924303CE6}"/>
              </a:ext>
            </a:extLst>
          </p:cNvPr>
          <p:cNvSpPr>
            <a:spLocks noGrp="1"/>
          </p:cNvSpPr>
          <p:nvPr/>
        </p:nvSpPr>
        <p:spPr>
          <a:xfrm>
            <a:off x="828675" y="3248025"/>
            <a:ext cx="21526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退货金额</a:t>
            </a:r>
          </a:p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状态与日期字段</a:t>
            </a:r>
          </a:p>
        </p:txBody>
      </p:sp>
      <p:sp>
        <p:nvSpPr>
          <p:cNvPr id="53" name="learn-1">
            <a:extLst>
              <a:ext uri="{FF2B5EF4-FFF2-40B4-BE49-F238E27FC236}">
                <a16:creationId xmlns:a16="http://schemas.microsoft.com/office/drawing/2014/main" id="{4175C286-7E5C-4D5F-868C-AD7EEECF4849}"/>
              </a:ext>
            </a:extLst>
          </p:cNvPr>
          <p:cNvSpPr>
            <a:spLocks noGrp="1"/>
          </p:cNvSpPr>
          <p:nvPr/>
        </p:nvSpPr>
        <p:spPr>
          <a:xfrm>
            <a:off x="3495675" y="2800350"/>
            <a:ext cx="2381250" cy="13049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learn-1-head">
            <a:extLst>
              <a:ext uri="{FF2B5EF4-FFF2-40B4-BE49-F238E27FC236}">
                <a16:creationId xmlns:a16="http://schemas.microsoft.com/office/drawing/2014/main" id="{E04AF2CF-4049-4189-A488-D4B82FF0E67C}"/>
              </a:ext>
            </a:extLst>
          </p:cNvPr>
          <p:cNvSpPr>
            <a:spLocks noGrp="1"/>
          </p:cNvSpPr>
          <p:nvPr/>
        </p:nvSpPr>
        <p:spPr>
          <a:xfrm>
            <a:off x="3590925" y="28860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确认口径</a:t>
            </a:r>
          </a:p>
        </p:txBody>
      </p:sp>
      <p:sp>
        <p:nvSpPr>
          <p:cNvPr id="55" name="learn-1-body">
            <a:extLst>
              <a:ext uri="{FF2B5EF4-FFF2-40B4-BE49-F238E27FC236}">
                <a16:creationId xmlns:a16="http://schemas.microsoft.com/office/drawing/2014/main" id="{E5CB33CE-611C-40AF-83CB-15EEADC6F671}"/>
              </a:ext>
            </a:extLst>
          </p:cNvPr>
          <p:cNvSpPr>
            <a:spLocks noGrp="1"/>
          </p:cNvSpPr>
          <p:nvPr/>
        </p:nvSpPr>
        <p:spPr>
          <a:xfrm>
            <a:off x="3609975" y="3248025"/>
            <a:ext cx="21526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只计已完成</a:t>
            </a:r>
          </a:p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按退货日期归月</a:t>
            </a:r>
          </a:p>
        </p:txBody>
      </p:sp>
      <p:sp>
        <p:nvSpPr>
          <p:cNvPr id="56" name="learn-2">
            <a:extLst>
              <a:ext uri="{FF2B5EF4-FFF2-40B4-BE49-F238E27FC236}">
                <a16:creationId xmlns:a16="http://schemas.microsoft.com/office/drawing/2014/main" id="{E7F37E94-7AA5-4EAD-8BF9-16DA0032549D}"/>
              </a:ext>
            </a:extLst>
          </p:cNvPr>
          <p:cNvSpPr>
            <a:spLocks noGrp="1"/>
          </p:cNvSpPr>
          <p:nvPr/>
        </p:nvSpPr>
        <p:spPr>
          <a:xfrm>
            <a:off x="6276975" y="2800350"/>
            <a:ext cx="2381250" cy="13049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learn-2-head">
            <a:extLst>
              <a:ext uri="{FF2B5EF4-FFF2-40B4-BE49-F238E27FC236}">
                <a16:creationId xmlns:a16="http://schemas.microsoft.com/office/drawing/2014/main" id="{5C925E57-99DA-4A6B-989D-A39F1217F6FD}"/>
              </a:ext>
            </a:extLst>
          </p:cNvPr>
          <p:cNvSpPr>
            <a:spLocks noGrp="1"/>
          </p:cNvSpPr>
          <p:nvPr/>
        </p:nvSpPr>
        <p:spPr>
          <a:xfrm>
            <a:off x="6372225" y="28860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生成查询</a:t>
            </a:r>
          </a:p>
        </p:txBody>
      </p:sp>
      <p:sp>
        <p:nvSpPr>
          <p:cNvPr id="58" name="learn-2-body">
            <a:extLst>
              <a:ext uri="{FF2B5EF4-FFF2-40B4-BE49-F238E27FC236}">
                <a16:creationId xmlns:a16="http://schemas.microsoft.com/office/drawing/2014/main" id="{FB4E67CC-B5D7-48D0-9CEB-B86FE02F41B5}"/>
              </a:ext>
            </a:extLst>
          </p:cNvPr>
          <p:cNvSpPr>
            <a:spLocks noGrp="1"/>
          </p:cNvSpPr>
          <p:nvPr/>
        </p:nvSpPr>
        <p:spPr>
          <a:xfrm>
            <a:off x="6391275" y="3248025"/>
            <a:ext cx="21526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筛选 9 月</a:t>
            </a:r>
          </a:p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再对退货金额求和</a:t>
            </a:r>
          </a:p>
        </p:txBody>
      </p:sp>
      <p:sp>
        <p:nvSpPr>
          <p:cNvPr id="59" name="learn-3">
            <a:extLst>
              <a:ext uri="{FF2B5EF4-FFF2-40B4-BE49-F238E27FC236}">
                <a16:creationId xmlns:a16="http://schemas.microsoft.com/office/drawing/2014/main" id="{49B0874F-B6CE-4400-B813-91E21EA6C662}"/>
              </a:ext>
            </a:extLst>
          </p:cNvPr>
          <p:cNvSpPr>
            <a:spLocks noGrp="1"/>
          </p:cNvSpPr>
          <p:nvPr/>
        </p:nvSpPr>
        <p:spPr>
          <a:xfrm>
            <a:off x="9058275" y="2800350"/>
            <a:ext cx="2381250" cy="1304925"/>
          </a:xfrm>
          <a:prstGeom prst="rect">
            <a:avLst/>
          </a:prstGeom>
          <a:solidFill>
            <a:srgbClr val="F8EFE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learn-3-head">
            <a:extLst>
              <a:ext uri="{FF2B5EF4-FFF2-40B4-BE49-F238E27FC236}">
                <a16:creationId xmlns:a16="http://schemas.microsoft.com/office/drawing/2014/main" id="{FAC4E15A-0FB7-485C-B9E6-DD63F04A3C6B}"/>
              </a:ext>
            </a:extLst>
          </p:cNvPr>
          <p:cNvSpPr>
            <a:spLocks noGrp="1"/>
          </p:cNvSpPr>
          <p:nvPr/>
        </p:nvSpPr>
        <p:spPr>
          <a:xfrm>
            <a:off x="9153525" y="28860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得到结果</a:t>
            </a:r>
          </a:p>
        </p:txBody>
      </p:sp>
      <p:sp>
        <p:nvSpPr>
          <p:cNvPr id="61" name="learn-3-body">
            <a:extLst>
              <a:ext uri="{FF2B5EF4-FFF2-40B4-BE49-F238E27FC236}">
                <a16:creationId xmlns:a16="http://schemas.microsoft.com/office/drawing/2014/main" id="{C23BB019-CA27-46FD-8EA4-7685EA2642CA}"/>
              </a:ext>
            </a:extLst>
          </p:cNvPr>
          <p:cNvSpPr>
            <a:spLocks noGrp="1"/>
          </p:cNvSpPr>
          <p:nvPr/>
        </p:nvSpPr>
        <p:spPr>
          <a:xfrm>
            <a:off x="9172575" y="3248025"/>
            <a:ext cx="21526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100＋200＋300</a:t>
            </a:r>
          </a:p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600 元</a:t>
            </a: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1181B4EF-0BCB-41C4-A59B-5EB8CDBEF79F}"/>
              </a:ext>
            </a:extLst>
          </p:cNvPr>
          <p:cNvCxnSpPr>
            <a:stCxn id="50" idx="3"/>
            <a:endCxn id="53" idx="1"/>
          </p:cNvCxnSpPr>
          <p:nvPr/>
        </p:nvCxnSpPr>
        <p:spPr>
          <a:xfrm>
            <a:off x="3095625" y="3452813"/>
            <a:ext cx="40005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6886AF13-E7D6-4518-9D4D-41EAB50448B9}"/>
              </a:ext>
            </a:extLst>
          </p:cNvPr>
          <p:cNvCxnSpPr>
            <a:stCxn id="53" idx="3"/>
            <a:endCxn id="56" idx="1"/>
          </p:cNvCxnSpPr>
          <p:nvPr/>
        </p:nvCxnSpPr>
        <p:spPr>
          <a:xfrm>
            <a:off x="5876925" y="3452813"/>
            <a:ext cx="40005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95C1131D-8104-4A2F-8E07-CDFAF3AA4C85}"/>
              </a:ext>
            </a:extLst>
          </p:cNvPr>
          <p:cNvCxnSpPr>
            <a:stCxn id="56" idx="3"/>
            <a:endCxn id="59" idx="1"/>
          </p:cNvCxnSpPr>
          <p:nvPr/>
        </p:nvCxnSpPr>
        <p:spPr>
          <a:xfrm>
            <a:off x="8658225" y="3452813"/>
            <a:ext cx="40005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65" name="takeaway-band">
            <a:extLst>
              <a:ext uri="{FF2B5EF4-FFF2-40B4-BE49-F238E27FC236}">
                <a16:creationId xmlns:a16="http://schemas.microsoft.com/office/drawing/2014/main" id="{D60AD59F-A1CD-4672-A664-AEF478A2D0BC}"/>
              </a:ext>
            </a:extLst>
          </p:cNvPr>
          <p:cNvSpPr>
            <a:spLocks noGrp="1"/>
          </p:cNvSpPr>
          <p:nvPr/>
        </p:nvSpPr>
        <p:spPr>
          <a:xfrm>
            <a:off x="714375" y="5105400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takeaway">
            <a:extLst>
              <a:ext uri="{FF2B5EF4-FFF2-40B4-BE49-F238E27FC236}">
                <a16:creationId xmlns:a16="http://schemas.microsoft.com/office/drawing/2014/main" id="{D1B292BB-5E06-4B2F-AA3B-E23CAE8BA48B}"/>
              </a:ext>
            </a:extLst>
          </p:cNvPr>
          <p:cNvSpPr>
            <a:spLocks noGrp="1"/>
          </p:cNvSpPr>
          <p:nvPr/>
        </p:nvSpPr>
        <p:spPr>
          <a:xfrm>
            <a:off x="866775" y="5162550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本次学到的知识：哪些记录该算，以及怎样计算</a:t>
            </a:r>
          </a:p>
        </p:txBody>
      </p:sp>
      <p:sp>
        <p:nvSpPr>
          <p:cNvPr id="67" name="source-note">
            <a:extLst>
              <a:ext uri="{FF2B5EF4-FFF2-40B4-BE49-F238E27FC236}">
                <a16:creationId xmlns:a16="http://schemas.microsoft.com/office/drawing/2014/main" id="{C24F1BAC-1C5F-4498-9C2E-87D971ECFD8D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退货示意例子。下一页切换到门店营业额的归档真实运行。</a:t>
            </a:r>
          </a:p>
        </p:txBody>
      </p:sp>
      <p:sp>
        <p:nvSpPr>
          <p:cNvPr id="68" name="MAVRA-footer">
            <a:extLst>
              <a:ext uri="{FF2B5EF4-FFF2-40B4-BE49-F238E27FC236}">
                <a16:creationId xmlns:a16="http://schemas.microsoft.com/office/drawing/2014/main" id="{7D9D91D7-678F-4A82-A0CB-D2F4D9FBC809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06CE0771-5791-4BE4-B529-AB5F35A89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真实运行：Agent 的 7 次工具调用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EFD6AB9A-5F9E-5F59-51AB-3C8734130965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9" name="real-question">
            <a:extLst>
              <a:ext uri="{FF2B5EF4-FFF2-40B4-BE49-F238E27FC236}">
                <a16:creationId xmlns:a16="http://schemas.microsoft.com/office/drawing/2014/main" id="{F544FB8E-9CE6-484A-B6D7-9D5C768C3660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10706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学习题：3 月门店营业额是多少？</a:t>
            </a:r>
          </a:p>
        </p:txBody>
      </p:sp>
      <p:sp>
        <p:nvSpPr>
          <p:cNvPr id="50" name="call-num-0">
            <a:extLst>
              <a:ext uri="{FF2B5EF4-FFF2-40B4-BE49-F238E27FC236}">
                <a16:creationId xmlns:a16="http://schemas.microsoft.com/office/drawing/2014/main" id="{E18111C8-9C33-4442-80B9-C6CAEA90CE59}"/>
              </a:ext>
            </a:extLst>
          </p:cNvPr>
          <p:cNvSpPr>
            <a:spLocks noGrp="1"/>
          </p:cNvSpPr>
          <p:nvPr/>
        </p:nvSpPr>
        <p:spPr>
          <a:xfrm>
            <a:off x="752475" y="2190750"/>
            <a:ext cx="333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call-name-0">
            <a:extLst>
              <a:ext uri="{FF2B5EF4-FFF2-40B4-BE49-F238E27FC236}">
                <a16:creationId xmlns:a16="http://schemas.microsoft.com/office/drawing/2014/main" id="{E1740B59-8992-4BB5-929D-0C6CD9482E6B}"/>
              </a:ext>
            </a:extLst>
          </p:cNvPr>
          <p:cNvSpPr>
            <a:spLocks noGrp="1"/>
          </p:cNvSpPr>
          <p:nvPr/>
        </p:nvSpPr>
        <p:spPr>
          <a:xfrm>
            <a:off x="1123950" y="2190750"/>
            <a:ext cx="44577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list_tables()</a:t>
            </a:r>
          </a:p>
        </p:txBody>
      </p:sp>
      <p:sp>
        <p:nvSpPr>
          <p:cNvPr id="52" name="call-result-0">
            <a:extLst>
              <a:ext uri="{FF2B5EF4-FFF2-40B4-BE49-F238E27FC236}">
                <a16:creationId xmlns:a16="http://schemas.microsoft.com/office/drawing/2014/main" id="{A56865C7-62FA-40F2-99EA-E3D759FCA95A}"/>
              </a:ext>
            </a:extLst>
          </p:cNvPr>
          <p:cNvSpPr>
            <a:spLocks noGrp="1"/>
          </p:cNvSpPr>
          <p:nvPr/>
        </p:nvSpPr>
        <p:spPr>
          <a:xfrm>
            <a:off x="5572125" y="2190750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5 张表及说明</a:t>
            </a:r>
          </a:p>
        </p:txBody>
      </p:sp>
      <p:sp>
        <p:nvSpPr>
          <p:cNvPr id="53" name="call-num-1">
            <a:extLst>
              <a:ext uri="{FF2B5EF4-FFF2-40B4-BE49-F238E27FC236}">
                <a16:creationId xmlns:a16="http://schemas.microsoft.com/office/drawing/2014/main" id="{629B77B1-AC54-4ED2-9336-128869BD4917}"/>
              </a:ext>
            </a:extLst>
          </p:cNvPr>
          <p:cNvSpPr>
            <a:spLocks noGrp="1"/>
          </p:cNvSpPr>
          <p:nvPr/>
        </p:nvSpPr>
        <p:spPr>
          <a:xfrm>
            <a:off x="752475" y="2600325"/>
            <a:ext cx="333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4" name="call-name-1">
            <a:extLst>
              <a:ext uri="{FF2B5EF4-FFF2-40B4-BE49-F238E27FC236}">
                <a16:creationId xmlns:a16="http://schemas.microsoft.com/office/drawing/2014/main" id="{73E21980-C28C-4AE7-8E9B-09B0DE544DB0}"/>
              </a:ext>
            </a:extLst>
          </p:cNvPr>
          <p:cNvSpPr>
            <a:spLocks noGrp="1"/>
          </p:cNvSpPr>
          <p:nvPr/>
        </p:nvSpPr>
        <p:spPr>
          <a:xfrm>
            <a:off x="1123950" y="2600325"/>
            <a:ext cx="44577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find_metric("门店营业额")</a:t>
            </a:r>
          </a:p>
        </p:txBody>
      </p:sp>
      <p:sp>
        <p:nvSpPr>
          <p:cNvPr id="55" name="call-result-1">
            <a:extLst>
              <a:ext uri="{FF2B5EF4-FFF2-40B4-BE49-F238E27FC236}">
                <a16:creationId xmlns:a16="http://schemas.microsoft.com/office/drawing/2014/main" id="{B9BC3628-C6BB-4104-AB2C-4219A2369C25}"/>
              </a:ext>
            </a:extLst>
          </p:cNvPr>
          <p:cNvSpPr>
            <a:spLocks noGrp="1"/>
          </p:cNvSpPr>
          <p:nvPr/>
        </p:nvSpPr>
        <p:spPr>
          <a:xfrm>
            <a:off x="5572125" y="2600325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没有已验证定义</a:t>
            </a:r>
          </a:p>
        </p:txBody>
      </p:sp>
      <p:sp>
        <p:nvSpPr>
          <p:cNvPr id="56" name="call-num-2">
            <a:extLst>
              <a:ext uri="{FF2B5EF4-FFF2-40B4-BE49-F238E27FC236}">
                <a16:creationId xmlns:a16="http://schemas.microsoft.com/office/drawing/2014/main" id="{680FFBA0-1E76-43C4-8F81-A7E57F3D3F5A}"/>
              </a:ext>
            </a:extLst>
          </p:cNvPr>
          <p:cNvSpPr>
            <a:spLocks noGrp="1"/>
          </p:cNvSpPr>
          <p:nvPr/>
        </p:nvSpPr>
        <p:spPr>
          <a:xfrm>
            <a:off x="752475" y="3009900"/>
            <a:ext cx="333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57" name="call-name-2">
            <a:extLst>
              <a:ext uri="{FF2B5EF4-FFF2-40B4-BE49-F238E27FC236}">
                <a16:creationId xmlns:a16="http://schemas.microsoft.com/office/drawing/2014/main" id="{D3776485-6634-400C-946B-73AC2819083D}"/>
              </a:ext>
            </a:extLst>
          </p:cNvPr>
          <p:cNvSpPr>
            <a:spLocks noGrp="1"/>
          </p:cNvSpPr>
          <p:nvPr/>
        </p:nvSpPr>
        <p:spPr>
          <a:xfrm>
            <a:off x="1123950" y="3009900"/>
            <a:ext cx="44577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describe_table(store_sales)</a:t>
            </a:r>
          </a:p>
        </p:txBody>
      </p:sp>
      <p:sp>
        <p:nvSpPr>
          <p:cNvPr id="58" name="call-result-2">
            <a:extLst>
              <a:ext uri="{FF2B5EF4-FFF2-40B4-BE49-F238E27FC236}">
                <a16:creationId xmlns:a16="http://schemas.microsoft.com/office/drawing/2014/main" id="{1ADD6881-F7A0-4860-86F3-9471E0A06A66}"/>
              </a:ext>
            </a:extLst>
          </p:cNvPr>
          <p:cNvSpPr>
            <a:spLocks noGrp="1"/>
          </p:cNvSpPr>
          <p:nvPr/>
        </p:nvSpPr>
        <p:spPr>
          <a:xfrm>
            <a:off x="5572125" y="3009900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金额、日期等字段</a:t>
            </a:r>
          </a:p>
        </p:txBody>
      </p:sp>
      <p:sp>
        <p:nvSpPr>
          <p:cNvPr id="59" name="call-num-3">
            <a:extLst>
              <a:ext uri="{FF2B5EF4-FFF2-40B4-BE49-F238E27FC236}">
                <a16:creationId xmlns:a16="http://schemas.microsoft.com/office/drawing/2014/main" id="{CBDB39E4-1105-4EDB-ABC5-57F74B19FCB2}"/>
              </a:ext>
            </a:extLst>
          </p:cNvPr>
          <p:cNvSpPr>
            <a:spLocks noGrp="1"/>
          </p:cNvSpPr>
          <p:nvPr/>
        </p:nvSpPr>
        <p:spPr>
          <a:xfrm>
            <a:off x="752475" y="3419475"/>
            <a:ext cx="333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0" name="call-name-3">
            <a:extLst>
              <a:ext uri="{FF2B5EF4-FFF2-40B4-BE49-F238E27FC236}">
                <a16:creationId xmlns:a16="http://schemas.microsoft.com/office/drawing/2014/main" id="{FAC7295E-C20A-460B-A740-90174FD895E0}"/>
              </a:ext>
            </a:extLst>
          </p:cNvPr>
          <p:cNvSpPr>
            <a:spLocks noGrp="1"/>
          </p:cNvSpPr>
          <p:nvPr/>
        </p:nvSpPr>
        <p:spPr>
          <a:xfrm>
            <a:off x="1123950" y="3419475"/>
            <a:ext cx="44577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describe_table(date_dim)</a:t>
            </a:r>
          </a:p>
        </p:txBody>
      </p:sp>
      <p:sp>
        <p:nvSpPr>
          <p:cNvPr id="61" name="call-result-3">
            <a:extLst>
              <a:ext uri="{FF2B5EF4-FFF2-40B4-BE49-F238E27FC236}">
                <a16:creationId xmlns:a16="http://schemas.microsoft.com/office/drawing/2014/main" id="{12C74DE6-1E9F-4ECE-8934-2C71E8F08A99}"/>
              </a:ext>
            </a:extLst>
          </p:cNvPr>
          <p:cNvSpPr>
            <a:spLocks noGrp="1"/>
          </p:cNvSpPr>
          <p:nvPr/>
        </p:nvSpPr>
        <p:spPr>
          <a:xfrm>
            <a:off x="5572125" y="3419475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日期字段与类型</a:t>
            </a:r>
          </a:p>
        </p:txBody>
      </p:sp>
      <p:sp>
        <p:nvSpPr>
          <p:cNvPr id="62" name="call-num-4">
            <a:extLst>
              <a:ext uri="{FF2B5EF4-FFF2-40B4-BE49-F238E27FC236}">
                <a16:creationId xmlns:a16="http://schemas.microsoft.com/office/drawing/2014/main" id="{B183426D-8257-48F9-BDE1-24CECA80CD4F}"/>
              </a:ext>
            </a:extLst>
          </p:cNvPr>
          <p:cNvSpPr>
            <a:spLocks noGrp="1"/>
          </p:cNvSpPr>
          <p:nvPr/>
        </p:nvSpPr>
        <p:spPr>
          <a:xfrm>
            <a:off x="752475" y="3829050"/>
            <a:ext cx="333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63" name="call-name-4">
            <a:extLst>
              <a:ext uri="{FF2B5EF4-FFF2-40B4-BE49-F238E27FC236}">
                <a16:creationId xmlns:a16="http://schemas.microsoft.com/office/drawing/2014/main" id="{86118D9B-6F32-4DB1-A88F-1B8EE3D71F76}"/>
              </a:ext>
            </a:extLst>
          </p:cNvPr>
          <p:cNvSpPr>
            <a:spLocks noGrp="1"/>
          </p:cNvSpPr>
          <p:nvPr/>
        </p:nvSpPr>
        <p:spPr>
          <a:xfrm>
            <a:off x="1123950" y="3829050"/>
            <a:ext cx="44577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join_path(store_sales, date_dim)</a:t>
            </a:r>
          </a:p>
        </p:txBody>
      </p:sp>
      <p:sp>
        <p:nvSpPr>
          <p:cNvPr id="64" name="call-result-4">
            <a:extLst>
              <a:ext uri="{FF2B5EF4-FFF2-40B4-BE49-F238E27FC236}">
                <a16:creationId xmlns:a16="http://schemas.microsoft.com/office/drawing/2014/main" id="{5D9C4BC9-550A-440F-ABAD-5C92AA469252}"/>
              </a:ext>
            </a:extLst>
          </p:cNvPr>
          <p:cNvSpPr>
            <a:spLocks noGrp="1"/>
          </p:cNvSpPr>
          <p:nvPr/>
        </p:nvSpPr>
        <p:spPr>
          <a:xfrm>
            <a:off x="5572125" y="3829050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关联率 98.97%</a:t>
            </a:r>
          </a:p>
        </p:txBody>
      </p:sp>
      <p:sp>
        <p:nvSpPr>
          <p:cNvPr id="65" name="call-num-5">
            <a:extLst>
              <a:ext uri="{FF2B5EF4-FFF2-40B4-BE49-F238E27FC236}">
                <a16:creationId xmlns:a16="http://schemas.microsoft.com/office/drawing/2014/main" id="{DBAF91E5-9712-4562-9BF4-E01ED17157BC}"/>
              </a:ext>
            </a:extLst>
          </p:cNvPr>
          <p:cNvSpPr>
            <a:spLocks noGrp="1"/>
          </p:cNvSpPr>
          <p:nvPr/>
        </p:nvSpPr>
        <p:spPr>
          <a:xfrm>
            <a:off x="752475" y="4238625"/>
            <a:ext cx="333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 dirty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66" name="call-name-5">
            <a:extLst>
              <a:ext uri="{FF2B5EF4-FFF2-40B4-BE49-F238E27FC236}">
                <a16:creationId xmlns:a16="http://schemas.microsoft.com/office/drawing/2014/main" id="{E55B7AB5-3FCC-4C80-8A5C-E1BD9CF5F895}"/>
              </a:ext>
            </a:extLst>
          </p:cNvPr>
          <p:cNvSpPr>
            <a:spLocks noGrp="1"/>
          </p:cNvSpPr>
          <p:nvPr/>
        </p:nvSpPr>
        <p:spPr>
          <a:xfrm>
            <a:off x="1123950" y="4238625"/>
            <a:ext cx="44577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6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dirty="0" err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run_sql</a:t>
            </a:r>
            <a:r>
              <a:rPr sz="1650" b="1" dirty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(...)</a:t>
            </a:r>
          </a:p>
        </p:txBody>
      </p:sp>
      <p:sp>
        <p:nvSpPr>
          <p:cNvPr id="67" name="call-result-5">
            <a:extLst>
              <a:ext uri="{FF2B5EF4-FFF2-40B4-BE49-F238E27FC236}">
                <a16:creationId xmlns:a16="http://schemas.microsoft.com/office/drawing/2014/main" id="{6EBFFC3B-C16C-4531-853C-F421AF445C16}"/>
              </a:ext>
            </a:extLst>
          </p:cNvPr>
          <p:cNvSpPr>
            <a:spLocks noGrp="1"/>
          </p:cNvSpPr>
          <p:nvPr/>
        </p:nvSpPr>
        <p:spPr>
          <a:xfrm>
            <a:off x="5572125" y="4238625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13,570,368.70</a:t>
            </a:r>
          </a:p>
        </p:txBody>
      </p:sp>
      <p:sp>
        <p:nvSpPr>
          <p:cNvPr id="68" name="call-num-6">
            <a:extLst>
              <a:ext uri="{FF2B5EF4-FFF2-40B4-BE49-F238E27FC236}">
                <a16:creationId xmlns:a16="http://schemas.microsoft.com/office/drawing/2014/main" id="{32B98D49-5A19-4FAB-B7BF-8DDE3FCEBAEF}"/>
              </a:ext>
            </a:extLst>
          </p:cNvPr>
          <p:cNvSpPr>
            <a:spLocks noGrp="1"/>
          </p:cNvSpPr>
          <p:nvPr/>
        </p:nvSpPr>
        <p:spPr>
          <a:xfrm>
            <a:off x="752475" y="4648200"/>
            <a:ext cx="3333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69" name="call-name-6">
            <a:extLst>
              <a:ext uri="{FF2B5EF4-FFF2-40B4-BE49-F238E27FC236}">
                <a16:creationId xmlns:a16="http://schemas.microsoft.com/office/drawing/2014/main" id="{D5F66E99-0BA3-4AF6-B7F4-3E3D910C926E}"/>
              </a:ext>
            </a:extLst>
          </p:cNvPr>
          <p:cNvSpPr>
            <a:spLocks noGrp="1"/>
          </p:cNvSpPr>
          <p:nvPr/>
        </p:nvSpPr>
        <p:spPr>
          <a:xfrm>
            <a:off x="1123950" y="4648200"/>
            <a:ext cx="44577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final_answer(...)</a:t>
            </a:r>
          </a:p>
        </p:txBody>
      </p:sp>
      <p:sp>
        <p:nvSpPr>
          <p:cNvPr id="70" name="call-result-6">
            <a:extLst>
              <a:ext uri="{FF2B5EF4-FFF2-40B4-BE49-F238E27FC236}">
                <a16:creationId xmlns:a16="http://schemas.microsoft.com/office/drawing/2014/main" id="{97F54D9C-E1BC-4985-9FE5-B7A1F7A7EB17}"/>
              </a:ext>
            </a:extLst>
          </p:cNvPr>
          <p:cNvSpPr>
            <a:spLocks noGrp="1"/>
          </p:cNvSpPr>
          <p:nvPr/>
        </p:nvSpPr>
        <p:spPr>
          <a:xfrm>
            <a:off x="5572125" y="4648200"/>
            <a:ext cx="2000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判题正确</a:t>
            </a:r>
          </a:p>
        </p:txBody>
      </p:sp>
      <p:sp>
        <p:nvSpPr>
          <p:cNvPr id="71" name="query-label">
            <a:extLst>
              <a:ext uri="{FF2B5EF4-FFF2-40B4-BE49-F238E27FC236}">
                <a16:creationId xmlns:a16="http://schemas.microsoft.com/office/drawing/2014/main" id="{32AD7FA8-0D78-4EEA-BCA3-A794843F4B66}"/>
              </a:ext>
            </a:extLst>
          </p:cNvPr>
          <p:cNvSpPr>
            <a:spLocks noGrp="1"/>
          </p:cNvSpPr>
          <p:nvPr/>
        </p:nvSpPr>
        <p:spPr>
          <a:xfrm>
            <a:off x="8001000" y="2190750"/>
            <a:ext cx="3476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第 6 次调用的 SQL</a:t>
            </a:r>
          </a:p>
        </p:txBody>
      </p:sp>
      <p:sp>
        <p:nvSpPr>
          <p:cNvPr id="72" name="learning-sql-back">
            <a:extLst>
              <a:ext uri="{FF2B5EF4-FFF2-40B4-BE49-F238E27FC236}">
                <a16:creationId xmlns:a16="http://schemas.microsoft.com/office/drawing/2014/main" id="{C1CB1D24-0AE1-4489-96A7-B0525849690B}"/>
              </a:ext>
            </a:extLst>
          </p:cNvPr>
          <p:cNvSpPr>
            <a:spLocks noGrp="1"/>
          </p:cNvSpPr>
          <p:nvPr/>
        </p:nvSpPr>
        <p:spPr>
          <a:xfrm>
            <a:off x="7886700" y="2571750"/>
            <a:ext cx="3590925" cy="2600325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learning-sql">
            <a:extLst>
              <a:ext uri="{FF2B5EF4-FFF2-40B4-BE49-F238E27FC236}">
                <a16:creationId xmlns:a16="http://schemas.microsoft.com/office/drawing/2014/main" id="{1A7BC719-55E4-4AA7-A958-3077B95B74EC}"/>
              </a:ext>
            </a:extLst>
          </p:cNvPr>
          <p:cNvSpPr>
            <a:spLocks noGrp="1"/>
          </p:cNvSpPr>
          <p:nvPr/>
        </p:nvSpPr>
        <p:spPr>
          <a:xfrm>
            <a:off x="8001000" y="2647950"/>
            <a:ext cx="3362325" cy="2447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SELECT ROUND(</a:t>
            </a:r>
          </a:p>
          <a:p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SUM(ss.ss_net_paid), 2)</a:t>
            </a:r>
          </a:p>
          <a:p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FROM store_sales ss</a:t>
            </a:r>
          </a:p>
          <a:p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JOIN date_dim d</a:t>
            </a:r>
          </a:p>
          <a:p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ON ss.ss_sold_date_sk</a:t>
            </a:r>
          </a:p>
          <a:p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   = d.d_date_sk</a:t>
            </a:r>
          </a:p>
          <a:p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WHERE d.d_year = :年</a:t>
            </a:r>
          </a:p>
          <a:p>
            <a:pPr algn="l">
              <a:buNone/>
              <a:def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AND d.d_moy = 3</a:t>
            </a:r>
          </a:p>
        </p:txBody>
      </p:sp>
      <p:sp>
        <p:nvSpPr>
          <p:cNvPr id="74" name="takeaway-band">
            <a:extLst>
              <a:ext uri="{FF2B5EF4-FFF2-40B4-BE49-F238E27FC236}">
                <a16:creationId xmlns:a16="http://schemas.microsoft.com/office/drawing/2014/main" id="{047744DB-5189-40C9-AF5D-F10504BE53AE}"/>
              </a:ext>
            </a:extLst>
          </p:cNvPr>
          <p:cNvSpPr>
            <a:spLocks noGrp="1"/>
          </p:cNvSpPr>
          <p:nvPr/>
        </p:nvSpPr>
        <p:spPr>
          <a:xfrm>
            <a:off x="714375" y="5476875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akeaway">
            <a:extLst>
              <a:ext uri="{FF2B5EF4-FFF2-40B4-BE49-F238E27FC236}">
                <a16:creationId xmlns:a16="http://schemas.microsoft.com/office/drawing/2014/main" id="{CEDFDA78-08B6-4140-8B70-BA6DA90615BA}"/>
              </a:ext>
            </a:extLst>
          </p:cNvPr>
          <p:cNvSpPr>
            <a:spLocks noGrp="1"/>
          </p:cNvSpPr>
          <p:nvPr/>
        </p:nvSpPr>
        <p:spPr>
          <a:xfrm>
            <a:off x="866775" y="5534025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 5 轮，7 次工具调用；工具侧累计耗时 0.3 秒</a:t>
            </a:r>
          </a:p>
        </p:txBody>
      </p:sp>
      <p:sp>
        <p:nvSpPr>
          <p:cNvPr id="76" name="source-note">
            <a:extLst>
              <a:ext uri="{FF2B5EF4-FFF2-40B4-BE49-F238E27FC236}">
                <a16:creationId xmlns:a16="http://schemas.microsoft.com/office/drawing/2014/main" id="{E1C5AF65-3A2E-4952-A9EA-1B0C9BAF9CC1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归档运行 M1-L1。金额为元；年份在图中省略为参数。0.3 秒不含模型推理耗时。</a:t>
            </a:r>
          </a:p>
        </p:txBody>
      </p:sp>
      <p:sp>
        <p:nvSpPr>
          <p:cNvPr id="77" name="MAVRA-footer">
            <a:extLst>
              <a:ext uri="{FF2B5EF4-FFF2-40B4-BE49-F238E27FC236}">
                <a16:creationId xmlns:a16="http://schemas.microsoft.com/office/drawing/2014/main" id="{D7263969-8BD6-4108-864B-EA53F2C0722E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8CA41DB8-A911-4E2D-B9BB-98EA00BC2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下一位 Agent 怎样复用这条定义？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EE5B3003-2C54-13C6-9832-7637201064DE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9" name="reuse-request">
            <a:extLst>
              <a:ext uri="{FF2B5EF4-FFF2-40B4-BE49-F238E27FC236}">
                <a16:creationId xmlns:a16="http://schemas.microsoft.com/office/drawing/2014/main" id="{90B08EE4-E5BF-4B28-A16C-480F638DB3AE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新的请求：统计 10 月退货金额</a:t>
            </a:r>
          </a:p>
        </p:txBody>
      </p:sp>
      <p:sp>
        <p:nvSpPr>
          <p:cNvPr id="50" name="new-user">
            <a:extLst>
              <a:ext uri="{FF2B5EF4-FFF2-40B4-BE49-F238E27FC236}">
                <a16:creationId xmlns:a16="http://schemas.microsoft.com/office/drawing/2014/main" id="{1B0C3EEB-DF0B-4C9F-A343-FA5FD7BC9434}"/>
              </a:ext>
            </a:extLst>
          </p:cNvPr>
          <p:cNvSpPr>
            <a:spLocks noGrp="1"/>
          </p:cNvSpPr>
          <p:nvPr/>
        </p:nvSpPr>
        <p:spPr>
          <a:xfrm>
            <a:off x="714375" y="2762250"/>
            <a:ext cx="2362200" cy="1219200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new-user-head">
            <a:extLst>
              <a:ext uri="{FF2B5EF4-FFF2-40B4-BE49-F238E27FC236}">
                <a16:creationId xmlns:a16="http://schemas.microsoft.com/office/drawing/2014/main" id="{9EE89E6B-3B67-4FB3-9417-E23EC40C0835}"/>
              </a:ext>
            </a:extLst>
          </p:cNvPr>
          <p:cNvSpPr>
            <a:spLocks noGrp="1"/>
          </p:cNvSpPr>
          <p:nvPr/>
        </p:nvSpPr>
        <p:spPr>
          <a:xfrm>
            <a:off x="809625" y="2847975"/>
            <a:ext cx="21717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用户 Agent</a:t>
            </a:r>
          </a:p>
        </p:txBody>
      </p:sp>
      <p:sp>
        <p:nvSpPr>
          <p:cNvPr id="52" name="new-user-body">
            <a:extLst>
              <a:ext uri="{FF2B5EF4-FFF2-40B4-BE49-F238E27FC236}">
                <a16:creationId xmlns:a16="http://schemas.microsoft.com/office/drawing/2014/main" id="{D5E6E6FC-4334-49E1-ACB4-FA664D68D300}"/>
              </a:ext>
            </a:extLst>
          </p:cNvPr>
          <p:cNvSpPr>
            <a:spLocks noGrp="1"/>
          </p:cNvSpPr>
          <p:nvPr/>
        </p:nvSpPr>
        <p:spPr>
          <a:xfrm>
            <a:off x="828675" y="3209925"/>
            <a:ext cx="21336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接到 10 月请求</a:t>
            </a:r>
          </a:p>
        </p:txBody>
      </p:sp>
      <p:sp>
        <p:nvSpPr>
          <p:cNvPr id="53" name="find-def">
            <a:extLst>
              <a:ext uri="{FF2B5EF4-FFF2-40B4-BE49-F238E27FC236}">
                <a16:creationId xmlns:a16="http://schemas.microsoft.com/office/drawing/2014/main" id="{441559E4-52ED-40F8-B785-1483F81D52AD}"/>
              </a:ext>
            </a:extLst>
          </p:cNvPr>
          <p:cNvSpPr>
            <a:spLocks noGrp="1"/>
          </p:cNvSpPr>
          <p:nvPr/>
        </p:nvSpPr>
        <p:spPr>
          <a:xfrm>
            <a:off x="3543300" y="2762250"/>
            <a:ext cx="2952750" cy="1219200"/>
          </a:xfrm>
          <a:prstGeom prst="rect">
            <a:avLst/>
          </a:prstGeom>
          <a:solidFill>
            <a:srgbClr val="F8EFE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find-def-head">
            <a:extLst>
              <a:ext uri="{FF2B5EF4-FFF2-40B4-BE49-F238E27FC236}">
                <a16:creationId xmlns:a16="http://schemas.microsoft.com/office/drawing/2014/main" id="{80346831-D8C5-4873-A97D-B4B8D53872F7}"/>
              </a:ext>
            </a:extLst>
          </p:cNvPr>
          <p:cNvSpPr>
            <a:spLocks noGrp="1"/>
          </p:cNvSpPr>
          <p:nvPr/>
        </p:nvSpPr>
        <p:spPr>
          <a:xfrm>
            <a:off x="3638550" y="2847975"/>
            <a:ext cx="2762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读取共享定义</a:t>
            </a:r>
          </a:p>
        </p:txBody>
      </p:sp>
      <p:sp>
        <p:nvSpPr>
          <p:cNvPr id="55" name="find-def-body">
            <a:extLst>
              <a:ext uri="{FF2B5EF4-FFF2-40B4-BE49-F238E27FC236}">
                <a16:creationId xmlns:a16="http://schemas.microsoft.com/office/drawing/2014/main" id="{3499629E-889F-46B4-B861-B21C8FB0A891}"/>
              </a:ext>
            </a:extLst>
          </p:cNvPr>
          <p:cNvSpPr>
            <a:spLocks noGrp="1"/>
          </p:cNvSpPr>
          <p:nvPr/>
        </p:nvSpPr>
        <p:spPr>
          <a:xfrm>
            <a:off x="3657600" y="3209925"/>
            <a:ext cx="27241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业务口径＋参数化 SQL</a:t>
            </a:r>
          </a:p>
        </p:txBody>
      </p:sp>
      <p:sp>
        <p:nvSpPr>
          <p:cNvPr id="56" name="current-exec">
            <a:extLst>
              <a:ext uri="{FF2B5EF4-FFF2-40B4-BE49-F238E27FC236}">
                <a16:creationId xmlns:a16="http://schemas.microsoft.com/office/drawing/2014/main" id="{5A1719B8-D11F-4D98-B9B4-F6AC70475BD6}"/>
              </a:ext>
            </a:extLst>
          </p:cNvPr>
          <p:cNvSpPr>
            <a:spLocks noGrp="1"/>
          </p:cNvSpPr>
          <p:nvPr/>
        </p:nvSpPr>
        <p:spPr>
          <a:xfrm>
            <a:off x="7086600" y="2762250"/>
            <a:ext cx="4381500" cy="1219200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current-exec-head">
            <a:extLst>
              <a:ext uri="{FF2B5EF4-FFF2-40B4-BE49-F238E27FC236}">
                <a16:creationId xmlns:a16="http://schemas.microsoft.com/office/drawing/2014/main" id="{DA5AEB61-B0CE-4532-B8F3-5C3F0D9CBDDA}"/>
              </a:ext>
            </a:extLst>
          </p:cNvPr>
          <p:cNvSpPr>
            <a:spLocks noGrp="1"/>
          </p:cNvSpPr>
          <p:nvPr/>
        </p:nvSpPr>
        <p:spPr>
          <a:xfrm>
            <a:off x="7181850" y="2847975"/>
            <a:ext cx="4191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在当前数据上执行</a:t>
            </a:r>
          </a:p>
        </p:txBody>
      </p:sp>
      <p:sp>
        <p:nvSpPr>
          <p:cNvPr id="58" name="current-exec-body">
            <a:extLst>
              <a:ext uri="{FF2B5EF4-FFF2-40B4-BE49-F238E27FC236}">
                <a16:creationId xmlns:a16="http://schemas.microsoft.com/office/drawing/2014/main" id="{EDB18A2C-4BD1-4DB8-88FE-998A6F99B34C}"/>
              </a:ext>
            </a:extLst>
          </p:cNvPr>
          <p:cNvSpPr>
            <a:spLocks noGrp="1"/>
          </p:cNvSpPr>
          <p:nvPr/>
        </p:nvSpPr>
        <p:spPr>
          <a:xfrm>
            <a:off x="7200900" y="3209925"/>
            <a:ext cx="41529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月份参数换成 10 月</a:t>
            </a: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8F54ABD6-A7ED-4E33-88EF-3D39651A4D41}"/>
              </a:ext>
            </a:extLst>
          </p:cNvPr>
          <p:cNvCxnSpPr>
            <a:stCxn id="50" idx="3"/>
            <a:endCxn id="53" idx="1"/>
          </p:cNvCxnSpPr>
          <p:nvPr/>
        </p:nvCxnSpPr>
        <p:spPr>
          <a:xfrm>
            <a:off x="3076575" y="3371850"/>
            <a:ext cx="466725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AC060674-4AC0-4872-91B8-58C8C078C371}"/>
              </a:ext>
            </a:extLst>
          </p:cNvPr>
          <p:cNvCxnSpPr>
            <a:stCxn id="53" idx="3"/>
            <a:endCxn id="56" idx="1"/>
          </p:cNvCxnSpPr>
          <p:nvPr/>
        </p:nvCxnSpPr>
        <p:spPr>
          <a:xfrm>
            <a:off x="6496050" y="3371850"/>
            <a:ext cx="59055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61" name="takeaway-band">
            <a:extLst>
              <a:ext uri="{FF2B5EF4-FFF2-40B4-BE49-F238E27FC236}">
                <a16:creationId xmlns:a16="http://schemas.microsoft.com/office/drawing/2014/main" id="{0061E89D-8E4B-44B2-8052-353FD2D2C69E}"/>
              </a:ext>
            </a:extLst>
          </p:cNvPr>
          <p:cNvSpPr>
            <a:spLocks noGrp="1"/>
          </p:cNvSpPr>
          <p:nvPr/>
        </p:nvSpPr>
        <p:spPr>
          <a:xfrm>
            <a:off x="714375" y="5133975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akeaway">
            <a:extLst>
              <a:ext uri="{FF2B5EF4-FFF2-40B4-BE49-F238E27FC236}">
                <a16:creationId xmlns:a16="http://schemas.microsoft.com/office/drawing/2014/main" id="{EA6D2577-4969-4976-BE87-6951BF418B0F}"/>
              </a:ext>
            </a:extLst>
          </p:cNvPr>
          <p:cNvSpPr>
            <a:spLocks noGrp="1"/>
          </p:cNvSpPr>
          <p:nvPr/>
        </p:nvSpPr>
        <p:spPr>
          <a:xfrm>
            <a:off x="866775" y="5191125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复用计算定义，每次查询仍读取当前数据</a:t>
            </a:r>
          </a:p>
        </p:txBody>
      </p:sp>
      <p:sp>
        <p:nvSpPr>
          <p:cNvPr id="63" name="source-note">
            <a:extLst>
              <a:ext uri="{FF2B5EF4-FFF2-40B4-BE49-F238E27FC236}">
                <a16:creationId xmlns:a16="http://schemas.microsoft.com/office/drawing/2014/main" id="{FBF36534-44B3-409A-8791-B37A6006933D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退货示意例子。使用时需声明依赖的指标版本，并检查该版本的前提。</a:t>
            </a:r>
          </a:p>
        </p:txBody>
      </p:sp>
      <p:sp>
        <p:nvSpPr>
          <p:cNvPr id="64" name="MAVRA-footer">
            <a:extLst>
              <a:ext uri="{FF2B5EF4-FFF2-40B4-BE49-F238E27FC236}">
                <a16:creationId xmlns:a16="http://schemas.microsoft.com/office/drawing/2014/main" id="{D90FFF55-28CE-4684-ACDD-3CA3442560F5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B769540D-64F8-4FE8-BFCC-9D931F634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数据变化：同一笔退货出现了两种状态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8C630A04-5A25-9E0C-9436-126091DB86B3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graphicFrame>
        <p:nvGraphicFramePr>
          <p:cNvPr id="49" name="after-update">
            <a:extLst>
              <a:ext uri="{FF2B5EF4-FFF2-40B4-BE49-F238E27FC236}">
                <a16:creationId xmlns:a16="http://schemas.microsoft.com/office/drawing/2014/main" id="{F63EDF51-0B0D-480E-BB33-B45FDD5C2532}"/>
              </a:ext>
            </a:extLst>
          </p:cNvPr>
          <p:cNvGraphicFramePr/>
          <p:nvPr/>
        </p:nvGraphicFramePr>
        <p:xfrm>
          <a:off x="685800" y="1876425"/>
          <a:ext cx="6191250" cy="35242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退货键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金额（元）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 / A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 /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申请中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R02 / B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R02 /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申请中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R03 / C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" name="bad-label">
            <a:extLst>
              <a:ext uri="{FF2B5EF4-FFF2-40B4-BE49-F238E27FC236}">
                <a16:creationId xmlns:a16="http://schemas.microsoft.com/office/drawing/2014/main" id="{59CAA58B-C4C1-4A31-B017-39FD674239D1}"/>
              </a:ext>
            </a:extLst>
          </p:cNvPr>
          <p:cNvSpPr>
            <a:spLocks noGrp="1"/>
          </p:cNvSpPr>
          <p:nvPr/>
        </p:nvSpPr>
        <p:spPr>
          <a:xfrm>
            <a:off x="7543800" y="2085975"/>
            <a:ext cx="39433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继续使用原 SQL</a:t>
            </a:r>
          </a:p>
        </p:txBody>
      </p:sp>
      <p:sp>
        <p:nvSpPr>
          <p:cNvPr id="51" name="bad-value">
            <a:extLst>
              <a:ext uri="{FF2B5EF4-FFF2-40B4-BE49-F238E27FC236}">
                <a16:creationId xmlns:a16="http://schemas.microsoft.com/office/drawing/2014/main" id="{7A40DFB2-5FDD-41CC-8C7C-315BBBAB60C2}"/>
              </a:ext>
            </a:extLst>
          </p:cNvPr>
          <p:cNvSpPr>
            <a:spLocks noGrp="1"/>
          </p:cNvSpPr>
          <p:nvPr/>
        </p:nvSpPr>
        <p:spPr>
          <a:xfrm>
            <a:off x="7543800" y="2638425"/>
            <a:ext cx="39433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4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4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4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900 元</a:t>
            </a:r>
          </a:p>
        </p:txBody>
      </p:sp>
      <p:sp>
        <p:nvSpPr>
          <p:cNvPr id="52" name="good-result">
            <a:extLst>
              <a:ext uri="{FF2B5EF4-FFF2-40B4-BE49-F238E27FC236}">
                <a16:creationId xmlns:a16="http://schemas.microsoft.com/office/drawing/2014/main" id="{F023951A-42E5-435C-990C-24A2E22CA4D8}"/>
              </a:ext>
            </a:extLst>
          </p:cNvPr>
          <p:cNvSpPr>
            <a:spLocks noGrp="1"/>
          </p:cNvSpPr>
          <p:nvPr/>
        </p:nvSpPr>
        <p:spPr>
          <a:xfrm>
            <a:off x="7543800" y="3810000"/>
            <a:ext cx="39433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正确结果仍为 600 元</a:t>
            </a:r>
          </a:p>
        </p:txBody>
      </p:sp>
      <p:sp>
        <p:nvSpPr>
          <p:cNvPr id="53" name="reason">
            <a:extLst>
              <a:ext uri="{FF2B5EF4-FFF2-40B4-BE49-F238E27FC236}">
                <a16:creationId xmlns:a16="http://schemas.microsoft.com/office/drawing/2014/main" id="{00E9DD5C-3096-4F9A-8EA3-45B2A3CE89A0}"/>
              </a:ext>
            </a:extLst>
          </p:cNvPr>
          <p:cNvSpPr>
            <a:spLocks noGrp="1"/>
          </p:cNvSpPr>
          <p:nvPr/>
        </p:nvSpPr>
        <p:spPr>
          <a:xfrm>
            <a:off x="7543800" y="4629150"/>
            <a:ext cx="39433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申请中记录重复计入金额</a:t>
            </a:r>
          </a:p>
          <a:p>
            <a:pPr algn="l">
              <a:buNone/>
              <a:def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表结构和 SQL 都没有报错</a:t>
            </a:r>
          </a:p>
        </p:txBody>
      </p:sp>
      <p:sp>
        <p:nvSpPr>
          <p:cNvPr id="54" name="source-caveat">
            <a:extLst>
              <a:ext uri="{FF2B5EF4-FFF2-40B4-BE49-F238E27FC236}">
                <a16:creationId xmlns:a16="http://schemas.microsoft.com/office/drawing/2014/main" id="{8B49016E-3EED-4EE8-BBF9-26913D5A3D93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讲解示例：新增了两条“申请中”记录，已完成的三笔退货没有变化。</a:t>
            </a:r>
          </a:p>
        </p:txBody>
      </p:sp>
      <p:sp>
        <p:nvSpPr>
          <p:cNvPr id="55" name="MAVRA-footer">
            <a:extLst>
              <a:ext uri="{FF2B5EF4-FFF2-40B4-BE49-F238E27FC236}">
                <a16:creationId xmlns:a16="http://schemas.microsoft.com/office/drawing/2014/main" id="{8A126AD6-C2D8-47CA-8DA8-383C3FC43567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9783AD98-F3DA-48BB-A804-986AC4D36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发布：一道学习题变成共享的指标定义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D3D7D1C8-AE23-AA48-DF65-C742588DBE47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9" name="MAVRA-footer">
            <a:extLst>
              <a:ext uri="{FF2B5EF4-FFF2-40B4-BE49-F238E27FC236}">
                <a16:creationId xmlns:a16="http://schemas.microsoft.com/office/drawing/2014/main" id="{B5286698-8773-4CFD-860B-2E1FF2DE92AC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C44A5F20-F135-4140-B9B2-20CEE13A78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07"/>
          <a:stretch/>
        </p:blipFill>
        <p:spPr>
          <a:xfrm>
            <a:off x="428625" y="1419225"/>
            <a:ext cx="11334750" cy="4672706"/>
          </a:xfrm>
          <a:prstGeom prst="rect">
            <a:avLst/>
          </a:prstGeom>
        </p:spPr>
      </p:pic>
      <p:sp>
        <p:nvSpPr>
          <p:cNvPr id="91" name="original-figure-caption">
            <a:extLst>
              <a:ext uri="{FF2B5EF4-FFF2-40B4-BE49-F238E27FC236}">
                <a16:creationId xmlns:a16="http://schemas.microsoft.com/office/drawing/2014/main" id="{3CE1CA71-7707-4DDE-8A76-87D3215EC3CB}"/>
              </a:ext>
            </a:extLst>
          </p:cNvPr>
          <p:cNvSpPr>
            <a:spLocks noGrp="1"/>
          </p:cNvSpPr>
          <p:nvPr/>
        </p:nvSpPr>
        <p:spPr>
          <a:xfrm>
            <a:off x="685800" y="6134100"/>
            <a:ext cx="91630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原图中的 r1 是查询结果编号；v1 是指标定义版本。工具调用与发布检查分别见第 4、9 页。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AFF54BC3-FE84-4D0A-B174-B9BFD1790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共享记忆：一条“门店营业额”定义保存什么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BA58DA2A-B818-18A9-29C1-B697728D5BCE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3" name="MAVRA-footer">
            <a:extLst>
              <a:ext uri="{FF2B5EF4-FFF2-40B4-BE49-F238E27FC236}">
                <a16:creationId xmlns:a16="http://schemas.microsoft.com/office/drawing/2014/main" id="{9511920B-8F21-4241-B133-0010B56BB3C8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  <p:graphicFrame>
        <p:nvGraphicFramePr>
          <p:cNvPr id="54" name="revenue-definition-record">
            <a:extLst>
              <a:ext uri="{FF2B5EF4-FFF2-40B4-BE49-F238E27FC236}">
                <a16:creationId xmlns:a16="http://schemas.microsoft.com/office/drawing/2014/main" id="{DD6767CD-6EA5-472A-91E9-45D49B7B59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9111078"/>
              </p:ext>
            </p:extLst>
          </p:nvPr>
        </p:nvGraphicFramePr>
        <p:xfrm>
          <a:off x="714375" y="1914525"/>
          <a:ext cx="10763250" cy="3268980"/>
        </p:xfrm>
        <a:graphic>
          <a:graphicData uri="http://schemas.openxmlformats.org/drawingml/2006/table">
            <a:tbl>
              <a:tblPr/>
              <a:tblGrid>
                <a:gridCol w="351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4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5795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共享层保存什么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真实运行中的门店营业额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业务含义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净支付额之和，按销售日期归属期间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计算结构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SUM(ss_net_paid)，年、月作为参数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业务键与前提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日期键、小票号、商品键；主键唯一等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79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版本与证据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 dirty="0" err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发布</a:t>
                      </a:r>
                      <a:r>
                        <a:rPr lang="zh-CN" altLang="en-US" sz="1950" b="0" dirty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第一版后生成</a:t>
                      </a:r>
                      <a:r>
                        <a:rPr sz="1950" b="0" dirty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v1，优化</a:t>
                      </a:r>
                      <a:r>
                        <a:rPr lang="zh-CN" altLang="en-US" sz="1950" b="0" dirty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一般后变更成</a:t>
                      </a:r>
                      <a:r>
                        <a:rPr sz="1950" b="0" dirty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v2，修复</a:t>
                      </a:r>
                      <a:r>
                        <a:rPr lang="zh-CN" altLang="en-US" sz="1950" b="0" dirty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之后变成</a:t>
                      </a:r>
                      <a:r>
                        <a:rPr sz="1950" b="0" dirty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v3保留证据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" name="model-takeaway">
            <a:extLst>
              <a:ext uri="{FF2B5EF4-FFF2-40B4-BE49-F238E27FC236}">
                <a16:creationId xmlns:a16="http://schemas.microsoft.com/office/drawing/2014/main" id="{E76AD212-270D-45BD-AB80-1AA8EBB0D31B}"/>
              </a:ext>
            </a:extLst>
          </p:cNvPr>
          <p:cNvSpPr>
            <a:spLocks noGrp="1"/>
          </p:cNvSpPr>
          <p:nvPr/>
        </p:nvSpPr>
        <p:spPr>
          <a:xfrm>
            <a:off x="771525" y="5438775"/>
            <a:ext cx="10648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定义与前提一起保存，前提检查由 MAVRA 执行</a:t>
            </a:r>
          </a:p>
        </p:txBody>
      </p:sp>
      <p:sp>
        <p:nvSpPr>
          <p:cNvPr id="56" name="model-footnote">
            <a:extLst>
              <a:ext uri="{FF2B5EF4-FFF2-40B4-BE49-F238E27FC236}">
                <a16:creationId xmlns:a16="http://schemas.microsoft.com/office/drawing/2014/main" id="{639E19FD-D129-4926-980D-0CE354800A85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4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用户 Agent 读到定义和注意事项；完整前提、校验结果与学习证据由 MAVRA 保管。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FDDA3B6A-1EF1-4280-A4DC-A4A525B6A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真实运行：发布 v1 前的 7 项校验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388657AE-30A1-5A7A-6A7F-315D84436430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24384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9" name="gate-row-0">
            <a:extLst>
              <a:ext uri="{FF2B5EF4-FFF2-40B4-BE49-F238E27FC236}">
                <a16:creationId xmlns:a16="http://schemas.microsoft.com/office/drawing/2014/main" id="{3C0A543F-7EA5-486E-9E13-C6CCFC3E6CFD}"/>
              </a:ext>
            </a:extLst>
          </p:cNvPr>
          <p:cNvSpPr>
            <a:spLocks noGrp="1"/>
          </p:cNvSpPr>
          <p:nvPr/>
        </p:nvSpPr>
        <p:spPr>
          <a:xfrm>
            <a:off x="714375" y="1714500"/>
            <a:ext cx="10763250" cy="447675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gate-n-0">
            <a:extLst>
              <a:ext uri="{FF2B5EF4-FFF2-40B4-BE49-F238E27FC236}">
                <a16:creationId xmlns:a16="http://schemas.microsoft.com/office/drawing/2014/main" id="{1AF8F643-981F-45D4-A884-350CD32DD1D1}"/>
              </a:ext>
            </a:extLst>
          </p:cNvPr>
          <p:cNvSpPr>
            <a:spLocks noGrp="1"/>
          </p:cNvSpPr>
          <p:nvPr/>
        </p:nvSpPr>
        <p:spPr>
          <a:xfrm>
            <a:off x="847725" y="1752600"/>
            <a:ext cx="381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gate-name-0">
            <a:extLst>
              <a:ext uri="{FF2B5EF4-FFF2-40B4-BE49-F238E27FC236}">
                <a16:creationId xmlns:a16="http://schemas.microsoft.com/office/drawing/2014/main" id="{C0877110-823A-4712-9B75-0DD2C5C17F3C}"/>
              </a:ext>
            </a:extLst>
          </p:cNvPr>
          <p:cNvSpPr>
            <a:spLocks noGrp="1"/>
          </p:cNvSpPr>
          <p:nvPr/>
        </p:nvSpPr>
        <p:spPr>
          <a:xfrm>
            <a:off x="1438275" y="1752600"/>
            <a:ext cx="3324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业务依据</a:t>
            </a:r>
          </a:p>
        </p:txBody>
      </p:sp>
      <p:sp>
        <p:nvSpPr>
          <p:cNvPr id="52" name="gate-detail-0">
            <a:extLst>
              <a:ext uri="{FF2B5EF4-FFF2-40B4-BE49-F238E27FC236}">
                <a16:creationId xmlns:a16="http://schemas.microsoft.com/office/drawing/2014/main" id="{DF32877C-A25A-4378-9014-FB995C2D4374}"/>
              </a:ext>
            </a:extLst>
          </p:cNvPr>
          <p:cNvSpPr>
            <a:spLocks noGrp="1"/>
          </p:cNvSpPr>
          <p:nvPr/>
        </p:nvSpPr>
        <p:spPr>
          <a:xfrm>
            <a:off x="4886325" y="1752600"/>
            <a:ext cx="6096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学习题明确营业额口径</a:t>
            </a:r>
          </a:p>
        </p:txBody>
      </p:sp>
      <p:sp>
        <p:nvSpPr>
          <p:cNvPr id="53" name="gate-ok-0">
            <a:extLst>
              <a:ext uri="{FF2B5EF4-FFF2-40B4-BE49-F238E27FC236}">
                <a16:creationId xmlns:a16="http://schemas.microsoft.com/office/drawing/2014/main" id="{900BA097-7777-45F2-90E9-58CAE69BF691}"/>
              </a:ext>
            </a:extLst>
          </p:cNvPr>
          <p:cNvSpPr>
            <a:spLocks noGrp="1"/>
          </p:cNvSpPr>
          <p:nvPr/>
        </p:nvSpPr>
        <p:spPr>
          <a:xfrm>
            <a:off x="11077575" y="1752600"/>
            <a:ext cx="285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54" name="gate-n-1">
            <a:extLst>
              <a:ext uri="{FF2B5EF4-FFF2-40B4-BE49-F238E27FC236}">
                <a16:creationId xmlns:a16="http://schemas.microsoft.com/office/drawing/2014/main" id="{5D5EB545-BB9F-4797-86CD-3BA9B896A0D0}"/>
              </a:ext>
            </a:extLst>
          </p:cNvPr>
          <p:cNvSpPr>
            <a:spLocks noGrp="1"/>
          </p:cNvSpPr>
          <p:nvPr/>
        </p:nvSpPr>
        <p:spPr>
          <a:xfrm>
            <a:off x="847725" y="2257425"/>
            <a:ext cx="381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5" name="gate-name-1">
            <a:extLst>
              <a:ext uri="{FF2B5EF4-FFF2-40B4-BE49-F238E27FC236}">
                <a16:creationId xmlns:a16="http://schemas.microsoft.com/office/drawing/2014/main" id="{685B9494-ED1C-4501-B4FF-8F0D5A92329E}"/>
              </a:ext>
            </a:extLst>
          </p:cNvPr>
          <p:cNvSpPr>
            <a:spLocks noGrp="1"/>
          </p:cNvSpPr>
          <p:nvPr/>
        </p:nvSpPr>
        <p:spPr>
          <a:xfrm>
            <a:off x="1438275" y="2257425"/>
            <a:ext cx="3324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答案正确且可复现</a:t>
            </a:r>
          </a:p>
        </p:txBody>
      </p:sp>
      <p:sp>
        <p:nvSpPr>
          <p:cNvPr id="56" name="gate-detail-1">
            <a:extLst>
              <a:ext uri="{FF2B5EF4-FFF2-40B4-BE49-F238E27FC236}">
                <a16:creationId xmlns:a16="http://schemas.microsoft.com/office/drawing/2014/main" id="{BBD6D507-044B-41F8-A721-79282D6446AF}"/>
              </a:ext>
            </a:extLst>
          </p:cNvPr>
          <p:cNvSpPr>
            <a:spLocks noGrp="1"/>
          </p:cNvSpPr>
          <p:nvPr/>
        </p:nvSpPr>
        <p:spPr>
          <a:xfrm>
            <a:off x="4886325" y="2257425"/>
            <a:ext cx="6096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独立判题正确，答案推导可复现</a:t>
            </a:r>
          </a:p>
        </p:txBody>
      </p:sp>
      <p:sp>
        <p:nvSpPr>
          <p:cNvPr id="57" name="gate-ok-1">
            <a:extLst>
              <a:ext uri="{FF2B5EF4-FFF2-40B4-BE49-F238E27FC236}">
                <a16:creationId xmlns:a16="http://schemas.microsoft.com/office/drawing/2014/main" id="{EA57FE4E-9128-47D7-83E9-CE48A7276708}"/>
              </a:ext>
            </a:extLst>
          </p:cNvPr>
          <p:cNvSpPr>
            <a:spLocks noGrp="1"/>
          </p:cNvSpPr>
          <p:nvPr/>
        </p:nvSpPr>
        <p:spPr>
          <a:xfrm>
            <a:off x="11077575" y="2257425"/>
            <a:ext cx="285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58" name="gate-row-2">
            <a:extLst>
              <a:ext uri="{FF2B5EF4-FFF2-40B4-BE49-F238E27FC236}">
                <a16:creationId xmlns:a16="http://schemas.microsoft.com/office/drawing/2014/main" id="{2E12C9E6-3BFB-4080-842E-A7427975B2CA}"/>
              </a:ext>
            </a:extLst>
          </p:cNvPr>
          <p:cNvSpPr>
            <a:spLocks noGrp="1"/>
          </p:cNvSpPr>
          <p:nvPr/>
        </p:nvSpPr>
        <p:spPr>
          <a:xfrm>
            <a:off x="714375" y="2724150"/>
            <a:ext cx="10763250" cy="447675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gate-n-2">
            <a:extLst>
              <a:ext uri="{FF2B5EF4-FFF2-40B4-BE49-F238E27FC236}">
                <a16:creationId xmlns:a16="http://schemas.microsoft.com/office/drawing/2014/main" id="{FD805328-37B3-41B9-8253-7F49A3FBF987}"/>
              </a:ext>
            </a:extLst>
          </p:cNvPr>
          <p:cNvSpPr>
            <a:spLocks noGrp="1"/>
          </p:cNvSpPr>
          <p:nvPr/>
        </p:nvSpPr>
        <p:spPr>
          <a:xfrm>
            <a:off x="847725" y="2762250"/>
            <a:ext cx="381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0" name="gate-name-2">
            <a:extLst>
              <a:ext uri="{FF2B5EF4-FFF2-40B4-BE49-F238E27FC236}">
                <a16:creationId xmlns:a16="http://schemas.microsoft.com/office/drawing/2014/main" id="{35D6B3BB-74B7-41EB-A9AE-915075C42663}"/>
              </a:ext>
            </a:extLst>
          </p:cNvPr>
          <p:cNvSpPr>
            <a:spLocks noGrp="1"/>
          </p:cNvSpPr>
          <p:nvPr/>
        </p:nvSpPr>
        <p:spPr>
          <a:xfrm>
            <a:off x="1438275" y="2762250"/>
            <a:ext cx="3324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静态检查</a:t>
            </a:r>
          </a:p>
        </p:txBody>
      </p:sp>
      <p:sp>
        <p:nvSpPr>
          <p:cNvPr id="61" name="gate-detail-2">
            <a:extLst>
              <a:ext uri="{FF2B5EF4-FFF2-40B4-BE49-F238E27FC236}">
                <a16:creationId xmlns:a16="http://schemas.microsoft.com/office/drawing/2014/main" id="{C9C1239D-FA84-42D6-8E1F-AAAFF53A999E}"/>
              </a:ext>
            </a:extLst>
          </p:cNvPr>
          <p:cNvSpPr>
            <a:spLocks noGrp="1"/>
          </p:cNvSpPr>
          <p:nvPr/>
        </p:nvSpPr>
        <p:spPr>
          <a:xfrm>
            <a:off x="4886325" y="2762250"/>
            <a:ext cx="6096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表列存在，关联有效，过滤不含题目参数</a:t>
            </a:r>
          </a:p>
        </p:txBody>
      </p:sp>
      <p:sp>
        <p:nvSpPr>
          <p:cNvPr id="62" name="gate-ok-2">
            <a:extLst>
              <a:ext uri="{FF2B5EF4-FFF2-40B4-BE49-F238E27FC236}">
                <a16:creationId xmlns:a16="http://schemas.microsoft.com/office/drawing/2014/main" id="{FC3BD430-1C4C-400A-862B-8493C10D0A07}"/>
              </a:ext>
            </a:extLst>
          </p:cNvPr>
          <p:cNvSpPr>
            <a:spLocks noGrp="1"/>
          </p:cNvSpPr>
          <p:nvPr/>
        </p:nvSpPr>
        <p:spPr>
          <a:xfrm>
            <a:off x="11077575" y="2762250"/>
            <a:ext cx="285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63" name="gate-n-3">
            <a:extLst>
              <a:ext uri="{FF2B5EF4-FFF2-40B4-BE49-F238E27FC236}">
                <a16:creationId xmlns:a16="http://schemas.microsoft.com/office/drawing/2014/main" id="{484818D3-9929-4675-BD05-447B7C2142F6}"/>
              </a:ext>
            </a:extLst>
          </p:cNvPr>
          <p:cNvSpPr>
            <a:spLocks noGrp="1"/>
          </p:cNvSpPr>
          <p:nvPr/>
        </p:nvSpPr>
        <p:spPr>
          <a:xfrm>
            <a:off x="847725" y="3267075"/>
            <a:ext cx="381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4" name="gate-name-3">
            <a:extLst>
              <a:ext uri="{FF2B5EF4-FFF2-40B4-BE49-F238E27FC236}">
                <a16:creationId xmlns:a16="http://schemas.microsoft.com/office/drawing/2014/main" id="{AD1D432E-D167-44A9-8874-F0C14535CEDF}"/>
              </a:ext>
            </a:extLst>
          </p:cNvPr>
          <p:cNvSpPr>
            <a:spLocks noGrp="1"/>
          </p:cNvSpPr>
          <p:nvPr/>
        </p:nvSpPr>
        <p:spPr>
          <a:xfrm>
            <a:off x="1438275" y="3267075"/>
            <a:ext cx="3324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当前数据上主键唯一</a:t>
            </a:r>
          </a:p>
        </p:txBody>
      </p:sp>
      <p:sp>
        <p:nvSpPr>
          <p:cNvPr id="65" name="gate-detail-3">
            <a:extLst>
              <a:ext uri="{FF2B5EF4-FFF2-40B4-BE49-F238E27FC236}">
                <a16:creationId xmlns:a16="http://schemas.microsoft.com/office/drawing/2014/main" id="{44E07479-DB74-476C-B464-3BA35AF84869}"/>
              </a:ext>
            </a:extLst>
          </p:cNvPr>
          <p:cNvSpPr>
            <a:spLocks noGrp="1"/>
          </p:cNvSpPr>
          <p:nvPr/>
        </p:nvSpPr>
        <p:spPr>
          <a:xfrm>
            <a:off x="4886325" y="3267075"/>
            <a:ext cx="6096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989,695 行＝989,695 个键</a:t>
            </a:r>
          </a:p>
        </p:txBody>
      </p:sp>
      <p:sp>
        <p:nvSpPr>
          <p:cNvPr id="66" name="gate-ok-3">
            <a:extLst>
              <a:ext uri="{FF2B5EF4-FFF2-40B4-BE49-F238E27FC236}">
                <a16:creationId xmlns:a16="http://schemas.microsoft.com/office/drawing/2014/main" id="{FBB6EDA2-25A2-4BF5-B366-7F248F081620}"/>
              </a:ext>
            </a:extLst>
          </p:cNvPr>
          <p:cNvSpPr>
            <a:spLocks noGrp="1"/>
          </p:cNvSpPr>
          <p:nvPr/>
        </p:nvSpPr>
        <p:spPr>
          <a:xfrm>
            <a:off x="11077575" y="3267075"/>
            <a:ext cx="285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67" name="gate-row-4">
            <a:extLst>
              <a:ext uri="{FF2B5EF4-FFF2-40B4-BE49-F238E27FC236}">
                <a16:creationId xmlns:a16="http://schemas.microsoft.com/office/drawing/2014/main" id="{CD296655-E19D-4AD2-B220-29E17C125817}"/>
              </a:ext>
            </a:extLst>
          </p:cNvPr>
          <p:cNvSpPr>
            <a:spLocks noGrp="1"/>
          </p:cNvSpPr>
          <p:nvPr/>
        </p:nvSpPr>
        <p:spPr>
          <a:xfrm>
            <a:off x="714375" y="3733800"/>
            <a:ext cx="10763250" cy="447675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gate-n-4">
            <a:extLst>
              <a:ext uri="{FF2B5EF4-FFF2-40B4-BE49-F238E27FC236}">
                <a16:creationId xmlns:a16="http://schemas.microsoft.com/office/drawing/2014/main" id="{445156E6-08CF-40F7-814B-5648EAF5D318}"/>
              </a:ext>
            </a:extLst>
          </p:cNvPr>
          <p:cNvSpPr>
            <a:spLocks noGrp="1"/>
          </p:cNvSpPr>
          <p:nvPr/>
        </p:nvSpPr>
        <p:spPr>
          <a:xfrm>
            <a:off x="847725" y="3771900"/>
            <a:ext cx="381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69" name="gate-name-4">
            <a:extLst>
              <a:ext uri="{FF2B5EF4-FFF2-40B4-BE49-F238E27FC236}">
                <a16:creationId xmlns:a16="http://schemas.microsoft.com/office/drawing/2014/main" id="{2202EEA3-3ECC-4DBA-9653-9B528C28FC9C}"/>
              </a:ext>
            </a:extLst>
          </p:cNvPr>
          <p:cNvSpPr>
            <a:spLocks noGrp="1"/>
          </p:cNvSpPr>
          <p:nvPr/>
        </p:nvSpPr>
        <p:spPr>
          <a:xfrm>
            <a:off x="1438275" y="3771900"/>
            <a:ext cx="3324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SQL 审查</a:t>
            </a:r>
          </a:p>
        </p:txBody>
      </p:sp>
      <p:sp>
        <p:nvSpPr>
          <p:cNvPr id="70" name="gate-detail-4">
            <a:extLst>
              <a:ext uri="{FF2B5EF4-FFF2-40B4-BE49-F238E27FC236}">
                <a16:creationId xmlns:a16="http://schemas.microsoft.com/office/drawing/2014/main" id="{201F9816-451D-4D63-8942-F7BC2B4476A9}"/>
              </a:ext>
            </a:extLst>
          </p:cNvPr>
          <p:cNvSpPr>
            <a:spLocks noGrp="1"/>
          </p:cNvSpPr>
          <p:nvPr/>
        </p:nvSpPr>
        <p:spPr>
          <a:xfrm>
            <a:off x="4886325" y="3771900"/>
            <a:ext cx="6096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单条只读查询</a:t>
            </a:r>
          </a:p>
        </p:txBody>
      </p:sp>
      <p:sp>
        <p:nvSpPr>
          <p:cNvPr id="71" name="gate-ok-4">
            <a:extLst>
              <a:ext uri="{FF2B5EF4-FFF2-40B4-BE49-F238E27FC236}">
                <a16:creationId xmlns:a16="http://schemas.microsoft.com/office/drawing/2014/main" id="{87C04F82-F43E-41ED-962A-B7A6DBF4B00B}"/>
              </a:ext>
            </a:extLst>
          </p:cNvPr>
          <p:cNvSpPr>
            <a:spLocks noGrp="1"/>
          </p:cNvSpPr>
          <p:nvPr/>
        </p:nvSpPr>
        <p:spPr>
          <a:xfrm>
            <a:off x="11077575" y="3771900"/>
            <a:ext cx="285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72" name="gate-n-5">
            <a:extLst>
              <a:ext uri="{FF2B5EF4-FFF2-40B4-BE49-F238E27FC236}">
                <a16:creationId xmlns:a16="http://schemas.microsoft.com/office/drawing/2014/main" id="{4F0B631F-4136-46E3-BAD3-26F3EE76FF72}"/>
              </a:ext>
            </a:extLst>
          </p:cNvPr>
          <p:cNvSpPr>
            <a:spLocks noGrp="1"/>
          </p:cNvSpPr>
          <p:nvPr/>
        </p:nvSpPr>
        <p:spPr>
          <a:xfrm>
            <a:off x="847725" y="4276725"/>
            <a:ext cx="381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3" name="gate-name-5">
            <a:extLst>
              <a:ext uri="{FF2B5EF4-FFF2-40B4-BE49-F238E27FC236}">
                <a16:creationId xmlns:a16="http://schemas.microsoft.com/office/drawing/2014/main" id="{9B8B10C9-B57E-41C7-9C74-75EB25ED33AB}"/>
              </a:ext>
            </a:extLst>
          </p:cNvPr>
          <p:cNvSpPr>
            <a:spLocks noGrp="1"/>
          </p:cNvSpPr>
          <p:nvPr/>
        </p:nvSpPr>
        <p:spPr>
          <a:xfrm>
            <a:off x="1438275" y="4276725"/>
            <a:ext cx="3324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示例 SQL 重放</a:t>
            </a:r>
          </a:p>
        </p:txBody>
      </p:sp>
      <p:sp>
        <p:nvSpPr>
          <p:cNvPr id="74" name="gate-detail-5">
            <a:extLst>
              <a:ext uri="{FF2B5EF4-FFF2-40B4-BE49-F238E27FC236}">
                <a16:creationId xmlns:a16="http://schemas.microsoft.com/office/drawing/2014/main" id="{0394B571-8F59-4621-8ACC-BACFC20094A9}"/>
              </a:ext>
            </a:extLst>
          </p:cNvPr>
          <p:cNvSpPr>
            <a:spLocks noGrp="1"/>
          </p:cNvSpPr>
          <p:nvPr/>
        </p:nvSpPr>
        <p:spPr>
          <a:xfrm>
            <a:off x="4886325" y="4276725"/>
            <a:ext cx="6096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13,570,368.70</a:t>
            </a:r>
          </a:p>
        </p:txBody>
      </p:sp>
      <p:sp>
        <p:nvSpPr>
          <p:cNvPr id="75" name="gate-ok-5">
            <a:extLst>
              <a:ext uri="{FF2B5EF4-FFF2-40B4-BE49-F238E27FC236}">
                <a16:creationId xmlns:a16="http://schemas.microsoft.com/office/drawing/2014/main" id="{7DB24065-69C9-4ED3-99D1-F36097C5BA24}"/>
              </a:ext>
            </a:extLst>
          </p:cNvPr>
          <p:cNvSpPr>
            <a:spLocks noGrp="1"/>
          </p:cNvSpPr>
          <p:nvPr/>
        </p:nvSpPr>
        <p:spPr>
          <a:xfrm>
            <a:off x="11077575" y="4276725"/>
            <a:ext cx="285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76" name="gate-row-6">
            <a:extLst>
              <a:ext uri="{FF2B5EF4-FFF2-40B4-BE49-F238E27FC236}">
                <a16:creationId xmlns:a16="http://schemas.microsoft.com/office/drawing/2014/main" id="{F08AF084-F4B7-4B72-AFB3-A65F9E4991CA}"/>
              </a:ext>
            </a:extLst>
          </p:cNvPr>
          <p:cNvSpPr>
            <a:spLocks noGrp="1"/>
          </p:cNvSpPr>
          <p:nvPr/>
        </p:nvSpPr>
        <p:spPr>
          <a:xfrm>
            <a:off x="714375" y="4743450"/>
            <a:ext cx="10763250" cy="447675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gate-n-6">
            <a:extLst>
              <a:ext uri="{FF2B5EF4-FFF2-40B4-BE49-F238E27FC236}">
                <a16:creationId xmlns:a16="http://schemas.microsoft.com/office/drawing/2014/main" id="{6A0B5CC5-0871-49D2-BE2A-4B69603FE8F6}"/>
              </a:ext>
            </a:extLst>
          </p:cNvPr>
          <p:cNvSpPr>
            <a:spLocks noGrp="1"/>
          </p:cNvSpPr>
          <p:nvPr/>
        </p:nvSpPr>
        <p:spPr>
          <a:xfrm>
            <a:off x="847725" y="4781550"/>
            <a:ext cx="381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78" name="gate-name-6">
            <a:extLst>
              <a:ext uri="{FF2B5EF4-FFF2-40B4-BE49-F238E27FC236}">
                <a16:creationId xmlns:a16="http://schemas.microsoft.com/office/drawing/2014/main" id="{606C1A61-23ED-43C3-ABF2-6383BC6F9FA2}"/>
              </a:ext>
            </a:extLst>
          </p:cNvPr>
          <p:cNvSpPr>
            <a:spLocks noGrp="1"/>
          </p:cNvSpPr>
          <p:nvPr/>
        </p:nvSpPr>
        <p:spPr>
          <a:xfrm>
            <a:off x="1438275" y="4781550"/>
            <a:ext cx="33242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规范 SQL 重放</a:t>
            </a:r>
          </a:p>
        </p:txBody>
      </p:sp>
      <p:sp>
        <p:nvSpPr>
          <p:cNvPr id="79" name="gate-detail-6">
            <a:extLst>
              <a:ext uri="{FF2B5EF4-FFF2-40B4-BE49-F238E27FC236}">
                <a16:creationId xmlns:a16="http://schemas.microsoft.com/office/drawing/2014/main" id="{2E5B2F11-A542-4013-9A9B-1BE6EA85BBC8}"/>
              </a:ext>
            </a:extLst>
          </p:cNvPr>
          <p:cNvSpPr>
            <a:spLocks noGrp="1"/>
          </p:cNvSpPr>
          <p:nvPr/>
        </p:nvSpPr>
        <p:spPr>
          <a:xfrm>
            <a:off x="4886325" y="4781550"/>
            <a:ext cx="60960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13,570,368.70</a:t>
            </a:r>
          </a:p>
        </p:txBody>
      </p:sp>
      <p:sp>
        <p:nvSpPr>
          <p:cNvPr id="80" name="gate-ok-6">
            <a:extLst>
              <a:ext uri="{FF2B5EF4-FFF2-40B4-BE49-F238E27FC236}">
                <a16:creationId xmlns:a16="http://schemas.microsoft.com/office/drawing/2014/main" id="{D6CDD96C-E2F0-4347-8C30-B43036CD3ED9}"/>
              </a:ext>
            </a:extLst>
          </p:cNvPr>
          <p:cNvSpPr>
            <a:spLocks noGrp="1"/>
          </p:cNvSpPr>
          <p:nvPr/>
        </p:nvSpPr>
        <p:spPr>
          <a:xfrm>
            <a:off x="11077575" y="4781550"/>
            <a:ext cx="285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A61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81" name="takeaway-band">
            <a:extLst>
              <a:ext uri="{FF2B5EF4-FFF2-40B4-BE49-F238E27FC236}">
                <a16:creationId xmlns:a16="http://schemas.microsoft.com/office/drawing/2014/main" id="{785823B9-F804-4EC1-B0A0-8B339BEB4256}"/>
              </a:ext>
            </a:extLst>
          </p:cNvPr>
          <p:cNvSpPr>
            <a:spLocks noGrp="1"/>
          </p:cNvSpPr>
          <p:nvPr/>
        </p:nvSpPr>
        <p:spPr>
          <a:xfrm>
            <a:off x="714375" y="5467350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takeaway">
            <a:extLst>
              <a:ext uri="{FF2B5EF4-FFF2-40B4-BE49-F238E27FC236}">
                <a16:creationId xmlns:a16="http://schemas.microsoft.com/office/drawing/2014/main" id="{CB19C053-B0EB-4EA6-B69B-CD8A077A9C63}"/>
              </a:ext>
            </a:extLst>
          </p:cNvPr>
          <p:cNvSpPr>
            <a:spLocks noGrp="1"/>
          </p:cNvSpPr>
          <p:nvPr/>
        </p:nvSpPr>
        <p:spPr>
          <a:xfrm>
            <a:off x="866775" y="5524500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7 项全通过，发布 v1；本例共 5 条查询、5.6 秒</a:t>
            </a:r>
          </a:p>
        </p:txBody>
      </p:sp>
      <p:sp>
        <p:nvSpPr>
          <p:cNvPr id="83" name="source-note">
            <a:extLst>
              <a:ext uri="{FF2B5EF4-FFF2-40B4-BE49-F238E27FC236}">
                <a16:creationId xmlns:a16="http://schemas.microsoft.com/office/drawing/2014/main" id="{194854B0-31DC-440D-AC9F-015B6B040FFA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归档运行 M1-L1。规范 SQL 由定义字段编译，重放校验的是其他 Agent 将读到的定义。</a:t>
            </a:r>
          </a:p>
        </p:txBody>
      </p:sp>
      <p:sp>
        <p:nvSpPr>
          <p:cNvPr id="84" name="MAVRA-footer">
            <a:extLst>
              <a:ext uri="{FF2B5EF4-FFF2-40B4-BE49-F238E27FC236}">
                <a16:creationId xmlns:a16="http://schemas.microsoft.com/office/drawing/2014/main" id="{3A187079-AC94-4E96-B955-0B8ED53A7CD5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25C72BD5-A409-4CD2-8932-9969516AE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真实运行：结果不变，日期键范围改写更快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DB7BEEEC-A170-5376-2B6E-CB54687B0CB1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9" name="original-query">
            <a:extLst>
              <a:ext uri="{FF2B5EF4-FFF2-40B4-BE49-F238E27FC236}">
                <a16:creationId xmlns:a16="http://schemas.microsoft.com/office/drawing/2014/main" id="{E3B95795-3809-4661-9178-1965B8EE8B3D}"/>
              </a:ext>
            </a:extLst>
          </p:cNvPr>
          <p:cNvSpPr>
            <a:spLocks noGrp="1"/>
          </p:cNvSpPr>
          <p:nvPr/>
        </p:nvSpPr>
        <p:spPr>
          <a:xfrm>
            <a:off x="723900" y="1838325"/>
            <a:ext cx="4133850" cy="9620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original-query-head">
            <a:extLst>
              <a:ext uri="{FF2B5EF4-FFF2-40B4-BE49-F238E27FC236}">
                <a16:creationId xmlns:a16="http://schemas.microsoft.com/office/drawing/2014/main" id="{6585FFF8-30CD-4B5B-A6DB-9CD98DE0BA1F}"/>
              </a:ext>
            </a:extLst>
          </p:cNvPr>
          <p:cNvSpPr>
            <a:spLocks noGrp="1"/>
          </p:cNvSpPr>
          <p:nvPr/>
        </p:nvSpPr>
        <p:spPr>
          <a:xfrm>
            <a:off x="819150" y="1924050"/>
            <a:ext cx="39433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v1：连接日期表</a:t>
            </a:r>
          </a:p>
        </p:txBody>
      </p:sp>
      <p:sp>
        <p:nvSpPr>
          <p:cNvPr id="51" name="original-query-body">
            <a:extLst>
              <a:ext uri="{FF2B5EF4-FFF2-40B4-BE49-F238E27FC236}">
                <a16:creationId xmlns:a16="http://schemas.microsoft.com/office/drawing/2014/main" id="{91D628D5-0875-4134-BC34-A30FD9BBD120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3905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按年、月筛选销售</a:t>
            </a:r>
          </a:p>
        </p:txBody>
      </p:sp>
      <p:sp>
        <p:nvSpPr>
          <p:cNvPr id="52" name="range-query">
            <a:extLst>
              <a:ext uri="{FF2B5EF4-FFF2-40B4-BE49-F238E27FC236}">
                <a16:creationId xmlns:a16="http://schemas.microsoft.com/office/drawing/2014/main" id="{19D66E76-B909-449D-BF08-DF39EDCF438D}"/>
              </a:ext>
            </a:extLst>
          </p:cNvPr>
          <p:cNvSpPr>
            <a:spLocks noGrp="1"/>
          </p:cNvSpPr>
          <p:nvPr/>
        </p:nvSpPr>
        <p:spPr>
          <a:xfrm>
            <a:off x="7343775" y="1838325"/>
            <a:ext cx="4133850" cy="962025"/>
          </a:xfrm>
          <a:prstGeom prst="rect">
            <a:avLst/>
          </a:prstGeom>
          <a:solidFill>
            <a:srgbClr val="F8EFE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range-query-head">
            <a:extLst>
              <a:ext uri="{FF2B5EF4-FFF2-40B4-BE49-F238E27FC236}">
                <a16:creationId xmlns:a16="http://schemas.microsoft.com/office/drawing/2014/main" id="{DED214F9-0D12-4C81-ADAD-DE925291DA75}"/>
              </a:ext>
            </a:extLst>
          </p:cNvPr>
          <p:cNvSpPr>
            <a:spLocks noGrp="1"/>
          </p:cNvSpPr>
          <p:nvPr/>
        </p:nvSpPr>
        <p:spPr>
          <a:xfrm>
            <a:off x="7439025" y="1924050"/>
            <a:ext cx="39433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v2：日期键范围</a:t>
            </a:r>
          </a:p>
        </p:txBody>
      </p:sp>
      <p:sp>
        <p:nvSpPr>
          <p:cNvPr id="54" name="range-query-body">
            <a:extLst>
              <a:ext uri="{FF2B5EF4-FFF2-40B4-BE49-F238E27FC236}">
                <a16:creationId xmlns:a16="http://schemas.microsoft.com/office/drawing/2014/main" id="{CEBD165C-BD7B-4974-9672-749A649D0D20}"/>
              </a:ext>
            </a:extLst>
          </p:cNvPr>
          <p:cNvSpPr>
            <a:spLocks noGrp="1"/>
          </p:cNvSpPr>
          <p:nvPr/>
        </p:nvSpPr>
        <p:spPr>
          <a:xfrm>
            <a:off x="7458075" y="2286000"/>
            <a:ext cx="3905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使用该月日期键的上下界</a:t>
            </a: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E7A743D6-81B1-430E-BFDA-F332E27272C4}"/>
              </a:ext>
            </a:extLst>
          </p:cNvPr>
          <p:cNvCxnSpPr>
            <a:stCxn id="49" idx="3"/>
            <a:endCxn id="52" idx="1"/>
          </p:cNvCxnSpPr>
          <p:nvPr/>
        </p:nvCxnSpPr>
        <p:spPr>
          <a:xfrm>
            <a:off x="4857750" y="2319338"/>
            <a:ext cx="2486025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56" name="rewrite-rule">
            <a:extLst>
              <a:ext uri="{FF2B5EF4-FFF2-40B4-BE49-F238E27FC236}">
                <a16:creationId xmlns:a16="http://schemas.microsoft.com/office/drawing/2014/main" id="{798C8482-7D36-40B4-9DE2-E10636622B51}"/>
              </a:ext>
            </a:extLst>
          </p:cNvPr>
          <p:cNvSpPr>
            <a:spLocks noGrp="1"/>
          </p:cNvSpPr>
          <p:nvPr/>
        </p:nvSpPr>
        <p:spPr>
          <a:xfrm>
            <a:off x="5314950" y="1924050"/>
            <a:ext cx="1571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规则改写</a:t>
            </a:r>
          </a:p>
        </p:txBody>
      </p:sp>
      <p:sp>
        <p:nvSpPr>
          <p:cNvPr id="57" name="equal-number">
            <a:extLst>
              <a:ext uri="{FF2B5EF4-FFF2-40B4-BE49-F238E27FC236}">
                <a16:creationId xmlns:a16="http://schemas.microsoft.com/office/drawing/2014/main" id="{B99C59C6-8CF7-45E0-87D5-253397C4CB39}"/>
              </a:ext>
            </a:extLst>
          </p:cNvPr>
          <p:cNvSpPr>
            <a:spLocks noGrp="1"/>
          </p:cNvSpPr>
          <p:nvPr/>
        </p:nvSpPr>
        <p:spPr>
          <a:xfrm>
            <a:off x="952500" y="3238500"/>
            <a:ext cx="3857625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4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47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14 / 14</a:t>
            </a:r>
          </a:p>
        </p:txBody>
      </p:sp>
      <p:sp>
        <p:nvSpPr>
          <p:cNvPr id="58" name="equal-label">
            <a:extLst>
              <a:ext uri="{FF2B5EF4-FFF2-40B4-BE49-F238E27FC236}">
                <a16:creationId xmlns:a16="http://schemas.microsoft.com/office/drawing/2014/main" id="{C147F44A-5F9F-4895-95D1-A74B8A630305}"/>
              </a:ext>
            </a:extLst>
          </p:cNvPr>
          <p:cNvSpPr>
            <a:spLocks noGrp="1"/>
          </p:cNvSpPr>
          <p:nvPr/>
        </p:nvSpPr>
        <p:spPr>
          <a:xfrm>
            <a:off x="952500" y="4181475"/>
            <a:ext cx="38576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期间结果全部相同</a:t>
            </a:r>
          </a:p>
        </p:txBody>
      </p:sp>
      <p:sp>
        <p:nvSpPr>
          <p:cNvPr id="59" name="equal-detail">
            <a:extLst>
              <a:ext uri="{FF2B5EF4-FFF2-40B4-BE49-F238E27FC236}">
                <a16:creationId xmlns:a16="http://schemas.microsoft.com/office/drawing/2014/main" id="{5C664BBB-EC44-452C-92A1-02C435CE8DA2}"/>
              </a:ext>
            </a:extLst>
          </p:cNvPr>
          <p:cNvSpPr>
            <a:spLocks noGrp="1"/>
          </p:cNvSpPr>
          <p:nvPr/>
        </p:nvSpPr>
        <p:spPr>
          <a:xfrm>
            <a:off x="781050" y="4676775"/>
            <a:ext cx="42291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7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12 个月、一季度、一次差值</a:t>
            </a:r>
          </a:p>
        </p:txBody>
      </p:sp>
      <p:sp>
        <p:nvSpPr>
          <p:cNvPr id="60" name="timing">
            <a:extLst>
              <a:ext uri="{FF2B5EF4-FFF2-40B4-BE49-F238E27FC236}">
                <a16:creationId xmlns:a16="http://schemas.microsoft.com/office/drawing/2014/main" id="{9222E8E0-D9E6-469B-AAB4-39B3975AA59C}"/>
              </a:ext>
            </a:extLst>
          </p:cNvPr>
          <p:cNvSpPr>
            <a:spLocks noGrp="1"/>
          </p:cNvSpPr>
          <p:nvPr/>
        </p:nvSpPr>
        <p:spPr>
          <a:xfrm>
            <a:off x="5667375" y="3305175"/>
            <a:ext cx="58102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39.7 ms  →  33.3 ms</a:t>
            </a:r>
          </a:p>
        </p:txBody>
      </p:sp>
      <p:sp>
        <p:nvSpPr>
          <p:cNvPr id="61" name="saving">
            <a:extLst>
              <a:ext uri="{FF2B5EF4-FFF2-40B4-BE49-F238E27FC236}">
                <a16:creationId xmlns:a16="http://schemas.microsoft.com/office/drawing/2014/main" id="{3E3D65B6-CC51-4F10-8E2B-CEE72150A89A}"/>
              </a:ext>
            </a:extLst>
          </p:cNvPr>
          <p:cNvSpPr>
            <a:spLocks noGrp="1"/>
          </p:cNvSpPr>
          <p:nvPr/>
        </p:nvSpPr>
        <p:spPr>
          <a:xfrm>
            <a:off x="5715000" y="4229100"/>
            <a:ext cx="57531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执行时间减少 16.1%</a:t>
            </a:r>
          </a:p>
        </p:txBody>
      </p:sp>
      <p:sp>
        <p:nvSpPr>
          <p:cNvPr id="62" name="added-premise">
            <a:extLst>
              <a:ext uri="{FF2B5EF4-FFF2-40B4-BE49-F238E27FC236}">
                <a16:creationId xmlns:a16="http://schemas.microsoft.com/office/drawing/2014/main" id="{C5B5A9A2-0A64-4916-ABC8-A2E1AE646E58}"/>
              </a:ext>
            </a:extLst>
          </p:cNvPr>
          <p:cNvSpPr>
            <a:spLocks noGrp="1"/>
          </p:cNvSpPr>
          <p:nvPr/>
        </p:nvSpPr>
        <p:spPr>
          <a:xfrm>
            <a:off x="5705475" y="4714875"/>
            <a:ext cx="57816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新增前提：日期键按月连续</a:t>
            </a:r>
          </a:p>
        </p:txBody>
      </p:sp>
      <p:sp>
        <p:nvSpPr>
          <p:cNvPr id="63" name="takeaway-band">
            <a:extLst>
              <a:ext uri="{FF2B5EF4-FFF2-40B4-BE49-F238E27FC236}">
                <a16:creationId xmlns:a16="http://schemas.microsoft.com/office/drawing/2014/main" id="{D4D9ECD0-9E0A-4C6C-9DEF-BCC5F24BAF77}"/>
              </a:ext>
            </a:extLst>
          </p:cNvPr>
          <p:cNvSpPr>
            <a:spLocks noGrp="1"/>
          </p:cNvSpPr>
          <p:nvPr/>
        </p:nvSpPr>
        <p:spPr>
          <a:xfrm>
            <a:off x="714375" y="5476875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akeaway">
            <a:extLst>
              <a:ext uri="{FF2B5EF4-FFF2-40B4-BE49-F238E27FC236}">
                <a16:creationId xmlns:a16="http://schemas.microsoft.com/office/drawing/2014/main" id="{7A0061AB-7916-45D4-B1D3-E1C45B206538}"/>
              </a:ext>
            </a:extLst>
          </p:cNvPr>
          <p:cNvSpPr>
            <a:spLocks noGrp="1"/>
          </p:cNvSpPr>
          <p:nvPr/>
        </p:nvSpPr>
        <p:spPr>
          <a:xfrm>
            <a:off x="866775" y="5534025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学习时回归也一致；新增前提失效时，撤销范围优化</a:t>
            </a:r>
          </a:p>
        </p:txBody>
      </p:sp>
      <p:sp>
        <p:nvSpPr>
          <p:cNvPr id="65" name="source-note">
            <a:extLst>
              <a:ext uri="{FF2B5EF4-FFF2-40B4-BE49-F238E27FC236}">
                <a16:creationId xmlns:a16="http://schemas.microsoft.com/office/drawing/2014/main" id="{AF19A977-645F-4CAB-B5AC-63226878F0FE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归档优化运行。耗时为 14 对交替 EXPLAIN ANALYZE；差值 95% 区间 [−12.2, −0.5] ms。</a:t>
            </a:r>
          </a:p>
        </p:txBody>
      </p:sp>
      <p:sp>
        <p:nvSpPr>
          <p:cNvPr id="66" name="MAVRA-footer">
            <a:extLst>
              <a:ext uri="{FF2B5EF4-FFF2-40B4-BE49-F238E27FC236}">
                <a16:creationId xmlns:a16="http://schemas.microsoft.com/office/drawing/2014/main" id="{840D544A-5F67-420C-8D17-C4A6A030B2CA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532E9072-D787-433E-BC63-434F64D7B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使用：用户 Agent 只知道指标名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30394428-F1DC-E5F6-DB0C-7DE31F3D8A23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48768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8" name="MAVRA-footer">
            <a:extLst>
              <a:ext uri="{FF2B5EF4-FFF2-40B4-BE49-F238E27FC236}">
                <a16:creationId xmlns:a16="http://schemas.microsoft.com/office/drawing/2014/main" id="{551BC53E-44F6-4455-915F-9943254A5D10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B36960E3-CC77-4536-BCE4-D284DB88ED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07"/>
          <a:stretch/>
        </p:blipFill>
        <p:spPr>
          <a:xfrm>
            <a:off x="428625" y="1419225"/>
            <a:ext cx="11334750" cy="4672706"/>
          </a:xfrm>
          <a:prstGeom prst="rect">
            <a:avLst/>
          </a:prstGeom>
        </p:spPr>
      </p:pic>
      <p:sp>
        <p:nvSpPr>
          <p:cNvPr id="90" name="original-figure-caption">
            <a:extLst>
              <a:ext uri="{FF2B5EF4-FFF2-40B4-BE49-F238E27FC236}">
                <a16:creationId xmlns:a16="http://schemas.microsoft.com/office/drawing/2014/main" id="{E5DFB244-5AD9-4E2B-BD4A-E87319D12D56}"/>
              </a:ext>
            </a:extLst>
          </p:cNvPr>
          <p:cNvSpPr>
            <a:spLocks noGrp="1"/>
          </p:cNvSpPr>
          <p:nvPr/>
        </p:nvSpPr>
        <p:spPr>
          <a:xfrm>
            <a:off x="685800" y="6134100"/>
            <a:ext cx="91630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更正前：4 轮、6 次工具调用、7.4 秒。本例未开启同快照校验，并发保证见第 17 页。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EA52148E-7EA8-4CC3-9870-127E3DCA0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维护：数据更正后，下一次使用时发现并修复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4DB16885-0D3F-A391-B669-3211DB3B26E8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2" name="write-transition">
            <a:extLst>
              <a:ext uri="{FF2B5EF4-FFF2-40B4-BE49-F238E27FC236}">
                <a16:creationId xmlns:a16="http://schemas.microsoft.com/office/drawing/2014/main" id="{2B6CC203-F5B5-42C7-B895-6A01A33B595A}"/>
              </a:ext>
            </a:extLst>
          </p:cNvPr>
          <p:cNvSpPr>
            <a:spLocks noGrp="1"/>
          </p:cNvSpPr>
          <p:nvPr/>
        </p:nvSpPr>
        <p:spPr>
          <a:xfrm>
            <a:off x="2800350" y="1543050"/>
            <a:ext cx="9239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数据写入</a:t>
            </a:r>
          </a:p>
        </p:txBody>
      </p:sp>
      <p:sp>
        <p:nvSpPr>
          <p:cNvPr id="88" name="MAVRA-footer">
            <a:extLst>
              <a:ext uri="{FF2B5EF4-FFF2-40B4-BE49-F238E27FC236}">
                <a16:creationId xmlns:a16="http://schemas.microsoft.com/office/drawing/2014/main" id="{B0F8F1D1-93F8-4564-AF16-0F1286BD83C2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C8F65D6F-84B1-404E-AEF8-9600FEDE05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07"/>
          <a:stretch/>
        </p:blipFill>
        <p:spPr>
          <a:xfrm>
            <a:off x="428625" y="1419225"/>
            <a:ext cx="11334750" cy="4672706"/>
          </a:xfrm>
          <a:prstGeom prst="rect">
            <a:avLst/>
          </a:prstGeom>
        </p:spPr>
      </p:pic>
      <p:sp>
        <p:nvSpPr>
          <p:cNvPr id="90" name="original-figure-caption">
            <a:extLst>
              <a:ext uri="{FF2B5EF4-FFF2-40B4-BE49-F238E27FC236}">
                <a16:creationId xmlns:a16="http://schemas.microsoft.com/office/drawing/2014/main" id="{72DE1563-1E58-4279-8B8B-960ED1888AD9}"/>
              </a:ext>
            </a:extLst>
          </p:cNvPr>
          <p:cNvSpPr>
            <a:spLocks noGrp="1"/>
          </p:cNvSpPr>
          <p:nvPr/>
        </p:nvSpPr>
        <p:spPr>
          <a:xfrm>
            <a:off x="685800" y="6134100"/>
            <a:ext cx="91630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def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更正后：1293.3 万对 1430.1 万。31.6 秒为这一条定义的维护与修复耗时。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6053F270-ACF0-4C9D-B61F-582D04848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真实运行：更正后，主键唯一校验失败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2DD23107-4986-8758-3A93-3D74F35908CC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9" name="trigger">
            <a:extLst>
              <a:ext uri="{FF2B5EF4-FFF2-40B4-BE49-F238E27FC236}">
                <a16:creationId xmlns:a16="http://schemas.microsoft.com/office/drawing/2014/main" id="{712CE2DB-D336-4B1C-A11E-FAA9ED45B202}"/>
              </a:ext>
            </a:extLst>
          </p:cNvPr>
          <p:cNvSpPr>
            <a:spLocks noGrp="1"/>
          </p:cNvSpPr>
          <p:nvPr/>
        </p:nvSpPr>
        <p:spPr>
          <a:xfrm>
            <a:off x="723900" y="1685925"/>
            <a:ext cx="10763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触发点：下一次 find_metric("门店营业额") 比较到表版本变化</a:t>
            </a:r>
          </a:p>
        </p:txBody>
      </p:sp>
      <p:sp>
        <p:nvSpPr>
          <p:cNvPr id="50" name="check-sql-title">
            <a:extLst>
              <a:ext uri="{FF2B5EF4-FFF2-40B4-BE49-F238E27FC236}">
                <a16:creationId xmlns:a16="http://schemas.microsoft.com/office/drawing/2014/main" id="{83250D89-76ED-4DFC-8982-914BBAC5FFAA}"/>
              </a:ext>
            </a:extLst>
          </p:cNvPr>
          <p:cNvSpPr>
            <a:spLocks noGrp="1"/>
          </p:cNvSpPr>
          <p:nvPr/>
        </p:nvSpPr>
        <p:spPr>
          <a:xfrm>
            <a:off x="733425" y="2276475"/>
            <a:ext cx="5429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执行的主键唯一校验 SQL</a:t>
            </a:r>
          </a:p>
        </p:txBody>
      </p:sp>
      <p:sp>
        <p:nvSpPr>
          <p:cNvPr id="51" name="check-sql-back">
            <a:extLst>
              <a:ext uri="{FF2B5EF4-FFF2-40B4-BE49-F238E27FC236}">
                <a16:creationId xmlns:a16="http://schemas.microsoft.com/office/drawing/2014/main" id="{CACF0DFA-6086-4A12-9933-1A2291F5EE57}"/>
              </a:ext>
            </a:extLst>
          </p:cNvPr>
          <p:cNvSpPr>
            <a:spLocks noGrp="1"/>
          </p:cNvSpPr>
          <p:nvPr/>
        </p:nvSpPr>
        <p:spPr>
          <a:xfrm>
            <a:off x="733425" y="2695575"/>
            <a:ext cx="6229350" cy="2476500"/>
          </a:xfrm>
          <a:prstGeom prst="rect">
            <a:avLst/>
          </a:prstGeom>
          <a:solidFill>
            <a:srgbClr val="F5F5F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check-sql">
            <a:extLst>
              <a:ext uri="{FF2B5EF4-FFF2-40B4-BE49-F238E27FC236}">
                <a16:creationId xmlns:a16="http://schemas.microsoft.com/office/drawing/2014/main" id="{7D181CF7-4FBE-468F-B071-DBEF33C07495}"/>
              </a:ext>
            </a:extLst>
          </p:cNvPr>
          <p:cNvSpPr>
            <a:spLocks noGrp="1"/>
          </p:cNvSpPr>
          <p:nvPr/>
        </p:nvSpPr>
        <p:spPr>
          <a:xfrm>
            <a:off x="847725" y="2771775"/>
            <a:ext cx="6000750" cy="2324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SELECT COUNT(*) AS n_rows,</a:t>
            </a:r>
          </a:p>
          <a:p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COUNT(DISTINCT (ss_item_sk,</a:t>
            </a:r>
          </a:p>
          <a:p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  ss_sold_date_sk, ss_ticket_number)) AS n_keys</a:t>
            </a:r>
          </a:p>
          <a:p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FROM store_sales</a:t>
            </a:r>
          </a:p>
          <a:p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WHERE ss_item_sk IS NOT NULL</a:t>
            </a:r>
          </a:p>
          <a:p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AND ss_sold_date_sk IS NOT NULL</a:t>
            </a:r>
          </a:p>
          <a:p>
            <a:pPr algn="l">
              <a:buNone/>
              <a:def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  AND ss_ticket_number IS NOT NULL;</a:t>
            </a:r>
          </a:p>
        </p:txBody>
      </p:sp>
      <p:sp>
        <p:nvSpPr>
          <p:cNvPr id="53" name="nrows">
            <a:extLst>
              <a:ext uri="{FF2B5EF4-FFF2-40B4-BE49-F238E27FC236}">
                <a16:creationId xmlns:a16="http://schemas.microsoft.com/office/drawing/2014/main" id="{6538842E-8EB2-43FF-B0DE-8B0CF828E7B4}"/>
              </a:ext>
            </a:extLst>
          </p:cNvPr>
          <p:cNvSpPr>
            <a:spLocks noGrp="1"/>
          </p:cNvSpPr>
          <p:nvPr/>
        </p:nvSpPr>
        <p:spPr>
          <a:xfrm>
            <a:off x="7448550" y="2390775"/>
            <a:ext cx="40386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1,055,610 行</a:t>
            </a:r>
          </a:p>
        </p:txBody>
      </p:sp>
      <p:sp>
        <p:nvSpPr>
          <p:cNvPr id="54" name="nkeys">
            <a:extLst>
              <a:ext uri="{FF2B5EF4-FFF2-40B4-BE49-F238E27FC236}">
                <a16:creationId xmlns:a16="http://schemas.microsoft.com/office/drawing/2014/main" id="{70483AA1-859B-4E7E-9F30-C217A2BD6C98}"/>
              </a:ext>
            </a:extLst>
          </p:cNvPr>
          <p:cNvSpPr>
            <a:spLocks noGrp="1"/>
          </p:cNvSpPr>
          <p:nvPr/>
        </p:nvSpPr>
        <p:spPr>
          <a:xfrm>
            <a:off x="7448550" y="3171825"/>
            <a:ext cx="40386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989,695 个键</a:t>
            </a:r>
          </a:p>
        </p:txBody>
      </p:sp>
      <p:sp>
        <p:nvSpPr>
          <p:cNvPr id="55" name="time">
            <a:extLst>
              <a:ext uri="{FF2B5EF4-FFF2-40B4-BE49-F238E27FC236}">
                <a16:creationId xmlns:a16="http://schemas.microsoft.com/office/drawing/2014/main" id="{3DA48F88-C3A0-467C-8E6E-CDB27EA5947A}"/>
              </a:ext>
            </a:extLst>
          </p:cNvPr>
          <p:cNvSpPr>
            <a:spLocks noGrp="1"/>
          </p:cNvSpPr>
          <p:nvPr/>
        </p:nvSpPr>
        <p:spPr>
          <a:xfrm>
            <a:off x="7505700" y="4067175"/>
            <a:ext cx="3905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主键校验耗时 6.0 秒</a:t>
            </a:r>
          </a:p>
        </p:txBody>
      </p:sp>
      <p:sp>
        <p:nvSpPr>
          <p:cNvPr id="56" name="cause">
            <a:extLst>
              <a:ext uri="{FF2B5EF4-FFF2-40B4-BE49-F238E27FC236}">
                <a16:creationId xmlns:a16="http://schemas.microsoft.com/office/drawing/2014/main" id="{0A4D8C49-DEBB-45D4-8E1A-77B8FC238E84}"/>
              </a:ext>
            </a:extLst>
          </p:cNvPr>
          <p:cNvSpPr>
            <a:spLocks noGrp="1"/>
          </p:cNvSpPr>
          <p:nvPr/>
        </p:nvSpPr>
        <p:spPr>
          <a:xfrm>
            <a:off x="7362825" y="4619625"/>
            <a:ext cx="4191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旧行与更正后的当前行并存</a:t>
            </a:r>
          </a:p>
        </p:txBody>
      </p:sp>
      <p:sp>
        <p:nvSpPr>
          <p:cNvPr id="57" name="takeaway-band">
            <a:extLst>
              <a:ext uri="{FF2B5EF4-FFF2-40B4-BE49-F238E27FC236}">
                <a16:creationId xmlns:a16="http://schemas.microsoft.com/office/drawing/2014/main" id="{1C55AF10-109B-4257-B7D9-1E0CE2B15384}"/>
              </a:ext>
            </a:extLst>
          </p:cNvPr>
          <p:cNvSpPr>
            <a:spLocks noGrp="1"/>
          </p:cNvSpPr>
          <p:nvPr/>
        </p:nvSpPr>
        <p:spPr>
          <a:xfrm>
            <a:off x="714375" y="5476875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akeaway">
            <a:extLst>
              <a:ext uri="{FF2B5EF4-FFF2-40B4-BE49-F238E27FC236}">
                <a16:creationId xmlns:a16="http://schemas.microsoft.com/office/drawing/2014/main" id="{712EBED1-CE72-4709-9E2D-8194C9634F8E}"/>
              </a:ext>
            </a:extLst>
          </p:cNvPr>
          <p:cNvSpPr>
            <a:spLocks noGrp="1"/>
          </p:cNvSpPr>
          <p:nvPr/>
        </p:nvSpPr>
        <p:spPr>
          <a:xfrm>
            <a:off x="866775" y="5534025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旧 SQL 仍能执行，却会把旧金额一起加进去</a:t>
            </a:r>
          </a:p>
        </p:txBody>
      </p:sp>
      <p:sp>
        <p:nvSpPr>
          <p:cNvPr id="59" name="source-note">
            <a:extLst>
              <a:ext uri="{FF2B5EF4-FFF2-40B4-BE49-F238E27FC236}">
                <a16:creationId xmlns:a16="http://schemas.microsoft.com/office/drawing/2014/main" id="{ED1ACAFF-087A-4DD7-A506-CE56FF63F6E2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数字限于非空业务键的校验域。日期维表未变化，其前提跳过；参照完整性耗时 0.2 秒。</a:t>
            </a:r>
          </a:p>
        </p:txBody>
      </p:sp>
      <p:sp>
        <p:nvSpPr>
          <p:cNvPr id="60" name="MAVRA-footer">
            <a:extLst>
              <a:ext uri="{FF2B5EF4-FFF2-40B4-BE49-F238E27FC236}">
                <a16:creationId xmlns:a16="http://schemas.microsoft.com/office/drawing/2014/main" id="{70418B38-CB9F-4674-B8CB-53C77122D5B5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DC58F5DD-8CFC-4692-B743-752C1486D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退货示意：修复必须每键一行且不丢键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327921A4-25C4-3DB4-06B1-32693CEE2241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graphicFrame>
        <p:nvGraphicFramePr>
          <p:cNvPr id="49" name="repair-candidates">
            <a:extLst>
              <a:ext uri="{FF2B5EF4-FFF2-40B4-BE49-F238E27FC236}">
                <a16:creationId xmlns:a16="http://schemas.microsoft.com/office/drawing/2014/main" id="{738BF0A8-7D4F-4904-B1D8-23BB8ECE982F}"/>
              </a:ext>
            </a:extLst>
          </p:cNvPr>
          <p:cNvGraphicFramePr/>
          <p:nvPr/>
        </p:nvGraphicFramePr>
        <p:xfrm>
          <a:off x="685800" y="1943100"/>
          <a:ext cx="10829925" cy="2181225"/>
        </p:xfrm>
        <a:graphic>
          <a:graphicData uri="http://schemas.openxmlformats.org/drawingml/2006/table">
            <a:tbl>
              <a:tblPr/>
              <a:tblGrid>
                <a:gridCol w="356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8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70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候选过滤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保留的退货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状态＝申请中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R01、R02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丢失 R03，拒绝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0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状态＝已完成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R01、R02、R03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每笔一行且不丢键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" name="regression">
            <a:extLst>
              <a:ext uri="{FF2B5EF4-FFF2-40B4-BE49-F238E27FC236}">
                <a16:creationId xmlns:a16="http://schemas.microsoft.com/office/drawing/2014/main" id="{8DE38A9F-839C-4F97-8417-D2C7DD8D06DE}"/>
              </a:ext>
            </a:extLst>
          </p:cNvPr>
          <p:cNvSpPr>
            <a:spLocks noGrp="1"/>
          </p:cNvSpPr>
          <p:nvPr/>
        </p:nvSpPr>
        <p:spPr>
          <a:xfrm>
            <a:off x="781050" y="4486275"/>
            <a:ext cx="10572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回到学习时的数据重放：修复 SQL 仍返回 600 元</a:t>
            </a:r>
          </a:p>
        </p:txBody>
      </p:sp>
      <p:sp>
        <p:nvSpPr>
          <p:cNvPr id="51" name="publish">
            <a:extLst>
              <a:ext uri="{FF2B5EF4-FFF2-40B4-BE49-F238E27FC236}">
                <a16:creationId xmlns:a16="http://schemas.microsoft.com/office/drawing/2014/main" id="{5321F9B8-3150-48CE-9D29-153F47B392A2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10572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发布 修复后定义：加入“状态＝已完成”，当前查询返回 600 元</a:t>
            </a:r>
          </a:p>
        </p:txBody>
      </p:sp>
      <p:sp>
        <p:nvSpPr>
          <p:cNvPr id="52" name="source-caveat">
            <a:extLst>
              <a:ext uri="{FF2B5EF4-FFF2-40B4-BE49-F238E27FC236}">
                <a16:creationId xmlns:a16="http://schemas.microsoft.com/office/drawing/2014/main" id="{8F71928A-91C7-499E-91EB-C24C30225A12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若没有唯一候选，或学习时回归不通过，定义保持失效。</a:t>
            </a:r>
          </a:p>
        </p:txBody>
      </p:sp>
      <p:sp>
        <p:nvSpPr>
          <p:cNvPr id="53" name="MAVRA-footer">
            <a:extLst>
              <a:ext uri="{FF2B5EF4-FFF2-40B4-BE49-F238E27FC236}">
                <a16:creationId xmlns:a16="http://schemas.microsoft.com/office/drawing/2014/main" id="{78C39B6C-09C0-4140-80E5-537B88EFB671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5FB4B748-EA24-4134-8482-D3B5D6A87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真实运行：唯一修复通过学习时回归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EA83FA91-883A-0168-8075-96CEB9DCA3C2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graphicFrame>
        <p:nvGraphicFramePr>
          <p:cNvPr id="49" name="repair-candidates">
            <a:extLst>
              <a:ext uri="{FF2B5EF4-FFF2-40B4-BE49-F238E27FC236}">
                <a16:creationId xmlns:a16="http://schemas.microsoft.com/office/drawing/2014/main" id="{9FF044EF-4E1D-4591-8FE0-28234A26C65F}"/>
              </a:ext>
            </a:extLst>
          </p:cNvPr>
          <p:cNvGraphicFramePr/>
          <p:nvPr/>
        </p:nvGraphicFramePr>
        <p:xfrm>
          <a:off x="714375" y="1771650"/>
          <a:ext cx="10763250" cy="2295525"/>
        </p:xfrm>
        <a:graphic>
          <a:graphicData uri="http://schemas.openxmlformats.org/drawingml/2006/table">
            <a:tbl>
              <a:tblPr/>
              <a:tblGrid>
                <a:gridCol w="523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3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候选过滤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每键一行且不丢键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ss_is_current = '1'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通过：全部业务键都在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ss_is_current = '0'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拒绝：只有被更正的销售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8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ss_quantity = 1 … 9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拒绝：各值都只保留部分销售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0" name="unique-filter">
            <a:extLst>
              <a:ext uri="{FF2B5EF4-FFF2-40B4-BE49-F238E27FC236}">
                <a16:creationId xmlns:a16="http://schemas.microsoft.com/office/drawing/2014/main" id="{1D9FB81A-EEAB-49EE-81A4-814386502213}"/>
              </a:ext>
            </a:extLst>
          </p:cNvPr>
          <p:cNvSpPr>
            <a:spLocks noGrp="1"/>
          </p:cNvSpPr>
          <p:nvPr/>
        </p:nvSpPr>
        <p:spPr>
          <a:xfrm>
            <a:off x="714375" y="4410075"/>
            <a:ext cx="3238500" cy="885825"/>
          </a:xfrm>
          <a:prstGeom prst="rect">
            <a:avLst/>
          </a:prstGeom>
          <a:solidFill>
            <a:srgbClr val="F8EFE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unique-filter-head">
            <a:extLst>
              <a:ext uri="{FF2B5EF4-FFF2-40B4-BE49-F238E27FC236}">
                <a16:creationId xmlns:a16="http://schemas.microsoft.com/office/drawing/2014/main" id="{AD106DFE-D794-4661-9CF2-36879469E56B}"/>
              </a:ext>
            </a:extLst>
          </p:cNvPr>
          <p:cNvSpPr>
            <a:spLocks noGrp="1"/>
          </p:cNvSpPr>
          <p:nvPr/>
        </p:nvSpPr>
        <p:spPr>
          <a:xfrm>
            <a:off x="809625" y="4495800"/>
            <a:ext cx="3048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唯一可行的过滤</a:t>
            </a:r>
          </a:p>
        </p:txBody>
      </p:sp>
      <p:sp>
        <p:nvSpPr>
          <p:cNvPr id="52" name="unique-filter-body">
            <a:extLst>
              <a:ext uri="{FF2B5EF4-FFF2-40B4-BE49-F238E27FC236}">
                <a16:creationId xmlns:a16="http://schemas.microsoft.com/office/drawing/2014/main" id="{3006D788-649F-4D25-B7D8-3D672B05A569}"/>
              </a:ext>
            </a:extLst>
          </p:cNvPr>
          <p:cNvSpPr>
            <a:spLocks noGrp="1"/>
          </p:cNvSpPr>
          <p:nvPr/>
        </p:nvSpPr>
        <p:spPr>
          <a:xfrm>
            <a:off x="828675" y="4857750"/>
            <a:ext cx="3009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ss_is_current = '1'</a:t>
            </a:r>
          </a:p>
        </p:txBody>
      </p:sp>
      <p:sp>
        <p:nvSpPr>
          <p:cNvPr id="53" name="regression">
            <a:extLst>
              <a:ext uri="{FF2B5EF4-FFF2-40B4-BE49-F238E27FC236}">
                <a16:creationId xmlns:a16="http://schemas.microsoft.com/office/drawing/2014/main" id="{BBF7F528-145E-4AAE-8856-44D5133B1B2B}"/>
              </a:ext>
            </a:extLst>
          </p:cNvPr>
          <p:cNvSpPr>
            <a:spLocks noGrp="1"/>
          </p:cNvSpPr>
          <p:nvPr/>
        </p:nvSpPr>
        <p:spPr>
          <a:xfrm>
            <a:off x="4514850" y="4410075"/>
            <a:ext cx="4314825" cy="8858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regression-head">
            <a:extLst>
              <a:ext uri="{FF2B5EF4-FFF2-40B4-BE49-F238E27FC236}">
                <a16:creationId xmlns:a16="http://schemas.microsoft.com/office/drawing/2014/main" id="{76488379-91A9-450F-9CD5-16D33BF76CDB}"/>
              </a:ext>
            </a:extLst>
          </p:cNvPr>
          <p:cNvSpPr>
            <a:spLocks noGrp="1"/>
          </p:cNvSpPr>
          <p:nvPr/>
        </p:nvSpPr>
        <p:spPr>
          <a:xfrm>
            <a:off x="4610100" y="4495800"/>
            <a:ext cx="41243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学习时快照回归</a:t>
            </a:r>
          </a:p>
        </p:txBody>
      </p:sp>
      <p:sp>
        <p:nvSpPr>
          <p:cNvPr id="55" name="regression-body">
            <a:extLst>
              <a:ext uri="{FF2B5EF4-FFF2-40B4-BE49-F238E27FC236}">
                <a16:creationId xmlns:a16="http://schemas.microsoft.com/office/drawing/2014/main" id="{08E87236-A983-4684-845A-F73CA7B9A43A}"/>
              </a:ext>
            </a:extLst>
          </p:cNvPr>
          <p:cNvSpPr>
            <a:spLocks noGrp="1"/>
          </p:cNvSpPr>
          <p:nvPr/>
        </p:nvSpPr>
        <p:spPr>
          <a:xfrm>
            <a:off x="4629150" y="4857750"/>
            <a:ext cx="40862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13,570,368.70 ＝ 13,570,368.70</a:t>
            </a:r>
          </a:p>
        </p:txBody>
      </p:sp>
      <p:sp>
        <p:nvSpPr>
          <p:cNvPr id="56" name="publish-v3">
            <a:extLst>
              <a:ext uri="{FF2B5EF4-FFF2-40B4-BE49-F238E27FC236}">
                <a16:creationId xmlns:a16="http://schemas.microsoft.com/office/drawing/2014/main" id="{28F4C186-DB12-41AD-ACE3-BC188011F57E}"/>
              </a:ext>
            </a:extLst>
          </p:cNvPr>
          <p:cNvSpPr>
            <a:spLocks noGrp="1"/>
          </p:cNvSpPr>
          <p:nvPr/>
        </p:nvSpPr>
        <p:spPr>
          <a:xfrm>
            <a:off x="9401175" y="4410075"/>
            <a:ext cx="2076450" cy="885825"/>
          </a:xfrm>
          <a:prstGeom prst="rect">
            <a:avLst/>
          </a:prstGeom>
          <a:solidFill>
            <a:srgbClr val="A23838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publish-v3-head">
            <a:extLst>
              <a:ext uri="{FF2B5EF4-FFF2-40B4-BE49-F238E27FC236}">
                <a16:creationId xmlns:a16="http://schemas.microsoft.com/office/drawing/2014/main" id="{0F5657B1-D890-4C11-A771-9B56DDD8952A}"/>
              </a:ext>
            </a:extLst>
          </p:cNvPr>
          <p:cNvSpPr>
            <a:spLocks noGrp="1"/>
          </p:cNvSpPr>
          <p:nvPr/>
        </p:nvSpPr>
        <p:spPr>
          <a:xfrm>
            <a:off x="9496425" y="4495800"/>
            <a:ext cx="18859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发布 v3</a:t>
            </a: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60D54268-0BAA-4871-9ECA-0B0843A23507}"/>
              </a:ext>
            </a:extLst>
          </p:cNvPr>
          <p:cNvCxnSpPr>
            <a:stCxn id="50" idx="3"/>
            <a:endCxn id="53" idx="1"/>
          </p:cNvCxnSpPr>
          <p:nvPr/>
        </p:nvCxnSpPr>
        <p:spPr>
          <a:xfrm>
            <a:off x="3952875" y="4852988"/>
            <a:ext cx="561975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16A6051A-4CD3-4F75-A606-7A878BB4C411}"/>
              </a:ext>
            </a:extLst>
          </p:cNvPr>
          <p:cNvCxnSpPr>
            <a:stCxn id="53" idx="3"/>
            <a:endCxn id="56" idx="1"/>
          </p:cNvCxnSpPr>
          <p:nvPr/>
        </p:nvCxnSpPr>
        <p:spPr>
          <a:xfrm>
            <a:off x="8829675" y="4852988"/>
            <a:ext cx="57150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60" name="takeaway-band">
            <a:extLst>
              <a:ext uri="{FF2B5EF4-FFF2-40B4-BE49-F238E27FC236}">
                <a16:creationId xmlns:a16="http://schemas.microsoft.com/office/drawing/2014/main" id="{13CD7855-09F0-4EE5-ADEB-FB86CC15411E}"/>
              </a:ext>
            </a:extLst>
          </p:cNvPr>
          <p:cNvSpPr>
            <a:spLocks noGrp="1"/>
          </p:cNvSpPr>
          <p:nvPr/>
        </p:nvSpPr>
        <p:spPr>
          <a:xfrm>
            <a:off x="714375" y="5524500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akeaway">
            <a:extLst>
              <a:ext uri="{FF2B5EF4-FFF2-40B4-BE49-F238E27FC236}">
                <a16:creationId xmlns:a16="http://schemas.microsoft.com/office/drawing/2014/main" id="{F8E2EA68-5475-43B1-BDCA-B7373F15F09F}"/>
              </a:ext>
            </a:extLst>
          </p:cNvPr>
          <p:cNvSpPr>
            <a:spLocks noGrp="1"/>
          </p:cNvSpPr>
          <p:nvPr/>
        </p:nvSpPr>
        <p:spPr>
          <a:xfrm>
            <a:off x="866775" y="5581650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该定义维护与修复共 31.6 秒，后续使用者共享结果</a:t>
            </a:r>
          </a:p>
        </p:txBody>
      </p:sp>
      <p:sp>
        <p:nvSpPr>
          <p:cNvPr id="62" name="source-note">
            <a:extLst>
              <a:ext uri="{FF2B5EF4-FFF2-40B4-BE49-F238E27FC236}">
                <a16:creationId xmlns:a16="http://schemas.microsoft.com/office/drawing/2014/main" id="{12D3F592-1A4B-4AD5-80D0-87F3499C09C6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归档运行。先做候选唯一性与结构检查，再在学习时的数据上回归。</a:t>
            </a:r>
          </a:p>
        </p:txBody>
      </p:sp>
      <p:sp>
        <p:nvSpPr>
          <p:cNvPr id="63" name="MAVRA-footer">
            <a:extLst>
              <a:ext uri="{FF2B5EF4-FFF2-40B4-BE49-F238E27FC236}">
                <a16:creationId xmlns:a16="http://schemas.microsoft.com/office/drawing/2014/main" id="{9E2E2B7B-CAB5-4EF6-8257-FE48CFF3228C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9C50F497-6537-4894-9F87-747CE28EE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真实运行：修复后 9 月营业额是 1293.3 万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DC9C7607-4BA3-B4DC-A00F-2E67A9FCFF7E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16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9" name="same-question">
            <a:extLst>
              <a:ext uri="{FF2B5EF4-FFF2-40B4-BE49-F238E27FC236}">
                <a16:creationId xmlns:a16="http://schemas.microsoft.com/office/drawing/2014/main" id="{F63BC88C-CA6E-40BF-BC1D-AD805603AC26}"/>
              </a:ext>
            </a:extLst>
          </p:cNvPr>
          <p:cNvSpPr>
            <a:spLocks noGrp="1"/>
          </p:cNvSpPr>
          <p:nvPr/>
        </p:nvSpPr>
        <p:spPr>
          <a:xfrm>
            <a:off x="723900" y="1724025"/>
            <a:ext cx="107632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同一个问题：数据更正后，9 月门店营业额是多少？</a:t>
            </a:r>
          </a:p>
        </p:txBody>
      </p:sp>
      <p:graphicFrame>
        <p:nvGraphicFramePr>
          <p:cNvPr id="50" name="answer-comparison">
            <a:extLst>
              <a:ext uri="{FF2B5EF4-FFF2-40B4-BE49-F238E27FC236}">
                <a16:creationId xmlns:a16="http://schemas.microsoft.com/office/drawing/2014/main" id="{5E2A3109-07F6-4B08-AC8C-240054E27487}"/>
              </a:ext>
            </a:extLst>
          </p:cNvPr>
          <p:cNvGraphicFramePr/>
          <p:nvPr/>
        </p:nvGraphicFramePr>
        <p:xfrm>
          <a:off x="714375" y="2476500"/>
          <a:ext cx="10763250" cy="2076450"/>
        </p:xfrm>
        <a:graphic>
          <a:graphicData uri="http://schemas.openxmlformats.org/drawingml/2006/table">
            <a:tbl>
              <a:tblPr/>
              <a:tblGrid>
                <a:gridCol w="6200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2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使用的定义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答案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是否正确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MAVRA v3：加 ss_is_current='1'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1293.3 万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正确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不维护的共享 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1430.1 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" name="actual-answer">
            <a:extLst>
              <a:ext uri="{FF2B5EF4-FFF2-40B4-BE49-F238E27FC236}">
                <a16:creationId xmlns:a16="http://schemas.microsoft.com/office/drawing/2014/main" id="{D0FD3EC8-474E-4BF6-B086-13666AC4E2D6}"/>
              </a:ext>
            </a:extLst>
          </p:cNvPr>
          <p:cNvSpPr>
            <a:spLocks noGrp="1"/>
          </p:cNvSpPr>
          <p:nvPr/>
        </p:nvSpPr>
        <p:spPr>
          <a:xfrm>
            <a:off x="762000" y="48196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v3 查询结果：12,932,888.04 元</a:t>
            </a:r>
          </a:p>
        </p:txBody>
      </p:sp>
      <p:sp>
        <p:nvSpPr>
          <p:cNvPr id="52" name="takeaway-band">
            <a:extLst>
              <a:ext uri="{FF2B5EF4-FFF2-40B4-BE49-F238E27FC236}">
                <a16:creationId xmlns:a16="http://schemas.microsoft.com/office/drawing/2014/main" id="{DD9277B7-C81E-4FBD-85D4-E8A948AE675B}"/>
              </a:ext>
            </a:extLst>
          </p:cNvPr>
          <p:cNvSpPr>
            <a:spLocks noGrp="1"/>
          </p:cNvSpPr>
          <p:nvPr/>
        </p:nvSpPr>
        <p:spPr>
          <a:xfrm>
            <a:off x="714375" y="5524500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akeaway">
            <a:extLst>
              <a:ext uri="{FF2B5EF4-FFF2-40B4-BE49-F238E27FC236}">
                <a16:creationId xmlns:a16="http://schemas.microsoft.com/office/drawing/2014/main" id="{1DCE17DB-2127-4669-BA9D-A8ED7348A8B7}"/>
              </a:ext>
            </a:extLst>
          </p:cNvPr>
          <p:cNvSpPr>
            <a:spLocks noGrp="1"/>
          </p:cNvSpPr>
          <p:nvPr/>
        </p:nvSpPr>
        <p:spPr>
          <a:xfrm>
            <a:off x="866775" y="5581650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同阶段后续请求 find_metric 只需 3 ms，直接取得 v3</a:t>
            </a:r>
          </a:p>
        </p:txBody>
      </p:sp>
      <p:sp>
        <p:nvSpPr>
          <p:cNvPr id="54" name="source-note">
            <a:extLst>
              <a:ext uri="{FF2B5EF4-FFF2-40B4-BE49-F238E27FC236}">
                <a16:creationId xmlns:a16="http://schemas.microsoft.com/office/drawing/2014/main" id="{37F917F9-DBB9-46B9-A47E-E39506024BF7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真实归档与对照运行。维护后的本次 Agent 共 9 次工具调用、81 秒端到端耗时。</a:t>
            </a:r>
          </a:p>
        </p:txBody>
      </p:sp>
      <p:sp>
        <p:nvSpPr>
          <p:cNvPr id="55" name="MAVRA-footer">
            <a:extLst>
              <a:ext uri="{FF2B5EF4-FFF2-40B4-BE49-F238E27FC236}">
                <a16:creationId xmlns:a16="http://schemas.microsoft.com/office/drawing/2014/main" id="{8B20EF02-2557-444C-8206-8043775623C7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FB5C5A75-94B5-4B86-8628-0A497D52F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检查与执行必须看到同一份数据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90F7333B-44AC-F7E9-D49D-FE92F45E0477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17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73152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9" name="separate-label">
            <a:extLst>
              <a:ext uri="{FF2B5EF4-FFF2-40B4-BE49-F238E27FC236}">
                <a16:creationId xmlns:a16="http://schemas.microsoft.com/office/drawing/2014/main" id="{4AAD086B-FBAE-4623-805A-ADFA820948BC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44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先检查后执行</a:t>
            </a:r>
          </a:p>
        </p:txBody>
      </p:sp>
      <p:sp>
        <p:nvSpPr>
          <p:cNvPr id="50" name="check-old">
            <a:extLst>
              <a:ext uri="{FF2B5EF4-FFF2-40B4-BE49-F238E27FC236}">
                <a16:creationId xmlns:a16="http://schemas.microsoft.com/office/drawing/2014/main" id="{272B824B-A62D-41D4-8A1C-8A6BD58943AE}"/>
              </a:ext>
            </a:extLst>
          </p:cNvPr>
          <p:cNvSpPr>
            <a:spLocks noGrp="1"/>
          </p:cNvSpPr>
          <p:nvPr/>
        </p:nvSpPr>
        <p:spPr>
          <a:xfrm>
            <a:off x="714375" y="2276475"/>
            <a:ext cx="2714625" cy="8477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check-old-head">
            <a:extLst>
              <a:ext uri="{FF2B5EF4-FFF2-40B4-BE49-F238E27FC236}">
                <a16:creationId xmlns:a16="http://schemas.microsoft.com/office/drawing/2014/main" id="{EBF5722A-5B6F-4B90-92EA-0D49F69A7F48}"/>
              </a:ext>
            </a:extLst>
          </p:cNvPr>
          <p:cNvSpPr>
            <a:spLocks noGrp="1"/>
          </p:cNvSpPr>
          <p:nvPr/>
        </p:nvSpPr>
        <p:spPr>
          <a:xfrm>
            <a:off x="809625" y="2362200"/>
            <a:ext cx="25241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前提检查通过</a:t>
            </a:r>
          </a:p>
        </p:txBody>
      </p:sp>
      <p:sp>
        <p:nvSpPr>
          <p:cNvPr id="52" name="check-old-body">
            <a:extLst>
              <a:ext uri="{FF2B5EF4-FFF2-40B4-BE49-F238E27FC236}">
                <a16:creationId xmlns:a16="http://schemas.microsoft.com/office/drawing/2014/main" id="{504D6C54-C7AE-411B-877F-C198B947992C}"/>
              </a:ext>
            </a:extLst>
          </p:cNvPr>
          <p:cNvSpPr>
            <a:spLocks noGrp="1"/>
          </p:cNvSpPr>
          <p:nvPr/>
        </p:nvSpPr>
        <p:spPr>
          <a:xfrm>
            <a:off x="828675" y="2724150"/>
            <a:ext cx="24860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读取旧快照</a:t>
            </a:r>
          </a:p>
        </p:txBody>
      </p:sp>
      <p:sp>
        <p:nvSpPr>
          <p:cNvPr id="53" name="concurrent-write">
            <a:extLst>
              <a:ext uri="{FF2B5EF4-FFF2-40B4-BE49-F238E27FC236}">
                <a16:creationId xmlns:a16="http://schemas.microsoft.com/office/drawing/2014/main" id="{B6EB56E8-4C26-494B-9D4B-9C14B32D673F}"/>
              </a:ext>
            </a:extLst>
          </p:cNvPr>
          <p:cNvSpPr>
            <a:spLocks noGrp="1"/>
          </p:cNvSpPr>
          <p:nvPr/>
        </p:nvSpPr>
        <p:spPr>
          <a:xfrm>
            <a:off x="4457700" y="2276475"/>
            <a:ext cx="3038475" cy="8477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concurrent-write-head">
            <a:extLst>
              <a:ext uri="{FF2B5EF4-FFF2-40B4-BE49-F238E27FC236}">
                <a16:creationId xmlns:a16="http://schemas.microsoft.com/office/drawing/2014/main" id="{BC958AA8-D241-44DE-8FEC-C98F5F10E50E}"/>
              </a:ext>
            </a:extLst>
          </p:cNvPr>
          <p:cNvSpPr>
            <a:spLocks noGrp="1"/>
          </p:cNvSpPr>
          <p:nvPr/>
        </p:nvSpPr>
        <p:spPr>
          <a:xfrm>
            <a:off x="4552950" y="2362200"/>
            <a:ext cx="28479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写入在中间提交</a:t>
            </a:r>
          </a:p>
        </p:txBody>
      </p:sp>
      <p:sp>
        <p:nvSpPr>
          <p:cNvPr id="55" name="concurrent-write-body">
            <a:extLst>
              <a:ext uri="{FF2B5EF4-FFF2-40B4-BE49-F238E27FC236}">
                <a16:creationId xmlns:a16="http://schemas.microsoft.com/office/drawing/2014/main" id="{BDB12517-7DAD-443B-BC7A-B47EFDB9835B}"/>
              </a:ext>
            </a:extLst>
          </p:cNvPr>
          <p:cNvSpPr>
            <a:spLocks noGrp="1"/>
          </p:cNvSpPr>
          <p:nvPr/>
        </p:nvSpPr>
        <p:spPr>
          <a:xfrm>
            <a:off x="4572000" y="2724150"/>
            <a:ext cx="2809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重复记录进入数据库</a:t>
            </a:r>
          </a:p>
        </p:txBody>
      </p:sp>
      <p:sp>
        <p:nvSpPr>
          <p:cNvPr id="56" name="query-new">
            <a:extLst>
              <a:ext uri="{FF2B5EF4-FFF2-40B4-BE49-F238E27FC236}">
                <a16:creationId xmlns:a16="http://schemas.microsoft.com/office/drawing/2014/main" id="{8444E7EE-EF68-4AE9-9A7A-73E67492331B}"/>
              </a:ext>
            </a:extLst>
          </p:cNvPr>
          <p:cNvSpPr>
            <a:spLocks noGrp="1"/>
          </p:cNvSpPr>
          <p:nvPr/>
        </p:nvSpPr>
        <p:spPr>
          <a:xfrm>
            <a:off x="8524875" y="2276475"/>
            <a:ext cx="2952750" cy="847725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query-new-head">
            <a:extLst>
              <a:ext uri="{FF2B5EF4-FFF2-40B4-BE49-F238E27FC236}">
                <a16:creationId xmlns:a16="http://schemas.microsoft.com/office/drawing/2014/main" id="{AF692DD5-68C1-4946-9E90-8F16CE60FB5C}"/>
              </a:ext>
            </a:extLst>
          </p:cNvPr>
          <p:cNvSpPr>
            <a:spLocks noGrp="1"/>
          </p:cNvSpPr>
          <p:nvPr/>
        </p:nvSpPr>
        <p:spPr>
          <a:xfrm>
            <a:off x="8620125" y="2362200"/>
            <a:ext cx="2762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执行读到新数据</a:t>
            </a:r>
          </a:p>
        </p:txBody>
      </p:sp>
      <p:sp>
        <p:nvSpPr>
          <p:cNvPr id="58" name="query-new-body">
            <a:extLst>
              <a:ext uri="{FF2B5EF4-FFF2-40B4-BE49-F238E27FC236}">
                <a16:creationId xmlns:a16="http://schemas.microsoft.com/office/drawing/2014/main" id="{1E3AB981-A735-4DD2-BC65-A48C9B249CF7}"/>
              </a:ext>
            </a:extLst>
          </p:cNvPr>
          <p:cNvSpPr>
            <a:spLocks noGrp="1"/>
          </p:cNvSpPr>
          <p:nvPr/>
        </p:nvSpPr>
        <p:spPr>
          <a:xfrm>
            <a:off x="8639175" y="2724150"/>
            <a:ext cx="2724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已违反刚才的前提</a:t>
            </a: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1DBB1B30-A14A-4CA3-B727-EEC37176F147}"/>
              </a:ext>
            </a:extLst>
          </p:cNvPr>
          <p:cNvCxnSpPr>
            <a:stCxn id="50" idx="3"/>
            <a:endCxn id="53" idx="1"/>
          </p:cNvCxnSpPr>
          <p:nvPr/>
        </p:nvCxnSpPr>
        <p:spPr>
          <a:xfrm>
            <a:off x="3429000" y="2700338"/>
            <a:ext cx="102870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603B5BBC-2D02-4810-B5BE-9F98962BC2E5}"/>
              </a:ext>
            </a:extLst>
          </p:cNvPr>
          <p:cNvCxnSpPr>
            <a:stCxn id="53" idx="3"/>
            <a:endCxn id="56" idx="1"/>
          </p:cNvCxnSpPr>
          <p:nvPr/>
        </p:nvCxnSpPr>
        <p:spPr>
          <a:xfrm>
            <a:off x="7496175" y="2700338"/>
            <a:ext cx="102870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61" name="unsafe-number">
            <a:extLst>
              <a:ext uri="{FF2B5EF4-FFF2-40B4-BE49-F238E27FC236}">
                <a16:creationId xmlns:a16="http://schemas.microsoft.com/office/drawing/2014/main" id="{31238750-4A01-44FF-808B-601B1E2FC4AC}"/>
              </a:ext>
            </a:extLst>
          </p:cNvPr>
          <p:cNvSpPr>
            <a:spLocks noGrp="1"/>
          </p:cNvSpPr>
          <p:nvPr/>
        </p:nvSpPr>
        <p:spPr>
          <a:xfrm>
            <a:off x="781050" y="3248025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最高 4.6% 的已作答查询落在违反前提的数据上</a:t>
            </a:r>
          </a:p>
        </p:txBody>
      </p:sp>
      <p:sp>
        <p:nvSpPr>
          <p:cNvPr id="62" name="snapshot-area">
            <a:extLst>
              <a:ext uri="{FF2B5EF4-FFF2-40B4-BE49-F238E27FC236}">
                <a16:creationId xmlns:a16="http://schemas.microsoft.com/office/drawing/2014/main" id="{E80B63AA-2889-491F-A616-C34771D9F60F}"/>
              </a:ext>
            </a:extLst>
          </p:cNvPr>
          <p:cNvSpPr>
            <a:spLocks noGrp="1"/>
          </p:cNvSpPr>
          <p:nvPr/>
        </p:nvSpPr>
        <p:spPr>
          <a:xfrm>
            <a:off x="714375" y="4019550"/>
            <a:ext cx="10763250" cy="13335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napshot-label">
            <a:extLst>
              <a:ext uri="{FF2B5EF4-FFF2-40B4-BE49-F238E27FC236}">
                <a16:creationId xmlns:a16="http://schemas.microsoft.com/office/drawing/2014/main" id="{0D1430E5-2B74-413E-8804-3AA3B0AA36E3}"/>
              </a:ext>
            </a:extLst>
          </p:cNvPr>
          <p:cNvSpPr>
            <a:spLocks noGrp="1"/>
          </p:cNvSpPr>
          <p:nvPr/>
        </p:nvSpPr>
        <p:spPr>
          <a:xfrm>
            <a:off x="885825" y="4048125"/>
            <a:ext cx="1040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同一个数据库快照</a:t>
            </a:r>
          </a:p>
        </p:txBody>
      </p:sp>
      <p:sp>
        <p:nvSpPr>
          <p:cNvPr id="64" name="read-snapshot">
            <a:extLst>
              <a:ext uri="{FF2B5EF4-FFF2-40B4-BE49-F238E27FC236}">
                <a16:creationId xmlns:a16="http://schemas.microsoft.com/office/drawing/2014/main" id="{82045389-D2EA-4D69-9D56-F73FF3775DB0}"/>
              </a:ext>
            </a:extLst>
          </p:cNvPr>
          <p:cNvSpPr>
            <a:spLocks noGrp="1"/>
          </p:cNvSpPr>
          <p:nvPr/>
        </p:nvSpPr>
        <p:spPr>
          <a:xfrm>
            <a:off x="933450" y="4495800"/>
            <a:ext cx="2724150" cy="647700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read-snapshot-head">
            <a:extLst>
              <a:ext uri="{FF2B5EF4-FFF2-40B4-BE49-F238E27FC236}">
                <a16:creationId xmlns:a16="http://schemas.microsoft.com/office/drawing/2014/main" id="{247693D8-C294-4AC5-89DB-7BF069ED8796}"/>
              </a:ext>
            </a:extLst>
          </p:cNvPr>
          <p:cNvSpPr>
            <a:spLocks noGrp="1"/>
          </p:cNvSpPr>
          <p:nvPr/>
        </p:nvSpPr>
        <p:spPr>
          <a:xfrm>
            <a:off x="1028700" y="4581525"/>
            <a:ext cx="2533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读取表版本</a:t>
            </a:r>
          </a:p>
        </p:txBody>
      </p:sp>
      <p:sp>
        <p:nvSpPr>
          <p:cNvPr id="66" name="check-snapshot">
            <a:extLst>
              <a:ext uri="{FF2B5EF4-FFF2-40B4-BE49-F238E27FC236}">
                <a16:creationId xmlns:a16="http://schemas.microsoft.com/office/drawing/2014/main" id="{5CC1E992-4D0C-47F7-8D89-AA9085FE7BBB}"/>
              </a:ext>
            </a:extLst>
          </p:cNvPr>
          <p:cNvSpPr>
            <a:spLocks noGrp="1"/>
          </p:cNvSpPr>
          <p:nvPr/>
        </p:nvSpPr>
        <p:spPr>
          <a:xfrm>
            <a:off x="4733925" y="4495800"/>
            <a:ext cx="2724150" cy="647700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check-snapshot-head">
            <a:extLst>
              <a:ext uri="{FF2B5EF4-FFF2-40B4-BE49-F238E27FC236}">
                <a16:creationId xmlns:a16="http://schemas.microsoft.com/office/drawing/2014/main" id="{1ADB2993-C31D-41BA-B6DD-97E5188F4531}"/>
              </a:ext>
            </a:extLst>
          </p:cNvPr>
          <p:cNvSpPr>
            <a:spLocks noGrp="1"/>
          </p:cNvSpPr>
          <p:nvPr/>
        </p:nvSpPr>
        <p:spPr>
          <a:xfrm>
            <a:off x="4829175" y="4581525"/>
            <a:ext cx="2533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校验声明的前提</a:t>
            </a:r>
          </a:p>
        </p:txBody>
      </p:sp>
      <p:sp>
        <p:nvSpPr>
          <p:cNvPr id="68" name="execute-snapshot">
            <a:extLst>
              <a:ext uri="{FF2B5EF4-FFF2-40B4-BE49-F238E27FC236}">
                <a16:creationId xmlns:a16="http://schemas.microsoft.com/office/drawing/2014/main" id="{8624859A-CA4B-4119-A127-5E5EA68BF863}"/>
              </a:ext>
            </a:extLst>
          </p:cNvPr>
          <p:cNvSpPr>
            <a:spLocks noGrp="1"/>
          </p:cNvSpPr>
          <p:nvPr/>
        </p:nvSpPr>
        <p:spPr>
          <a:xfrm>
            <a:off x="8505825" y="4495800"/>
            <a:ext cx="2724150" cy="647700"/>
          </a:xfrm>
          <a:prstGeom prst="rect">
            <a:avLst/>
          </a:prstGeom>
          <a:solidFill>
            <a:srgbClr val="FFFFFF"/>
          </a:solidFill>
          <a:ln w="17145">
            <a:solidFill>
              <a:srgbClr val="A238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execute-snapshot-head">
            <a:extLst>
              <a:ext uri="{FF2B5EF4-FFF2-40B4-BE49-F238E27FC236}">
                <a16:creationId xmlns:a16="http://schemas.microsoft.com/office/drawing/2014/main" id="{197961F6-78C4-4CF6-9023-368AD7348410}"/>
              </a:ext>
            </a:extLst>
          </p:cNvPr>
          <p:cNvSpPr>
            <a:spLocks noGrp="1"/>
          </p:cNvSpPr>
          <p:nvPr/>
        </p:nvSpPr>
        <p:spPr>
          <a:xfrm>
            <a:off x="8601075" y="4581525"/>
            <a:ext cx="2533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执行查询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56FA452D-AAF9-4B08-88F7-8AFB18F6002F}"/>
              </a:ext>
            </a:extLst>
          </p:cNvPr>
          <p:cNvCxnSpPr>
            <a:stCxn id="64" idx="3"/>
            <a:endCxn id="66" idx="1"/>
          </p:cNvCxnSpPr>
          <p:nvPr/>
        </p:nvCxnSpPr>
        <p:spPr>
          <a:xfrm>
            <a:off x="3657600" y="4819650"/>
            <a:ext cx="1076325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FD5AD228-5ED4-4EB4-93F3-358E411169DF}"/>
              </a:ext>
            </a:extLst>
          </p:cNvPr>
          <p:cNvCxnSpPr>
            <a:stCxn id="66" idx="3"/>
            <a:endCxn id="68" idx="1"/>
          </p:cNvCxnSpPr>
          <p:nvPr/>
        </p:nvCxnSpPr>
        <p:spPr>
          <a:xfrm>
            <a:off x="7458075" y="4819650"/>
            <a:ext cx="1047750" cy="0"/>
          </a:xfrm>
          <a:prstGeom prst="straightConnector1">
            <a:avLst/>
          </a:prstGeom>
          <a:ln w="24765">
            <a:solidFill>
              <a:srgbClr val="A23838"/>
            </a:solidFill>
            <a:prstDash val="solid"/>
            <a:tailEnd type="triangle" w="med" len="med"/>
          </a:ln>
        </p:spPr>
      </p:cxnSp>
      <p:sp>
        <p:nvSpPr>
          <p:cNvPr id="72" name="safe-number">
            <a:extLst>
              <a:ext uri="{FF2B5EF4-FFF2-40B4-BE49-F238E27FC236}">
                <a16:creationId xmlns:a16="http://schemas.microsoft.com/office/drawing/2014/main" id="{7677B9C9-4E8F-4037-BB87-39F6547320C3}"/>
              </a:ext>
            </a:extLst>
          </p:cNvPr>
          <p:cNvSpPr>
            <a:spLocks noGrp="1"/>
          </p:cNvSpPr>
          <p:nvPr/>
        </p:nvSpPr>
        <p:spPr>
          <a:xfrm>
            <a:off x="762000" y="5534025"/>
            <a:ext cx="10668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0 / 11,297 次已作答查询违反前提</a:t>
            </a:r>
          </a:p>
        </p:txBody>
      </p:sp>
      <p:sp>
        <p:nvSpPr>
          <p:cNvPr id="73" name="source-note">
            <a:extLst>
              <a:ext uri="{FF2B5EF4-FFF2-40B4-BE49-F238E27FC236}">
                <a16:creationId xmlns:a16="http://schemas.microsoft.com/office/drawing/2014/main" id="{E354820A-D30A-4DB5-86B1-5A4518DCDC4E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论文 §7.3 表 3，随机并发。0/11,297 为四组设置合计；最多 4.6% 来自未通知写入场景。</a:t>
            </a:r>
          </a:p>
        </p:txBody>
      </p:sp>
      <p:sp>
        <p:nvSpPr>
          <p:cNvPr id="74" name="MAVRA-footer">
            <a:extLst>
              <a:ext uri="{FF2B5EF4-FFF2-40B4-BE49-F238E27FC236}">
                <a16:creationId xmlns:a16="http://schemas.microsoft.com/office/drawing/2014/main" id="{8A739562-3DB0-4C0A-A36A-774A17051167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27702923-0992-4591-8057-B982CE6C1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实验：共享定义减少重复探索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B1C6C81E-38B9-7560-621D-5A151A79DF9B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18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graphicFrame>
        <p:nvGraphicFramePr>
          <p:cNvPr id="49" name="sharing-results">
            <a:extLst>
              <a:ext uri="{FF2B5EF4-FFF2-40B4-BE49-F238E27FC236}">
                <a16:creationId xmlns:a16="http://schemas.microsoft.com/office/drawing/2014/main" id="{A874D927-99CA-456B-AB5A-230F953D32B4}"/>
              </a:ext>
            </a:extLst>
          </p:cNvPr>
          <p:cNvGraphicFramePr/>
          <p:nvPr/>
        </p:nvGraphicFramePr>
        <p:xfrm>
          <a:off x="714375" y="2162175"/>
          <a:ext cx="7239000" cy="2733675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1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未参与学习的新问题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无共享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MAVRA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1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回答准确率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49%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1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单题平均耗时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75.6 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17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 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" name="speedup">
            <a:extLst>
              <a:ext uri="{FF2B5EF4-FFF2-40B4-BE49-F238E27FC236}">
                <a16:creationId xmlns:a16="http://schemas.microsoft.com/office/drawing/2014/main" id="{FDFACE29-75CA-407D-9529-C5BCB1A32AAF}"/>
              </a:ext>
            </a:extLst>
          </p:cNvPr>
          <p:cNvSpPr>
            <a:spLocks noGrp="1"/>
          </p:cNvSpPr>
          <p:nvPr/>
        </p:nvSpPr>
        <p:spPr>
          <a:xfrm>
            <a:off x="8401050" y="2333625"/>
            <a:ext cx="3238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5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5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52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8.9 倍</a:t>
            </a:r>
          </a:p>
        </p:txBody>
      </p:sp>
      <p:sp>
        <p:nvSpPr>
          <p:cNvPr id="51" name="speedup-label">
            <a:extLst>
              <a:ext uri="{FF2B5EF4-FFF2-40B4-BE49-F238E27FC236}">
                <a16:creationId xmlns:a16="http://schemas.microsoft.com/office/drawing/2014/main" id="{FE003B5E-695D-48B6-8EDD-766DE4F6F02A}"/>
              </a:ext>
            </a:extLst>
          </p:cNvPr>
          <p:cNvSpPr>
            <a:spLocks noGrp="1"/>
          </p:cNvSpPr>
          <p:nvPr/>
        </p:nvSpPr>
        <p:spPr>
          <a:xfrm>
            <a:off x="8401050" y="3629025"/>
            <a:ext cx="32385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25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查询任务提速</a:t>
            </a:r>
          </a:p>
        </p:txBody>
      </p:sp>
      <p:sp>
        <p:nvSpPr>
          <p:cNvPr id="52" name="control">
            <a:extLst>
              <a:ext uri="{FF2B5EF4-FFF2-40B4-BE49-F238E27FC236}">
                <a16:creationId xmlns:a16="http://schemas.microsoft.com/office/drawing/2014/main" id="{D0D32BD7-D1D4-462A-892C-CF8D5BCAF73D}"/>
              </a:ext>
            </a:extLst>
          </p:cNvPr>
          <p:cNvSpPr>
            <a:spLocks noGrp="1"/>
          </p:cNvSpPr>
          <p:nvPr/>
        </p:nvSpPr>
        <p:spPr>
          <a:xfrm>
            <a:off x="790575" y="528637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3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3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相同数据上，检索历史示例也达到 100% 准确率</a:t>
            </a:r>
          </a:p>
        </p:txBody>
      </p:sp>
      <p:sp>
        <p:nvSpPr>
          <p:cNvPr id="53" name="source-caveat">
            <a:extLst>
              <a:ext uri="{FF2B5EF4-FFF2-40B4-BE49-F238E27FC236}">
                <a16:creationId xmlns:a16="http://schemas.microsoft.com/office/drawing/2014/main" id="{5CE72BE8-E99D-4927-BC64-D7F0DAE5B6F0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论文 §7.6–7.7；数据未发生变化，DeepSeek V4.1 Flash，端到端任务。</a:t>
            </a:r>
          </a:p>
        </p:txBody>
      </p:sp>
      <p:sp>
        <p:nvSpPr>
          <p:cNvPr id="54" name="MAVRA-footer">
            <a:extLst>
              <a:ext uri="{FF2B5EF4-FFF2-40B4-BE49-F238E27FC236}">
                <a16:creationId xmlns:a16="http://schemas.microsoft.com/office/drawing/2014/main" id="{E05E61A1-EF74-4C6F-9F70-A6F6B84477EC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B85C50F9-6729-46B6-92C1-86D9EAD6F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实验：破坏性写入后，维护记忆更可靠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CCF91274-D221-1BB4-3BF9-836E3AD31EBE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19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graphicFrame>
        <p:nvGraphicFramePr>
          <p:cNvPr id="49" name="breaking-results">
            <a:extLst>
              <a:ext uri="{FF2B5EF4-FFF2-40B4-BE49-F238E27FC236}">
                <a16:creationId xmlns:a16="http://schemas.microsoft.com/office/drawing/2014/main" id="{42B13386-2148-4D39-B983-EAD7FDA3B23F}"/>
              </a:ext>
            </a:extLst>
          </p:cNvPr>
          <p:cNvGraphicFramePr/>
          <p:nvPr/>
        </p:nvGraphicFramePr>
        <p:xfrm>
          <a:off x="714375" y="2009775"/>
          <a:ext cx="6762750" cy="3238500"/>
        </p:xfrm>
        <a:graphic>
          <a:graphicData uri="http://schemas.openxmlformats.org/drawingml/2006/table">
            <a:tbl>
              <a:tblPr/>
              <a:tblGrid>
                <a:gridCol w="493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回答准确率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无共享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19%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检索历史示例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检索示例＋Agent 自行校验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63%</a:t>
                      </a:r>
                    </a:p>
                  </a:txBody>
                  <a:tcPr anchor="ctr">
                    <a:solidFill>
                      <a:srgbClr val="F6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MAVRA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" name="benefit">
            <a:extLst>
              <a:ext uri="{FF2B5EF4-FFF2-40B4-BE49-F238E27FC236}">
                <a16:creationId xmlns:a16="http://schemas.microsoft.com/office/drawing/2014/main" id="{BB202A5D-415A-448E-A7EA-D07DC9F5B055}"/>
              </a:ext>
            </a:extLst>
          </p:cNvPr>
          <p:cNvSpPr>
            <a:spLocks noGrp="1"/>
          </p:cNvSpPr>
          <p:nvPr/>
        </p:nvSpPr>
        <p:spPr>
          <a:xfrm>
            <a:off x="8201025" y="2390775"/>
            <a:ext cx="338137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6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6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615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＋16</a:t>
            </a:r>
          </a:p>
        </p:txBody>
      </p:sp>
      <p:sp>
        <p:nvSpPr>
          <p:cNvPr id="51" name="benefit-unit">
            <a:extLst>
              <a:ext uri="{FF2B5EF4-FFF2-40B4-BE49-F238E27FC236}">
                <a16:creationId xmlns:a16="http://schemas.microsoft.com/office/drawing/2014/main" id="{2D1142FF-4777-48E1-BCA9-3F7CF747CBBE}"/>
              </a:ext>
            </a:extLst>
          </p:cNvPr>
          <p:cNvSpPr>
            <a:spLocks noGrp="1"/>
          </p:cNvSpPr>
          <p:nvPr/>
        </p:nvSpPr>
        <p:spPr>
          <a:xfrm>
            <a:off x="8201025" y="3476625"/>
            <a:ext cx="33813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个百分点</a:t>
            </a:r>
          </a:p>
        </p:txBody>
      </p:sp>
      <p:sp>
        <p:nvSpPr>
          <p:cNvPr id="52" name="benefit-caption">
            <a:extLst>
              <a:ext uri="{FF2B5EF4-FFF2-40B4-BE49-F238E27FC236}">
                <a16:creationId xmlns:a16="http://schemas.microsoft.com/office/drawing/2014/main" id="{3E5ABB3D-4FF8-43A3-8FEF-B8848FEFFE6B}"/>
              </a:ext>
            </a:extLst>
          </p:cNvPr>
          <p:cNvSpPr>
            <a:spLocks noGrp="1"/>
          </p:cNvSpPr>
          <p:nvPr/>
        </p:nvSpPr>
        <p:spPr>
          <a:xfrm>
            <a:off x="7839075" y="4238625"/>
            <a:ext cx="39052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相对检索历史示例</a:t>
            </a:r>
          </a:p>
        </p:txBody>
      </p:sp>
      <p:sp>
        <p:nvSpPr>
          <p:cNvPr id="53" name="result-scope">
            <a:extLst>
              <a:ext uri="{FF2B5EF4-FFF2-40B4-BE49-F238E27FC236}">
                <a16:creationId xmlns:a16="http://schemas.microsoft.com/office/drawing/2014/main" id="{2F6503C9-31DA-4224-91A1-BC1ABA8C6614}"/>
              </a:ext>
            </a:extLst>
          </p:cNvPr>
          <p:cNvSpPr>
            <a:spLocks noGrp="1"/>
          </p:cNvSpPr>
          <p:nvPr/>
        </p:nvSpPr>
        <p:spPr>
          <a:xfrm>
            <a:off x="781050" y="5581650"/>
            <a:ext cx="106108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1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73% 是 Agent 最终回答准确率，包含修复失败后的自行探索</a:t>
            </a:r>
          </a:p>
        </p:txBody>
      </p:sp>
      <p:sp>
        <p:nvSpPr>
          <p:cNvPr id="54" name="source-caveat">
            <a:extLst>
              <a:ext uri="{FF2B5EF4-FFF2-40B4-BE49-F238E27FC236}">
                <a16:creationId xmlns:a16="http://schemas.microsoft.com/office/drawing/2014/main" id="{82C0F399-2EC1-4DDB-B640-787A11BF5AFE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06060"/>
                </a:solidFill>
                <a:latin typeface="微软雅黑"/>
                <a:ea typeface="微软雅黑"/>
                <a:cs typeface="微软雅黑"/>
              </a:rPr>
              <a:t>论文 §7.6；五类前提可覆盖的破坏性写入，每种方法独立运行三次。</a:t>
            </a:r>
          </a:p>
        </p:txBody>
      </p:sp>
      <p:sp>
        <p:nvSpPr>
          <p:cNvPr id="55" name="MAVRA-footer">
            <a:extLst>
              <a:ext uri="{FF2B5EF4-FFF2-40B4-BE49-F238E27FC236}">
                <a16:creationId xmlns:a16="http://schemas.microsoft.com/office/drawing/2014/main" id="{565E48BE-09DA-4DAD-B30E-48382E32C4DC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0F38DA85-E6A5-4A88-9C4D-DE6C1DF785B0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Picture 40">
            <a:extLst>
              <a:ext uri="{FF2B5EF4-FFF2-40B4-BE49-F238E27FC236}">
                <a16:creationId xmlns:a16="http://schemas.microsoft.com/office/drawing/2014/main" id="{5C349D2C-32CD-4DC0-84D4-E2F684EB7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145" y="6094850"/>
            <a:ext cx="2011854" cy="39429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FC40385-D772-4899-85B8-DD5B5391D39D}"/>
              </a:ext>
            </a:extLst>
          </p:cNvPr>
          <p:cNvSpPr>
            <a:spLocks noGrp="1"/>
          </p:cNvSpPr>
          <p:nvPr/>
        </p:nvSpPr>
        <p:spPr>
          <a:xfrm>
            <a:off x="0" y="907097"/>
            <a:ext cx="320494" cy="449830"/>
          </a:xfrm>
          <a:prstGeom prst="rect">
            <a:avLst/>
          </a:prstGeom>
          <a:solidFill>
            <a:srgbClr val="AE0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0FD818-DFEA-4414-95C8-BEE5084BFC0C}"/>
              </a:ext>
            </a:extLst>
          </p:cNvPr>
          <p:cNvSpPr>
            <a:spLocks noGrp="1"/>
          </p:cNvSpPr>
          <p:nvPr/>
        </p:nvSpPr>
        <p:spPr>
          <a:xfrm>
            <a:off x="367666" y="907097"/>
            <a:ext cx="101600" cy="449830"/>
          </a:xfrm>
          <a:prstGeom prst="rect">
            <a:avLst/>
          </a:prstGeom>
          <a:solidFill>
            <a:srgbClr val="DC5A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9401098-EDF6-4196-ABD0-3282279DFCA9}"/>
              </a:ext>
            </a:extLst>
          </p:cNvPr>
          <p:cNvSpPr>
            <a:spLocks noGrp="1"/>
          </p:cNvSpPr>
          <p:nvPr/>
        </p:nvSpPr>
        <p:spPr>
          <a:xfrm>
            <a:off x="647700" y="866775"/>
            <a:ext cx="10858500" cy="5257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l"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边界：结构前提识别不了所有业务变化</a:t>
            </a:r>
          </a:p>
        </p:txBody>
      </p:sp>
      <p:sp>
        <p:nvSpPr>
          <p:cNvPr id="6" name="灯片编号占位符 45">
            <a:extLst>
              <a:ext uri="{FF2B5EF4-FFF2-40B4-BE49-F238E27FC236}">
                <a16:creationId xmlns:a16="http://schemas.microsoft.com/office/drawing/2014/main" id="{33D758B4-34B8-4547-A008-9F941C696EA1}"/>
              </a:ext>
            </a:extLst>
          </p:cNvPr>
          <p:cNvSpPr>
            <a:spLocks noGrp="1"/>
          </p:cNvSpPr>
          <p:nvPr/>
        </p:nvSpPr>
        <p:spPr>
          <a:xfrm>
            <a:off x="11125200" y="6657975"/>
            <a:ext cx="800100" cy="17145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 marL="0" algn="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844E025A-983C-6D44-79C6-4612AACD43FC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101663-89C1-409D-BB37-014E4439C2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34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r="5400000" sx="102000" sy="102000" rotWithShape="0">
              <a:prstClr val="black">
                <a:alpha val="50000"/>
              </a:prstClr>
            </a:outerShdw>
            <a:reflection blurRad="6350" stA="600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328B25-7EAE-4D49-BE22-51A74090263A}"/>
              </a:ext>
            </a:extLst>
          </p:cNvPr>
          <p:cNvSpPr>
            <a:spLocks noGrp="1"/>
          </p:cNvSpPr>
          <p:nvPr/>
        </p:nvSpPr>
        <p:spPr>
          <a:xfrm>
            <a:off x="9753600" y="0"/>
            <a:ext cx="2438400" cy="5735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buNone/>
            </a:pPr>
            <a:endParaRPr sz="28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4350E9-220D-42C1-A052-43F33C5ECEDD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业务例子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CFD730-6B2F-4977-A79D-646E2E80A0D1}"/>
              </a:ext>
            </a:extLst>
          </p:cNvPr>
          <p:cNvSpPr>
            <a:spLocks noGrp="1"/>
          </p:cNvSpPr>
          <p:nvPr/>
        </p:nvSpPr>
        <p:spPr>
          <a:xfrm>
            <a:off x="24384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学习与发布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591A82-F445-432A-930A-51B87D009856}"/>
              </a:ext>
            </a:extLst>
          </p:cNvPr>
          <p:cNvSpPr>
            <a:spLocks noGrp="1"/>
          </p:cNvSpPr>
          <p:nvPr/>
        </p:nvSpPr>
        <p:spPr>
          <a:xfrm>
            <a:off x="48768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marL="742950" indent="-742950"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共享与使用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63CA5-AAD6-4AC8-BC79-C9EFF399883F}"/>
              </a:ext>
            </a:extLst>
          </p:cNvPr>
          <p:cNvSpPr>
            <a:spLocks noGrp="1"/>
          </p:cNvSpPr>
          <p:nvPr/>
        </p:nvSpPr>
        <p:spPr>
          <a:xfrm>
            <a:off x="73152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更新与维护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A35AE7-3596-442A-B05B-93957F3E951C}"/>
              </a:ext>
            </a:extLst>
          </p:cNvPr>
          <p:cNvSpPr>
            <a:spLocks noGrp="1"/>
          </p:cNvSpPr>
          <p:nvPr/>
        </p:nvSpPr>
        <p:spPr>
          <a:xfrm>
            <a:off x="9753600" y="76200"/>
            <a:ext cx="24384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实验证据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813B1B-94C8-4F85-BE50-105F62606A5D}"/>
              </a:ext>
            </a:extLst>
          </p:cNvPr>
          <p:cNvSpPr>
            <a:spLocks noGrp="1"/>
          </p:cNvSpPr>
          <p:nvPr/>
        </p:nvSpPr>
        <p:spPr>
          <a:xfrm>
            <a:off x="2496000" y="151742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696F54E-5212-49DF-BA92-D07A099FB08E}"/>
              </a:ext>
            </a:extLst>
          </p:cNvPr>
          <p:cNvSpPr>
            <a:spLocks noGrp="1"/>
          </p:cNvSpPr>
          <p:nvPr/>
        </p:nvSpPr>
        <p:spPr>
          <a:xfrm>
            <a:off x="9733182" y="130869"/>
            <a:ext cx="0" cy="270000"/>
          </a:xfrm>
          <a:prstGeom prst="line">
            <a:avLst/>
          </a:prstGeom>
          <a:ln w="31750">
            <a:solidFill>
              <a:srgbClr val="AE0B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graphicFrame>
        <p:nvGraphicFramePr>
          <p:cNvPr id="49" name="limits">
            <a:extLst>
              <a:ext uri="{FF2B5EF4-FFF2-40B4-BE49-F238E27FC236}">
                <a16:creationId xmlns:a16="http://schemas.microsoft.com/office/drawing/2014/main" id="{A56192A0-FADE-43A6-9188-6E1418DF6F86}"/>
              </a:ext>
            </a:extLst>
          </p:cNvPr>
          <p:cNvGraphicFramePr/>
          <p:nvPr/>
        </p:nvGraphicFramePr>
        <p:xfrm>
          <a:off x="714375" y="2076450"/>
          <a:ext cx="10763250" cy="27432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变化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结构前提能看到什么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系统如何处理</a:t>
                      </a:r>
                    </a:p>
                  </a:txBody>
                  <a:tcPr anchor="ctr">
                    <a:solidFill>
                      <a:srgbClr val="A2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金额单位变更</a:t>
                      </a:r>
                    </a:p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600 元写成 60000 分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行数、键与连接都不变</a:t>
                      </a:r>
                    </a:p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不能识别单位语义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需要新的业务证据</a:t>
                      </a:r>
                    </a:p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不能靠前提自动发现</a:t>
                      </a:r>
                    </a:p>
                  </a:txBody>
                  <a:tcPr anchor="ctr">
                    <a:solidFill>
                      <a:srgbClr val="F8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两份完整数据副本</a:t>
                      </a:r>
                    </a:p>
                    <a:p>
                      <a:pPr algn="l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各自都能恢复主键唯一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能发现重复</a:t>
                      </a:r>
                    </a:p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但有多个可行过滤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拒绝选择任一副本</a:t>
                      </a:r>
                    </a:p>
                    <a:p>
                      <a:pPr algn="ctr">
                        <a:buNone/>
                      </a:pPr>
                      <a:r>
                        <a:rPr sz="2025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定义保持失效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" name="takeaway-band">
            <a:extLst>
              <a:ext uri="{FF2B5EF4-FFF2-40B4-BE49-F238E27FC236}">
                <a16:creationId xmlns:a16="http://schemas.microsoft.com/office/drawing/2014/main" id="{8C6468D4-3E7A-40FC-96F5-83F36ED2C7A2}"/>
              </a:ext>
            </a:extLst>
          </p:cNvPr>
          <p:cNvSpPr>
            <a:spLocks noGrp="1"/>
          </p:cNvSpPr>
          <p:nvPr/>
        </p:nvSpPr>
        <p:spPr>
          <a:xfrm>
            <a:off x="714375" y="5400675"/>
            <a:ext cx="10763250" cy="533400"/>
          </a:xfrm>
          <a:prstGeom prst="rect">
            <a:avLst/>
          </a:prstGeom>
          <a:solidFill>
            <a:srgbClr val="F8EFE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akeaway">
            <a:extLst>
              <a:ext uri="{FF2B5EF4-FFF2-40B4-BE49-F238E27FC236}">
                <a16:creationId xmlns:a16="http://schemas.microsoft.com/office/drawing/2014/main" id="{AA603F0D-24D2-47EE-A2D5-B5155152617D}"/>
              </a:ext>
            </a:extLst>
          </p:cNvPr>
          <p:cNvSpPr>
            <a:spLocks noGrp="1"/>
          </p:cNvSpPr>
          <p:nvPr/>
        </p:nvSpPr>
        <p:spPr>
          <a:xfrm>
            <a:off x="866775" y="5457825"/>
            <a:ext cx="10458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A23838"/>
                </a:solidFill>
                <a:latin typeface="微软雅黑"/>
                <a:ea typeface="微软雅黑"/>
                <a:cs typeface="微软雅黑"/>
              </a:rPr>
              <a:t>检查失败且无法唯一修复时，等待重新学习或新的业务证据</a:t>
            </a:r>
          </a:p>
        </p:txBody>
      </p:sp>
      <p:sp>
        <p:nvSpPr>
          <p:cNvPr id="52" name="source-note">
            <a:extLst>
              <a:ext uri="{FF2B5EF4-FFF2-40B4-BE49-F238E27FC236}">
                <a16:creationId xmlns:a16="http://schemas.microsoft.com/office/drawing/2014/main" id="{0D068EF5-BAF1-49AC-9FD1-E5A28EE0A76C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91249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保证依赖业务含义正确、查询声明版本，以及同快照执行。</a:t>
            </a:r>
          </a:p>
        </p:txBody>
      </p:sp>
      <p:sp>
        <p:nvSpPr>
          <p:cNvPr id="53" name="MAVRA-footer">
            <a:extLst>
              <a:ext uri="{FF2B5EF4-FFF2-40B4-BE49-F238E27FC236}">
                <a16:creationId xmlns:a16="http://schemas.microsoft.com/office/drawing/2014/main" id="{0113DFF3-CBB2-4592-8A3E-1DAEF1EF079F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143544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8E662710-C29D-4FB8-8484-45E24BC1C9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61" t="20535" r="8157" b="34135"/>
          <a:stretch>
            <a:fillRect/>
          </a:stretch>
        </p:blipFill>
        <p:spPr>
          <a:xfrm flipH="1">
            <a:off x="0" y="1485265"/>
            <a:ext cx="12192000" cy="3602355"/>
          </a:xfrm>
          <a:prstGeom prst="rect">
            <a:avLst/>
          </a:prstGeom>
        </p:spPr>
      </p:pic>
      <p:sp>
        <p:nvSpPr>
          <p:cNvPr id="12" name="淘宝-想搞设计PPT(倒卖必究)-24">
            <a:extLst>
              <a:ext uri="{FF2B5EF4-FFF2-40B4-BE49-F238E27FC236}">
                <a16:creationId xmlns:a16="http://schemas.microsoft.com/office/drawing/2014/main" id="{D17B7066-2A4F-406B-B6C6-9CEECF9A2537}"/>
              </a:ext>
            </a:extLst>
          </p:cNvPr>
          <p:cNvSpPr>
            <a:spLocks noGrp="1"/>
          </p:cNvSpPr>
          <p:nvPr/>
        </p:nvSpPr>
        <p:spPr>
          <a:xfrm>
            <a:off x="0" y="1485265"/>
            <a:ext cx="12192000" cy="3602355"/>
          </a:xfrm>
          <a:prstGeom prst="rect">
            <a:avLst/>
          </a:prstGeom>
          <a:solidFill>
            <a:srgbClr val="A23838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A98F4D-6DBD-4D93-8E43-06A1915D034E}"/>
              </a:ext>
            </a:extLst>
          </p:cNvPr>
          <p:cNvSpPr>
            <a:spLocks noGrp="1"/>
          </p:cNvSpPr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A238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淘宝-想搞设计PPT(倒卖必究)-4">
            <a:extLst>
              <a:ext uri="{FF2B5EF4-FFF2-40B4-BE49-F238E27FC236}">
                <a16:creationId xmlns:a16="http://schemas.microsoft.com/office/drawing/2014/main" id="{2E5F918B-39AD-4052-B5F6-9DB18AB94D85}"/>
              </a:ext>
            </a:extLst>
          </p:cNvPr>
          <p:cNvSpPr>
            <a:spLocks noGrp="1"/>
          </p:cNvSpPr>
          <p:nvPr/>
        </p:nvSpPr>
        <p:spPr>
          <a:xfrm>
            <a:off x="5530463" y="752088"/>
            <a:ext cx="1193304" cy="11933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F35CFC1-064B-436F-8E8E-15188B769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496" y="771121"/>
            <a:ext cx="1155238" cy="115523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3835FAD2-ACC7-46CE-AB52-CFDF394D5896}"/>
              </a:ext>
            </a:extLst>
          </p:cNvPr>
          <p:cNvSpPr>
            <a:spLocks noGrp="1"/>
          </p:cNvSpPr>
          <p:nvPr/>
        </p:nvSpPr>
        <p:spPr>
          <a:xfrm>
            <a:off x="952500" y="5505450"/>
            <a:ext cx="10287000" cy="4892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 algn="ctr">
              <a:def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202124"/>
                </a:solidFill>
                <a:latin typeface="微软雅黑"/>
                <a:ea typeface="微软雅黑"/>
                <a:cs typeface="微软雅黑"/>
              </a:rPr>
              <a:t>退货看机制，营业额看运行：学习、复用与使用时维护</a:t>
            </a:r>
            <a:endParaRPr sz="20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淘宝-想搞设计PPT(倒卖必究)-7">
            <a:extLst>
              <a:ext uri="{FF2B5EF4-FFF2-40B4-BE49-F238E27FC236}">
                <a16:creationId xmlns:a16="http://schemas.microsoft.com/office/drawing/2014/main" id="{8C0AD2EC-4FA7-4E1B-9043-A4113BBA6738}"/>
              </a:ext>
            </a:extLst>
          </p:cNvPr>
          <p:cNvSpPr>
            <a:spLocks noGrp="1"/>
          </p:cNvSpPr>
          <p:nvPr/>
        </p:nvSpPr>
        <p:spPr>
          <a:xfrm>
            <a:off x="1143000" y="2619375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buNone/>
              <a:defRPr sz="4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让共享的指标定义持续可信</a:t>
            </a:r>
          </a:p>
        </p:txBody>
      </p:sp>
      <p:sp>
        <p:nvSpPr>
          <p:cNvPr id="15" name="淘宝-想搞设计PPT(倒卖必究)-8">
            <a:extLst>
              <a:ext uri="{FF2B5EF4-FFF2-40B4-BE49-F238E27FC236}">
                <a16:creationId xmlns:a16="http://schemas.microsoft.com/office/drawing/2014/main" id="{B1EA418B-C1C5-4375-BA2C-094965CCD89E}"/>
              </a:ext>
            </a:extLst>
          </p:cNvPr>
          <p:cNvSpPr>
            <a:spLocks noGrp="1"/>
          </p:cNvSpPr>
          <p:nvPr/>
        </p:nvSpPr>
        <p:spPr>
          <a:xfrm>
            <a:off x="952500" y="4114800"/>
            <a:ext cx="10287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  <a:lvl1pPr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buNone/>
              <a:def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学到口径以后，还要检查它在当前数据上是否成立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A3E0B4AC-1FA7-4608-982C-4A179FF22DE3}"/>
              </a:ext>
            </a:extLst>
          </p:cNvPr>
          <p:cNvSpPr>
            <a:spLocks noGrp="1"/>
          </p:cNvSpPr>
          <p:nvPr/>
        </p:nvSpPr>
        <p:spPr>
          <a:xfrm>
            <a:off x="2927668" y="3933190"/>
            <a:ext cx="6983730" cy="0"/>
          </a:xfrm>
          <a:prstGeom prst="line">
            <a:avLst/>
          </a:prstGeom>
          <a:ln w="28575">
            <a:solidFill>
              <a:srgbClr val="FEF9F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" name="灯片编号占位符 45">
            <a:extLst>
              <a:ext uri="{FF2B5EF4-FFF2-40B4-BE49-F238E27FC236}">
                <a16:creationId xmlns:a16="http://schemas.microsoft.com/office/drawing/2014/main" id="{E4003A9B-F48A-4B4E-B4E3-8D17FC777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125200" y="6657975"/>
            <a:ext cx="800100" cy="171450"/>
          </a:xfrm>
        </p:spPr>
        <p:txBody>
          <a:bodyPr wrap="square" lIns="0" tIns="0" rIns="0" bIns="0" anchor="ctr">
            <a:noAutofit/>
          </a:bodyPr>
          <a:lstStyle>
            <a:defPPr algn="r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r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fld id="{F6DF2BE2-2DFA-1C03-677D-BDC2260D6D92}" type="slidenum"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21</a:t>
            </a:fld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MAVRA-footer">
            <a:extLst>
              <a:ext uri="{FF2B5EF4-FFF2-40B4-BE49-F238E27FC236}">
                <a16:creationId xmlns:a16="http://schemas.microsoft.com/office/drawing/2014/main" id="{4AEEBF16-4C32-4E58-9959-6E0861E3A54E}"/>
              </a:ext>
            </a:extLst>
          </p:cNvPr>
          <p:cNvSpPr>
            <a:spLocks noGrp="1"/>
          </p:cNvSpPr>
          <p:nvPr/>
        </p:nvSpPr>
        <p:spPr>
          <a:xfrm>
            <a:off x="152400" y="6657975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MAVRA</a:t>
            </a:r>
          </a:p>
        </p:txBody>
      </p:sp>
    </p:spTree>
    <p:extLst>
      <p:ext uri="{BB962C8B-B14F-4D97-AF65-F5344CB8AC3E}">
        <p14:creationId xmlns:p14="http://schemas.microsoft.com/office/powerpoint/2010/main" val="1663662246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2">
  <a:themeElements>
    <a:clrScheme name="党政风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0707"/>
      </a:accent1>
      <a:accent2>
        <a:srgbClr val="A60303"/>
      </a:accent2>
      <a:accent3>
        <a:srgbClr val="F27F1B"/>
      </a:accent3>
      <a:accent4>
        <a:srgbClr val="F2A71B"/>
      </a:accent4>
      <a:accent5>
        <a:srgbClr val="C2C4F2"/>
      </a:accent5>
      <a:accent6>
        <a:srgbClr val="71B8FF"/>
      </a:accent6>
      <a:hlink>
        <a:srgbClr val="0563C1"/>
      </a:hlink>
      <a:folHlink>
        <a:srgbClr val="954F72"/>
      </a:folHlink>
    </a:clrScheme>
    <a:fontScheme name="党政">
      <a:majorFont>
        <a:latin typeface="思源宋体 CN Medium"/>
        <a:ea typeface="思源宋体 CN Light"/>
        <a:cs typeface=""/>
      </a:majorFont>
      <a:minorFont>
        <a:latin typeface="思源宋体 CN Light"/>
        <a:ea typeface="思源宋体 CN Heavy"/>
        <a:cs typeface=""/>
      </a:minorFont>
    </a:fontScheme>
    <a:fmtScheme name="党政风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主题2">
  <a:themeElements>
    <a:clrScheme name="党政风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0707"/>
      </a:accent1>
      <a:accent2>
        <a:srgbClr val="A60303"/>
      </a:accent2>
      <a:accent3>
        <a:srgbClr val="F27F1B"/>
      </a:accent3>
      <a:accent4>
        <a:srgbClr val="F2A71B"/>
      </a:accent4>
      <a:accent5>
        <a:srgbClr val="C2C4F2"/>
      </a:accent5>
      <a:accent6>
        <a:srgbClr val="71B8FF"/>
      </a:accent6>
      <a:hlink>
        <a:srgbClr val="0563C1"/>
      </a:hlink>
      <a:folHlink>
        <a:srgbClr val="954F72"/>
      </a:folHlink>
    </a:clrScheme>
    <a:fontScheme name="党政">
      <a:majorFont>
        <a:latin typeface="思源宋体 CN Medium"/>
        <a:ea typeface="思源宋体 CN Light"/>
        <a:cs typeface=""/>
      </a:majorFont>
      <a:minorFont>
        <a:latin typeface="思源宋体 CN Light"/>
        <a:ea typeface="思源宋体 CN Heavy"/>
        <a:cs typeface=""/>
      </a:minorFont>
    </a:fontScheme>
    <a:fmtScheme name="党政风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主题2">
  <a:themeElements>
    <a:clrScheme name="党政风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0707"/>
      </a:accent1>
      <a:accent2>
        <a:srgbClr val="A60303"/>
      </a:accent2>
      <a:accent3>
        <a:srgbClr val="F27F1B"/>
      </a:accent3>
      <a:accent4>
        <a:srgbClr val="F2A71B"/>
      </a:accent4>
      <a:accent5>
        <a:srgbClr val="C2C4F2"/>
      </a:accent5>
      <a:accent6>
        <a:srgbClr val="71B8FF"/>
      </a:accent6>
      <a:hlink>
        <a:srgbClr val="0563C1"/>
      </a:hlink>
      <a:folHlink>
        <a:srgbClr val="954F72"/>
      </a:folHlink>
    </a:clrScheme>
    <a:fontScheme name="党政">
      <a:majorFont>
        <a:latin typeface="思源宋体 CN Medium"/>
        <a:ea typeface="思源宋体 CN Light"/>
        <a:cs typeface=""/>
      </a:majorFont>
      <a:minorFont>
        <a:latin typeface="思源宋体 CN Light"/>
        <a:ea typeface="思源宋体 CN Heavy"/>
        <a:cs typeface=""/>
      </a:minorFont>
    </a:fontScheme>
    <a:fmtScheme name="党政风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2902</Words>
  <Application>Microsoft Office PowerPoint</Application>
  <DocSecurity>0</DocSecurity>
  <PresentationFormat>宽屏</PresentationFormat>
  <Paragraphs>546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思源宋体 CN Light</vt:lpstr>
      <vt:lpstr>微软雅黑</vt:lpstr>
      <vt:lpstr>Arial</vt:lpstr>
      <vt:lpstr>思源宋体 CN Medium</vt:lpstr>
      <vt:lpstr>主题2</vt:lpstr>
      <vt:lpstr>3_主题2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泰 明</cp:lastModifiedBy>
  <cp:revision>3</cp:revision>
  <dcterms:created xsi:type="dcterms:W3CDTF">2026-10-10T08:09:34Z</dcterms:created>
  <dcterms:modified xsi:type="dcterms:W3CDTF">2026-10-10T08:31:11Z</dcterms:modified>
</cp:coreProperties>
</file>