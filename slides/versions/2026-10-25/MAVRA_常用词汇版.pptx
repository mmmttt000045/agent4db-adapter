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03af594d69423c" /><Relationship Type="http://schemas.openxmlformats.org/officeDocument/2006/relationships/extended-properties" Target="/docProps/app.xml" Id="R2341e81bbb7e48b3" /><Relationship Type="http://schemas.openxmlformats.org/officeDocument/2006/relationships/officeDocument" Target="/ppt/presentation.xml" Id="Rd457919774994f2b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9bab5cbf74ec4903"/>
    <p:sldMasterId xmlns:r="http://schemas.openxmlformats.org/officeDocument/2006/relationships" id="2147483655" r:id="Rf8b63a38793e40bd"/>
  </p:sldMasterIdLst>
  <p:notesMasterIdLst>
    <p:notesMasterId xmlns:r="http://schemas.openxmlformats.org/officeDocument/2006/relationships" r:id="Ra4f6916f6ae14929"/>
  </p:notesMasterIdLst>
  <p:sldIdLst>
    <p:sldId xmlns:r="http://schemas.openxmlformats.org/officeDocument/2006/relationships" id="256" r:id="Ra006994d46094319"/>
    <p:sldId xmlns:r="http://schemas.openxmlformats.org/officeDocument/2006/relationships" id="257" r:id="R1f402664b2024741"/>
    <p:sldId xmlns:r="http://schemas.openxmlformats.org/officeDocument/2006/relationships" id="258" r:id="R6223fa2c7c2941a1"/>
    <p:sldId xmlns:r="http://schemas.openxmlformats.org/officeDocument/2006/relationships" id="259" r:id="Rc8032dca10404599"/>
    <p:sldId xmlns:r="http://schemas.openxmlformats.org/officeDocument/2006/relationships" id="260" r:id="Rf41387457b5041f8"/>
    <p:sldId xmlns:r="http://schemas.openxmlformats.org/officeDocument/2006/relationships" id="261" r:id="R405b4ff15f714fdf"/>
    <p:sldId xmlns:r="http://schemas.openxmlformats.org/officeDocument/2006/relationships" id="262" r:id="R68c43ae2504c458a"/>
    <p:sldId xmlns:r="http://schemas.openxmlformats.org/officeDocument/2006/relationships" id="263" r:id="R7fac3dfe34294798"/>
    <p:sldId xmlns:r="http://schemas.openxmlformats.org/officeDocument/2006/relationships" id="264" r:id="R0873a15c28f34227"/>
    <p:sldId xmlns:r="http://schemas.openxmlformats.org/officeDocument/2006/relationships" id="265" r:id="R066768854ca449b2"/>
    <p:sldId xmlns:r="http://schemas.openxmlformats.org/officeDocument/2006/relationships" id="266" r:id="Ra7702a413ca449b7"/>
    <p:sldId xmlns:r="http://schemas.openxmlformats.org/officeDocument/2006/relationships" id="267" r:id="R5275d37e1b9d4bac"/>
    <p:sldId xmlns:r="http://schemas.openxmlformats.org/officeDocument/2006/relationships" id="268" r:id="R4b1ff4e149f34d65"/>
    <p:sldId xmlns:r="http://schemas.openxmlformats.org/officeDocument/2006/relationships" id="269" r:id="R46bea06764054e0a"/>
    <p:sldId xmlns:r="http://schemas.openxmlformats.org/officeDocument/2006/relationships" id="270" r:id="R0173ede0d3574fde"/>
    <p:sldId xmlns:r="http://schemas.openxmlformats.org/officeDocument/2006/relationships" id="271" r:id="R6aa75786e6f040ad"/>
    <p:sldId xmlns:r="http://schemas.openxmlformats.org/officeDocument/2006/relationships" id="272" r:id="Rc20f25ebb92e45ef"/>
    <p:sldId xmlns:r="http://schemas.openxmlformats.org/officeDocument/2006/relationships" id="273" r:id="R4ffe0efcaf0a4abc"/>
    <p:sldId xmlns:r="http://schemas.openxmlformats.org/officeDocument/2006/relationships" id="274" r:id="Rf2411ad96d6f46c5"/>
    <p:sldId xmlns:r="http://schemas.openxmlformats.org/officeDocument/2006/relationships" id="275" r:id="Rb5a11c54289d4fb9"/>
    <p:sldId xmlns:r="http://schemas.openxmlformats.org/officeDocument/2006/relationships" id="276" r:id="R3edb482223fa41a7"/>
  </p:sldIdLst>
  <p:sldSz cx="12192000" cy="6858000"/>
  <p:notesSz cx="6858000" cy="9144000"/>
  <p:embeddedFontLst>
    <p:embeddedFont>
      <p:font typeface="微软雅黑"/>
      <p:regular xmlns:r="http://schemas.openxmlformats.org/officeDocument/2006/relationships" r:id="R63453e33b1d842f8"/>
      <p:bold xmlns:r="http://schemas.openxmlformats.org/officeDocument/2006/relationships" r:id="Rd5f370f0a5a14e88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authors.xml><?xml version="1.0" encoding="utf-8"?>
<p188:authorLst xmlns:p188="http://schemas.microsoft.com/office/powerpoint/2018/8/main">
  <p188:author id="{7265A9FE-0638-E1AD-55F9-8C6FFAC0F837}" name="梦阳 马" initials="梦马" userId="9fbde04e6393f71f" providerId="Windows Liv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45000" cy="45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0dace28baf49f1" /><Relationship Type="http://schemas.openxmlformats.org/officeDocument/2006/relationships/slideMaster" Target="/ppt/slideMasters/slideMaster1.xml" Id="R9bab5cbf74ec4903" /><Relationship Type="http://schemas.openxmlformats.org/officeDocument/2006/relationships/slideMaster" Target="/ppt/slideMasters/slideMaster2.xml" Id="Rf8b63a38793e40bd" /><Relationship Type="http://schemas.openxmlformats.org/officeDocument/2006/relationships/notesMaster" Target="/ppt/notesMasters/notesMaster1.xml" Id="Ra4f6916f6ae14929" /><Relationship Type="http://schemas.openxmlformats.org/officeDocument/2006/relationships/presProps" Target="/ppt/presProps.xml" Id="Re58d2e339c094823" /><Relationship Type="http://schemas.openxmlformats.org/officeDocument/2006/relationships/viewProps" Target="/ppt/viewProps.xml" Id="R2c2301c6727f497b" /><Relationship Type="http://schemas.openxmlformats.org/officeDocument/2006/relationships/tableStyles" Target="/ppt/tableStyles.xml" Id="R369b629613594b9c" /><Relationship Type="http://schemas.openxmlformats.org/officeDocument/2006/relationships/font" Target="/ppt/fonts/font.dat" Id="R63453e33b1d842f8" /><Relationship Type="http://schemas.openxmlformats.org/officeDocument/2006/relationships/font" Target="/ppt/fonts/font2.dat" Id="Rd5f370f0a5a14e88" /><Relationship Type="http://schemas.microsoft.com/office/2018/10/relationships/authors" Target="/ppt/authors.xml" Id="Rae6f23da3adc4b2d" /><Relationship Type="http://schemas.openxmlformats.org/officeDocument/2006/relationships/slide" Target="/ppt/slides/slide1.xml" Id="Ra006994d46094319" /><Relationship Type="http://schemas.openxmlformats.org/officeDocument/2006/relationships/slide" Target="/ppt/slides/slide2.xml" Id="R1f402664b2024741" /><Relationship Type="http://schemas.openxmlformats.org/officeDocument/2006/relationships/slide" Target="/ppt/slides/slide3.xml" Id="R6223fa2c7c2941a1" /><Relationship Type="http://schemas.openxmlformats.org/officeDocument/2006/relationships/slide" Target="/ppt/slides/slide4.xml" Id="Rc8032dca10404599" /><Relationship Type="http://schemas.openxmlformats.org/officeDocument/2006/relationships/slide" Target="/ppt/slides/slide5.xml" Id="Rf41387457b5041f8" /><Relationship Type="http://schemas.openxmlformats.org/officeDocument/2006/relationships/slide" Target="/ppt/slides/slide6.xml" Id="R405b4ff15f714fdf" /><Relationship Type="http://schemas.openxmlformats.org/officeDocument/2006/relationships/slide" Target="/ppt/slides/slide7.xml" Id="R68c43ae2504c458a" /><Relationship Type="http://schemas.openxmlformats.org/officeDocument/2006/relationships/slide" Target="/ppt/slides/slide8.xml" Id="R7fac3dfe34294798" /><Relationship Type="http://schemas.openxmlformats.org/officeDocument/2006/relationships/slide" Target="/ppt/slides/slide9.xml" Id="R0873a15c28f34227" /><Relationship Type="http://schemas.openxmlformats.org/officeDocument/2006/relationships/slide" Target="/ppt/slides/slide10.xml" Id="R066768854ca449b2" /><Relationship Type="http://schemas.openxmlformats.org/officeDocument/2006/relationships/slide" Target="/ppt/slides/slide11.xml" Id="Ra7702a413ca449b7" /><Relationship Type="http://schemas.openxmlformats.org/officeDocument/2006/relationships/slide" Target="/ppt/slides/slide12.xml" Id="R5275d37e1b9d4bac" /><Relationship Type="http://schemas.openxmlformats.org/officeDocument/2006/relationships/slide" Target="/ppt/slides/slide13.xml" Id="R4b1ff4e149f34d65" /><Relationship Type="http://schemas.openxmlformats.org/officeDocument/2006/relationships/slide" Target="/ppt/slides/slide14.xml" Id="R46bea06764054e0a" /><Relationship Type="http://schemas.openxmlformats.org/officeDocument/2006/relationships/slide" Target="/ppt/slides/slide15.xml" Id="R0173ede0d3574fde" /><Relationship Type="http://schemas.openxmlformats.org/officeDocument/2006/relationships/slide" Target="/ppt/slides/slide16.xml" Id="R6aa75786e6f040ad" /><Relationship Type="http://schemas.openxmlformats.org/officeDocument/2006/relationships/slide" Target="/ppt/slides/slide17.xml" Id="Rc20f25ebb92e45ef" /><Relationship Type="http://schemas.openxmlformats.org/officeDocument/2006/relationships/slide" Target="/ppt/slides/slide18.xml" Id="R4ffe0efcaf0a4abc" /><Relationship Type="http://schemas.openxmlformats.org/officeDocument/2006/relationships/slide" Target="/ppt/slides/slide19.xml" Id="Rf2411ad96d6f46c5" /><Relationship Type="http://schemas.openxmlformats.org/officeDocument/2006/relationships/slide" Target="/ppt/slides/slide20.xml" Id="Rb5a11c54289d4fb9" /><Relationship Type="http://schemas.openxmlformats.org/officeDocument/2006/relationships/slide" Target="/ppt/slides/slide21.xml" Id="R3edb482223fa41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eaed49e5e7149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主题2">
  <a:themeElements>
    <a:clrScheme name="党政风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0707"/>
      </a:accent1>
      <a:accent2>
        <a:srgbClr val="A60303"/>
      </a:accent2>
      <a:accent3>
        <a:srgbClr val="F27F1B"/>
      </a:accent3>
      <a:accent4>
        <a:srgbClr val="F2A71B"/>
      </a:accent4>
      <a:accent5>
        <a:srgbClr val="C2C4F2"/>
      </a:accent5>
      <a:accent6>
        <a:srgbClr val="71B8FF"/>
      </a:accent6>
      <a:hlink>
        <a:srgbClr val="0563C1"/>
      </a:hlink>
      <a:folHlink>
        <a:srgbClr val="954F72"/>
      </a:folHlink>
    </a:clrScheme>
    <a:fontScheme name="党政">
      <a:majorFont>
        <a:latin typeface="思源宋体 CN Medium"/>
        <a:ea typeface="思源宋体 CN Light"/>
        <a:cs typeface=""/>
      </a:majorFont>
      <a:minorFont>
        <a:latin typeface="思源宋体 CN Light"/>
        <a:ea typeface="思源宋体 CN Heavy"/>
        <a:cs typeface=""/>
      </a:minorFont>
    </a:fontScheme>
    <a:fmtScheme name="党政风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2636ae02bf4486" /><Relationship Type="http://schemas.openxmlformats.org/officeDocument/2006/relationships/notesMaster" Target="/ppt/notesMasters/notesMaster1.xml" Id="Rc5538368a3fd43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5e2c004187406a" /><Relationship Type="http://schemas.openxmlformats.org/officeDocument/2006/relationships/notesMaster" Target="/ppt/notesMasters/notesMaster1.xml" Id="R8ea723ef01bb45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55dc5491ef4863" /><Relationship Type="http://schemas.openxmlformats.org/officeDocument/2006/relationships/notesMaster" Target="/ppt/notesMasters/notesMaster1.xml" Id="R9e3d4cb5175642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8ba31327f24458" /><Relationship Type="http://schemas.openxmlformats.org/officeDocument/2006/relationships/notesMaster" Target="/ppt/notesMasters/notesMaster1.xml" Id="Rea37f6771bff4d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75465987524a47" /><Relationship Type="http://schemas.openxmlformats.org/officeDocument/2006/relationships/notesMaster" Target="/ppt/notesMasters/notesMaster1.xml" Id="R4b432eae608f41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3a90647ffc4f91" /><Relationship Type="http://schemas.openxmlformats.org/officeDocument/2006/relationships/notesMaster" Target="/ppt/notesMasters/notesMaster1.xml" Id="R9c37ad72f74742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76a78bacd94b34" /><Relationship Type="http://schemas.openxmlformats.org/officeDocument/2006/relationships/notesMaster" Target="/ppt/notesMasters/notesMaster1.xml" Id="R7102f52814c447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154773142442c8" /><Relationship Type="http://schemas.openxmlformats.org/officeDocument/2006/relationships/notesMaster" Target="/ppt/notesMasters/notesMaster1.xml" Id="R6da62cd7f3bf47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cc367abf9e4a34" /><Relationship Type="http://schemas.openxmlformats.org/officeDocument/2006/relationships/notesMaster" Target="/ppt/notesMasters/notesMaster1.xml" Id="R5788dd21056d4c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b134894b5342b9" /><Relationship Type="http://schemas.openxmlformats.org/officeDocument/2006/relationships/notesMaster" Target="/ppt/notesMasters/notesMaster1.xml" Id="R7bd2f526c94449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f0b884badb4fd9" /><Relationship Type="http://schemas.openxmlformats.org/officeDocument/2006/relationships/notesMaster" Target="/ppt/notesMasters/notesMaster1.xml" Id="R29e98575010e4f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037926ac9644e3" /><Relationship Type="http://schemas.openxmlformats.org/officeDocument/2006/relationships/notesMaster" Target="/ppt/notesMasters/notesMaster1.xml" Id="Rbea3b04835254d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c37166a5aa4874" /><Relationship Type="http://schemas.openxmlformats.org/officeDocument/2006/relationships/notesMaster" Target="/ppt/notesMasters/notesMaster1.xml" Id="R55454231c6a043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359cf1c43043ac" /><Relationship Type="http://schemas.openxmlformats.org/officeDocument/2006/relationships/notesMaster" Target="/ppt/notesMasters/notesMaster1.xml" Id="R4edc4885a53f4d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755db371144795" /><Relationship Type="http://schemas.openxmlformats.org/officeDocument/2006/relationships/notesMaster" Target="/ppt/notesMasters/notesMaster1.xml" Id="R9318c510f35142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94179223844813" /><Relationship Type="http://schemas.openxmlformats.org/officeDocument/2006/relationships/notesMaster" Target="/ppt/notesMasters/notesMaster1.xml" Id="R6106724e4a7b468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0a764af053348f5" /><Relationship Type="http://schemas.openxmlformats.org/officeDocument/2006/relationships/notesMaster" Target="/ppt/notesMasters/notesMaster1.xml" Id="Rd61cc64a17c34c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88ec9faf904a38" /><Relationship Type="http://schemas.openxmlformats.org/officeDocument/2006/relationships/notesMaster" Target="/ppt/notesMasters/notesMaster1.xml" Id="R798dfedb6e71410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7ffbeed5ec24d84" /><Relationship Type="http://schemas.openxmlformats.org/officeDocument/2006/relationships/notesMaster" Target="/ppt/notesMasters/notesMaster1.xml" Id="Rc65d9eed4fd64d0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f103d376f04504" /><Relationship Type="http://schemas.openxmlformats.org/officeDocument/2006/relationships/notesMaster" Target="/ppt/notesMasters/notesMaster1.xml" Id="R11f27b5ccc2148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d48e1a59bab4d63" /><Relationship Type="http://schemas.openxmlformats.org/officeDocument/2006/relationships/notesMaster" Target="/ppt/notesMasters/notesMaster1.xml" Id="R99d6bb8243194a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 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今天介绍 MAVRA。一个 Agent 学会怎样计算营业额后，其他 Agent 可以使用同样的规则。数据变了以后，系统还要检查这些规则能不能继续用。先用三笔退货把过程讲清楚，再看门店营业额的真实运行，最后看实验结果。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Agents。摘要与第 1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用户要求只算已完成的退货，月份按退货日期确定。右侧三笔退货都是九月，100 加 200 加 300，结果是 600 元。这里用小票号和商品号一起识别一笔退货，例如 R01/A。这是帮助理解的例子，数字不是论文测量结果。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1、3、4.1 节。该数值例子依据论文的退货状态变更场景构造。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Agent 先找退货金额、状态和日期等字段，再按用户说明只保留已完成的退货，筛选九月并求和，得到 600 元。系统要记住的是怎么算，以及为什么这样算。下一页展示门店营业额的真实工具调用记录。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 main-en.pdf，MAVRA: Maintainable Shared Memory for Data Agents。第 1、5.1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真实学习题问三月门店营业额，计算规则是销售记录的净支付额相加，月份按销售日期确定。Agent 先列出表，确认没有已检查的规则，再分别查看销售表和日期表，找到连接方式，执行 SQL，最后提交答案。describe_table 调用了两次，所以共七次调用、五轮。结果是 13,570,368.70 元。0.3 秒只计算工具执行时间，不包含模型思考和等待。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下一个 Agent 要算十月退货金额，可以取得已经检查过的计算规则，把月份改成十月，再查询当前数据。共享的是规则，不是之前的 600 元答案。使用时要说明规则版本，并检查对应的使用条件。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 main-en.pdf，MAVRA: Maintainable Shared Memory for Data Agents。第 3、6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后来系统把申请中的退货记录也写入同一张表。R01 和 R02 各多了一行，但已完成的三笔退货没有变化，正确答案仍为 600 元。旧 SQL 把新行也算进去，得到 900 元。SQL 没有报错，但结果错了。所有继续使用旧规则的 Agent 都可能遇到同样的问题。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1、2.2、7.6 节。示意数值，非论文原始结果。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按左、中、右讲。左边是 Agent 学习三月营业额，五轮七次工具调用后得到正确答案。中间从 SQL 整理出计算内容、数据表、日期字段、记录编号以及年和月参数，这一步用时 12.7 秒。图中的度量就是计算内容，事实表就是保存销售记录的表，粒度说明一行数据代表什么。随后做七项检查，共五条查询、5.6 秒。右边保存第一版规则 v1，同时保存使用条件和学习记录。图里的规范 SQL 是系统按保存的规则生成的查询。主键唯一表示一笔销售只保留一行；维表主键唯一表示日期表的日期编号不重复；参照完整性检查销售能否找到对应日期。r1 是查询结果编号，不是规则版本。已发布的版本不直接修改，有变化时发布新版本。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run-publish-zh.png；steps.py 中的 2026-10-08 归档运行及 2026-10-10 对照说明。原始 PNG 嵌入 PPT，图内对象为图片内容。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共享记忆保存四类内容：怎么算、查询怎样写、怎样识别一笔销售，以及各个版本的检查记录。营业额是净支付额相加，年和月随问题填写。日期号、小票号和商品号共同识别一笔销售。首次发布 v1，查询优化后发布 v2，数据更正并修复后发布 v3，旧版本仍保留记录。用户 Agent 获取计算规则和注意事项，完整使用条件及检查结果由 MAVRA 保存。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资料来源：run-publish-zh.png、run-use-zh.png 和 steps.py。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七项检查必须全部通过才发布。先确认题目有明确业务说明、答案正确且计算过程可以重复，再检查表、列和 SQL 是否符合要求。主键唯一检查排除编号含空值的记录，得到 989,695 行和 989,695 个不同业务键。业务键就是识别一笔销售的那组编号。随后检查查询只读且只有一条语句，分别再次执行示例 SQL 和系统生成的 SQL，都要得到 13,570,368.70 元。本例总共五条查询，用时 5.6 秒；七项检查不等于七条查询。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合成零售数据。来源：用户提供的 main-en.pdf，MAVRA: Maintainable Shared Memory for Data Agents。第 5.1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v1 连接日期表，再按年和月筛选。v2 改用这个月最小和最大的日期编号筛选，减少连接。这种写法要求每个月的日期编号连续。系统用学习时的数据重算，并比较十四组结果：十二个月、一个季度和一次差值计算，结果全部相同。在同一份数据上交替计时，平均耗时从 39.7 毫秒降到 33.3 毫秒，减少 16.1%。三十六个月的日期编号连续性检查都通过。如果以后不再连续，就恢复原来的查询写法。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合成零售数据。draw_optimize。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Agent B 只问九月营业额，没有得到具体计算规则。find_metric 按名称找到规则，比较相关表的版本，确认表没变，用四毫秒返回 v2。B 按示例写 SQL，并说明使用 v2。run_sql 检查查询只读、版本仍可用、必要筛选条件没有遗漏，然后执行 SQL，用时二十四毫秒。答案为 13,069,651.80 元，约 1307.0 万，全程四轮六次工具调用、7.4 秒。没有共享记忆的对照因为选错列，得到 1413.8 万。这里没有开启让检查和查询固定使用同一份数据的模式；图中的“在快照上执行 SQL”只说明查询本身的执行方式。第十七页单独解释两者如何使用同一快照。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run-use-zh.png；steps.py 中的 2026-10-08 归档运行及 2026-10-10 对照说明。原始 PNG 嵌入 PPT，图内对象为图片内容。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先看上面一行。数据更正保留旧记录，并把当前记录的金额改成九折。表版本变了，但写入时 MAVRA 什么都不做。下次 B 再问九月营业额，调用 find_metric 发现版本变化，才开始检查。再看中间一行。日期表没变，对它的检查跳过；销售与日期的关联仍符合要求；主键唯一检查却发现 1,055,610 行只有 989,695 个不同业务键，说明同一笔销售出现多行。于是暂停 v2，尝试修复。只有 ss_is_current 等于一，才能每笔留一行又不遗漏。用学习时的数据再算三月，仍为 13,570,368.70 元，这就是图中的回归测试。最后发布 v3，九月结果为 1293.3 万。继续用旧 SQL 会把旧金额加进去，得到 1430.1 万。该规则的检查和修复共 31.6 秒，之后大家共用新版本。左下还展示了另一种情况：数据完全重复、找不到唯一修复方法，就暂停使用，交给 Agent 自己查找。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run-maintain-zh.png；steps.py 中的 2026-10-08 归档运行及 2026-10-10 对照说明。原始 PNG 嵌入 PPT，图内对象为图片内容。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数据更正后，旧记录和更正后的记录同时存在。下次使用时，系统发现销售表版本变了，开始检查。左侧 SQL 排除了日期号、小票号或商品号为空的记录，因此数字不是整张表的总行数。检查结果是 1,055,610 行、989,695 个不同业务键，多出 65,915 行，用时六秒。日期表未变，不重复检查它的编号；销售能否关联到日期的检查仍通过，用时 0.2 秒。重复检查不通过，v2 暂停使用，进入修复。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合成零售数据。draw_check；校验 SQL 的非空键过滤依据工作区 src/checks.rs Check::Unique 查询生成逻辑。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回到退货例子。修复不能只消除重复，还要保留每一笔退货。只保留申请中会漏掉 R03，不能用；只保留已完成，三笔都在而且每笔一行。再用学习时的数据重新执行修复后的 SQL，结果仍为 600 元，才保存新规则。如果没有方案通过，或多个方案都通过，系统就不自动选择。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资料来源：main-en.pdf 第 5.3 节，退货为讲解示意。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系统逐一尝试取值较少的列。ss_is_current 等于一时，每笔销售都有且只有一行。等于零时，只留下被更正的销售，会遗漏其他销售。数量列的各个取值也只能保留部分销售。只有一个方案通过，才继续检查新规则和 SQL，再用学习时的数据计算三月营业额，仍为 13,570,368.70 元，发布 v3。检查和修复共用时 31.6 秒，只计算这一条规则。记录中的检查为 11.9 秒、修复为 19.6 秒，分项四舍五入，因此相加与总数略有差别。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合成零售数据。draw_repair。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再次回答用户的九月问题。修复后的 v3 只保留当前记录，得到 12,932,888.04 元，约 1293.3 万，答案正确。数据变了仍用旧 SQL，会把旧金额也相加，得到 1430.1 万。本次 Agent 共调用工具九次，全程 81 秒，包含检查、修复、继续查找和模型等待。随后再调用 find_metric，直接取得已发布的 v3，只需三毫秒。81 秒、31.6 秒和三毫秒分别计算整个任务、一条规则的检查修复、后续一次查询规则的时间。第十一页的 1413.8 万是更正前没有共享记忆的另一组对照。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合成零售数据。draw_after，10-10 对照结果。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先看上面的时间顺序。检查时数据满足条件，但检查后有更新提交，查询读到更新后的数据，原来的条件已经不满足。实验中，最多 4.6% 的已作答查询遇到了这种情况。下面让表版本检查、使用条件检查和 SQL 执行固定在同一份数据上，这就是同一快照。表版本还必须与数据更新一起提交。四组实验合计 11,297 次已作答查询，零次使用不满足条件的数据。这里统计的是使用条件是否满足，不是所有业务答案的错误率。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 main-en.pdf，MAVRA: Maintainable Shared Memory for Data Agents。第 7.3 节、表 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对没有学过的新问题，不共享规则时回答准确率为 49%，使用 MAVRA 为 100%。从第一次工具调用到提交答案，平均用时从 75.6 秒降到 8.5 秒，约快 8.9 倍。主要原因是不用每次重新查找计算方法。在数据不变时，查找以前成功的示例也能达到 100% 准确率。下一页再看数据变化后的差别。本页数字是整组任务的平均结果，第十一页的 7.4 秒只是一个任务的实际用时。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7.6、7.7 节。建库成本另计，约 181k tokens、283 秒/库。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这一组实验更新了数据，使原来的一些使用条件不再成立。MAVRA 最终回答准确率为 73%，查找历史示例为 57%，相差十六个百分点。即使让 Agent 在找到示例后自己检查，也只有 63%。旧示例能告诉它以前怎么算，但数据变了以后还需要检查。73% 包含系统修复失败后，Agent 自己继续查找答案的情况，不表示所有请求都能自动修好。实验覆盖五类更新，每种方法独立运行三次，MAVRA 三次准确率为 69% 到 76%。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7.6 节，图 4；19% 与用户原 PPT 第 7 页一致。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建议用时：1–2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系统也有检查不到的情况。金额单位从元改成分，行数、编号和关联关系都没变，系统无法只靠这些检查判断单位，需要新的业务说明。另一种情况是两份完整数据都能做到一笔一行，系统能发现重复，却无法确定该选哪一份，所以不自动选择，暂停这条规则。前面零次使用不满足条件的数据，不表示零次业务理解错误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 main-en.pdf，MAVRA: Maintainable Shared Memory for Data Agents。第 4.3、5.3、7.4、9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 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第一次 Agent 学会怎样计算，其他 Agent 使用相同规则。数据变了，下次使用时先检查。发现问题后，只有一个修复方法通过全部检查，并且用学习时的数据重算结果相同，才发布新版本。这样，学过的计算规则才能继续供大家使用。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资料来源：用户提供的 main-en.pdf，MAVRA: Maintainable Shared Memory for Data Agents。第 10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75603b0a64b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9f89aebc54db4" /><Relationship Type="http://schemas.openxmlformats.org/officeDocument/2006/relationships/image" Target="/ppt/media/image.png" Id="Rb772215266c243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2ae04130441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6539cad6a342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5597dcc044555" /><Relationship Type="http://schemas.openxmlformats.org/officeDocument/2006/relationships/image" Target="/ppt/media/image2.png" Id="Rdd120b3e16be4915" /><Relationship Type="http://schemas.openxmlformats.org/officeDocument/2006/relationships/image" Target="/ppt/media/image3.png" Id="Rb16903aa5c9f4b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a81298f63646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198c8511554a5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64b931942d49c6" /><Relationship Type="http://schemas.openxmlformats.org/officeDocument/2006/relationships/image" Target="/ppt/media/image.png" Id="R011fc4c22d89418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396f5a757a47f4" /></Relationships>
</file>

<file path=ppt/slideLayouts/slideLayout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E724929-BCC5-4CC2-98DA-E5CE8B9E1E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C276025-84A2-4E30-A556-4DE7BB56581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586AF6C-8CDC-4F70-9681-6E7C90E3C8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1">
              <a:t>2026/10/10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9F202A6-EE69-4FB1-9544-B40999FD95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D5FD5A-B47E-4252-B784-154314CBD7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hf hdr="0" ftr="0"/>
</p:sldLayout>
</file>

<file path=ppt/slideLayouts/slideLayout2.xml><?xml version="1.0" encoding="utf-8"?>
<p:sldLayout xmlns:p="http://schemas.openxmlformats.org/presentationml/2006/main" preserve="1">
  <p:cSld name="内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98C98C0B-8FEB-4CAA-ADEE-33842A2A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162" y="1212615"/>
            <a:ext cx="8468838" cy="5645385"/>
          </a:xfrm>
          <a:prstGeom xmlns:a="http://schemas.openxmlformats.org/drawingml/2006/main" prst="roundRect">
            <a:avLst>
              <a:gd name="adj" fmla="val 0"/>
            </a:avLst>
          </a:prstGeom>
          <a:blipFill xmlns:a="http://schemas.openxmlformats.org/drawingml/2006/main" rotWithShape="1">
            <a:blip xmlns:r="http://schemas.openxmlformats.org/officeDocument/2006/relationships" r:embed="Rb772215266c2438a">
              <a:alphaModFix amt="78000"/>
              <a:lum bright="70000" contrast="-70000"/>
            </a:blip>
            <a:srcRect l="0" t="0" r="0" b="0"/>
            <a:stretch>
              <a:fillRect l="-2104" t="-17263" r="-2232" b="-9915"/>
            </a:stretch>
          </a:blip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hf hdr="0" ftr="0"/>
</p:sldLayout>
</file>

<file path=ppt/slideLayouts/slideLayout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C3355D6-2F6C-48B6-ABBD-828CBE85E2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1">
              <a:t>2026/10/10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0224570-F67B-4896-9742-078884E041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E2C199E-2D6B-4F24-A270-A6DA2519D7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hf hdr="0" ftr="0"/>
</p:sldLayout>
</file>

<file path=ppt/slideLayouts/slideLayout4.xml><?xml version="1.0" encoding="utf-8"?>
<p:sldLayout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hf hdr="0" ftr="0"/>
</p:sldLayout>
</file>

<file path=ppt/slideLayouts/slideLayout5.xml><?xml version="1.0" encoding="utf-8"?>
<p:sldLayout xmlns:p="http://schemas.openxmlformats.org/presentationml/2006/main" preserve="1" userDrawn="1">
  <p:cSld name="样机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1197BAD-8471-42E3-B55F-94B02D3A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92400"/>
            <a:ext cx="12192000" cy="2159000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rgbClr val="B53132"/>
              </a:gs>
              <a:gs pos="100000">
                <a:srgbClr val="DC5A5D"/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0716620-4920-4A5E-B2BE-BD785AACB4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E63B7F-BEDC-44E3-891F-8E1DE6767941}" type="datetime1">
              <a:t>2026/10/10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48B925C-B809-48EA-926E-B32C40C200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277201C-D887-44D0-9699-92DF7E5B35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F3269D-51BB-4135-9D7F-7CA81D23812E}" type="slidenum">
              <a:t>‹#›</a:t>
            </a:fld>
            <a:endParaRPr/>
          </a:p>
        </p:txBody>
      </p:sp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AA385F73-7A5D-4737-9979-A1D1AF12F5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20b3e16be49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81029" y="298670"/>
            <a:ext cx="2409371" cy="599981"/>
          </a:xfrm>
          <a:prstGeom xmlns:a="http://schemas.openxmlformats.org/drawingml/2006/main" prst="rect">
            <a:avLst/>
          </a:prstGeom>
        </p:spPr>
      </p:pic>
      <p:pic>
        <p:nvPicPr>
          <p:cNvPr id="6" name="图片 5">
            <a:extLst xmlns:a="http://schemas.openxmlformats.org/drawingml/2006/main">
              <a:ext uri="{FF2B5EF4-FFF2-40B4-BE49-F238E27FC236}">
                <a16:creationId xmlns:a16="http://schemas.microsoft.com/office/drawing/2014/main" id="{86695E00-FD1A-408A-B115-B55AA08FA7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6903aa5c9f4b79"/>
          <a:srcRect xmlns:a="http://schemas.openxmlformats.org/drawingml/2006/main" l="7912" t="4985" r="7595" b="70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819150"/>
            <a:ext cx="5086350" cy="5295900"/>
          </a:xfrm>
          <a:prstGeom xmlns:a="http://schemas.openxmlformats.org/drawingml/2006/main" prst="rect">
            <a:avLst/>
          </a:prstGeom>
        </p:spPr>
      </p:pic>
      <p:sp>
        <p:nvSpPr>
          <p:cNvPr id="12" name="图片占位符 11">
            <a:extLst xmlns:a="http://schemas.openxmlformats.org/drawingml/2006/main">
              <a:ext uri="{FF2B5EF4-FFF2-40B4-BE49-F238E27FC236}">
                <a16:creationId xmlns:a16="http://schemas.microsoft.com/office/drawing/2014/main" id="{2392986B-7AAA-4364-80D2-5E2F7870E4DB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1790700" y="1428750"/>
            <a:ext cx="3133725" cy="41529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hf hdr="0" ftr="0"/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928DD1A-9D90-4DFE-95E5-F08BE9859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DE2BE2D-9BCF-473C-8E55-1E20C47544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fld id="{5592522B-0F24-4480-B9DD-A9474A6880D6}" type="datetime1">
              <a:t>2026/10/10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6F20095-DE12-4616-83A6-E49EB3890C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846A099-0922-44B2-9979-9C3FAAA30B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fld id="{BE5F26B5-172A-4DC2-B0B7-181CFC56B87C}" type="slidenum">
              <a:t>‹#›</a:t>
            </a:fld>
            <a:endParaRPr/>
          </a:p>
        </p:txBody>
      </p:sp>
    </p:spTree>
  </p:cSld>
  <p:hf hdr="0" ftr="0"/>
</p:sldLayout>
</file>

<file path=ppt/slideLayouts/slideLayout7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F8948A-56E2-48C0-897F-8589CEE8A6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892ECAB-C5E7-4916-8A49-8AD7427493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BA331B-FD06-48D3-8557-9DF6ED3805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1">
              <a:t>2026/10/10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14E925B-61E5-4406-AD38-8720E87F7E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8055AAF-FF7E-4C82-9F24-B0C84100F0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hf hdr="0" ftr="0"/>
</p:sldLayout>
</file>

<file path=ppt/slideLayouts/slideLayout8.xml><?xml version="1.0" encoding="utf-8"?>
<p:sldLayout xmlns:p="http://schemas.openxmlformats.org/presentationml/2006/main" preserve="1">
  <p:cSld name="内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A588321E-4836-4E53-97AE-66313223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162" y="1212615"/>
            <a:ext cx="8468838" cy="5645385"/>
          </a:xfrm>
          <a:prstGeom xmlns:a="http://schemas.openxmlformats.org/drawingml/2006/main" prst="roundRect">
            <a:avLst>
              <a:gd name="adj" fmla="val 0"/>
            </a:avLst>
          </a:prstGeom>
          <a:blipFill xmlns:a="http://schemas.openxmlformats.org/drawingml/2006/main" rotWithShape="1">
            <a:blip xmlns:r="http://schemas.openxmlformats.org/officeDocument/2006/relationships" r:embed="R011fc4c22d89418a">
              <a:alphaModFix amt="78000"/>
              <a:lum bright="70000" contrast="-70000"/>
            </a:blip>
            <a:srcRect l="0" t="0" r="0" b="0"/>
            <a:stretch>
              <a:fillRect l="-2104" t="-17263" r="-2232" b="-9915"/>
            </a:stretch>
          </a:blip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hf hdr="0" ftr="0"/>
</p:sldLayout>
</file>

<file path=ppt/slideLayouts/slideLayout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75B29C6-C5FF-48F7-A809-97AD3C4823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1">
              <a:t>2026/10/10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8396EF8-F962-478F-A039-B739EEC127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F92CF06-67DE-4985-9C51-CF7EB36D3A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hf hdr="0" ftr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27128a3062459f" /><Relationship Type="http://schemas.openxmlformats.org/officeDocument/2006/relationships/slideLayout" Target="/ppt/slideLayouts/slideLayout1.xml" Id="Rae32564964544a71" /><Relationship Type="http://schemas.openxmlformats.org/officeDocument/2006/relationships/slideLayout" Target="/ppt/slideLayouts/slideLayout2.xml" Id="Rfc880423a8604df7" /><Relationship Type="http://schemas.openxmlformats.org/officeDocument/2006/relationships/slideLayout" Target="/ppt/slideLayouts/slideLayout3.xml" Id="Rc813c62803b84352" /><Relationship Type="http://schemas.openxmlformats.org/officeDocument/2006/relationships/slideLayout" Target="/ppt/slideLayouts/slideLayout4.xml" Id="Rfefab5b8c35643cd" /><Relationship Type="http://schemas.openxmlformats.org/officeDocument/2006/relationships/slideLayout" Target="/ppt/slideLayouts/slideLayout5.xml" Id="R883f1ba1ffe04db0" /><Relationship Type="http://schemas.openxmlformats.org/officeDocument/2006/relationships/slideLayout" Target="/ppt/slideLayouts/slideLayout6.xml" Id="R68fbc86f787243a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7379a3966e7401e" /><Relationship Type="http://schemas.openxmlformats.org/officeDocument/2006/relationships/slideLayout" Target="/ppt/slideLayouts/slideLayout7.xml" Id="R21e2f7211d964224" /><Relationship Type="http://schemas.openxmlformats.org/officeDocument/2006/relationships/slideLayout" Target="/ppt/slideLayouts/slideLayout8.xml" Id="Rfbc815c4c6f44318" /><Relationship Type="http://schemas.openxmlformats.org/officeDocument/2006/relationships/slideLayout" Target="/ppt/slideLayouts/slideLayout9.xml" Id="R8b49b8199f234f0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4122A22-8B2A-48CE-8EC0-7F5B74007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1D587D2-5CA0-4546-BB01-11DCA67AA4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62670AD-7A14-46CF-8FEA-A0E0402536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97B5FA-0921-464F-AAE1-844C04324D75}" type="datetime1">
              <a:t>2026/10/10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6174E54-CE15-445E-B7FF-4F07E72DD95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B30139F-4348-4C89-9A6C-29A98F352AF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32564964544a71"/>
    <p:sldLayoutId xmlns:r="http://schemas.openxmlformats.org/officeDocument/2006/relationships" id="2147483650" r:id="Rfc880423a8604df7"/>
    <p:sldLayoutId xmlns:r="http://schemas.openxmlformats.org/officeDocument/2006/relationships" id="2147483651" r:id="Rc813c62803b84352"/>
    <p:sldLayoutId xmlns:r="http://schemas.openxmlformats.org/officeDocument/2006/relationships" id="2147483652" r:id="Rfefab5b8c35643cd"/>
    <p:sldLayoutId xmlns:r="http://schemas.openxmlformats.org/officeDocument/2006/relationships" id="2147483653" r:id="R883f1ba1ffe04db0"/>
    <p:sldLayoutId xmlns:r="http://schemas.openxmlformats.org/officeDocument/2006/relationships" id="2147483654" r:id="R68fbc86f787243a9"/>
  </p:sldLayoutIdLst>
  <p:hf hdr="0" ft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A415578-ED20-4249-9EFA-D576CF1093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F445888-2C5F-49DB-A915-356147545F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75C5E9-6DD9-46CE-A56F-DCB6E7E910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97B5FA-0921-464F-AAE1-844C04324D75}" type="datetime1">
              <a:t>2026/10/10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A6A1402-B9BB-4D97-8269-CFBA311B6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EFDC072-78C5-4F21-9B7A-957E79E78BD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21e2f7211d964224"/>
    <p:sldLayoutId xmlns:r="http://schemas.openxmlformats.org/officeDocument/2006/relationships" id="2147483657" r:id="Rfbc815c4c6f44318"/>
    <p:sldLayoutId xmlns:r="http://schemas.openxmlformats.org/officeDocument/2006/relationships" id="2147483658" r:id="R8b49b8199f234f0a"/>
  </p:sldLayoutIdLst>
  <p:hf hdr="0" ft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主题2">
  <a:themeElements>
    <a:clrScheme name="党政风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0707"/>
      </a:accent1>
      <a:accent2>
        <a:srgbClr val="A60303"/>
      </a:accent2>
      <a:accent3>
        <a:srgbClr val="F27F1B"/>
      </a:accent3>
      <a:accent4>
        <a:srgbClr val="F2A71B"/>
      </a:accent4>
      <a:accent5>
        <a:srgbClr val="C2C4F2"/>
      </a:accent5>
      <a:accent6>
        <a:srgbClr val="71B8FF"/>
      </a:accent6>
      <a:hlink>
        <a:srgbClr val="0563C1"/>
      </a:hlink>
      <a:folHlink>
        <a:srgbClr val="954F72"/>
      </a:folHlink>
    </a:clrScheme>
    <a:fontScheme name="党政">
      <a:majorFont>
        <a:latin typeface="思源宋体 CN Medium"/>
        <a:ea typeface="思源宋体 CN Light"/>
        <a:cs typeface=""/>
      </a:majorFont>
      <a:minorFont>
        <a:latin typeface="思源宋体 CN Light"/>
        <a:ea typeface="思源宋体 CN Heavy"/>
        <a:cs typeface=""/>
      </a:minorFont>
    </a:fontScheme>
    <a:fmtScheme name="党政风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3_主题2">
  <a:themeElements>
    <a:clrScheme name="党政风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0707"/>
      </a:accent1>
      <a:accent2>
        <a:srgbClr val="A60303"/>
      </a:accent2>
      <a:accent3>
        <a:srgbClr val="F27F1B"/>
      </a:accent3>
      <a:accent4>
        <a:srgbClr val="F2A71B"/>
      </a:accent4>
      <a:accent5>
        <a:srgbClr val="C2C4F2"/>
      </a:accent5>
      <a:accent6>
        <a:srgbClr val="71B8FF"/>
      </a:accent6>
      <a:hlink>
        <a:srgbClr val="0563C1"/>
      </a:hlink>
      <a:folHlink>
        <a:srgbClr val="954F72"/>
      </a:folHlink>
    </a:clrScheme>
    <a:fontScheme name="党政">
      <a:majorFont>
        <a:latin typeface="思源宋体 CN Medium"/>
        <a:ea typeface="思源宋体 CN Light"/>
        <a:cs typeface=""/>
      </a:majorFont>
      <a:minorFont>
        <a:latin typeface="思源宋体 CN Light"/>
        <a:ea typeface="思源宋体 CN Heavy"/>
        <a:cs typeface=""/>
      </a:minorFont>
    </a:fontScheme>
    <a:fmtScheme name="党政风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6e902aa69ef4ebd" /><Relationship Type="http://schemas.openxmlformats.org/officeDocument/2006/relationships/image" Target="/ppt/media/image.jpeg" Id="R21ae21a230714789" /><Relationship Type="http://schemas.openxmlformats.org/officeDocument/2006/relationships/image" Target="/ppt/media/image4.png" Id="R4ca658c2b5a94af9" /><Relationship Type="http://schemas.openxmlformats.org/officeDocument/2006/relationships/notesSlide" Target="/ppt/notesSlides/notesSlide1.xml" Id="R11d01072eee146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5935fa2e14757" /><Relationship Type="http://schemas.openxmlformats.org/officeDocument/2006/relationships/image" Target="/ppt/media/image5.png" Id="R72ca40f2c8964f14" /><Relationship Type="http://schemas.openxmlformats.org/officeDocument/2006/relationships/notesSlide" Target="/ppt/notesSlides/notesSlide2.xml" Id="R3fe66447f69e45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83fef8b4745a2" /><Relationship Type="http://schemas.openxmlformats.org/officeDocument/2006/relationships/image" Target="/ppt/media/image5.png" Id="R8e21b90028ea435a" /><Relationship Type="http://schemas.openxmlformats.org/officeDocument/2006/relationships/notesSlide" Target="/ppt/notesSlides/notesSlide3.xml" Id="R8fbad2c57bf64a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cb6fb1eb44f55" /><Relationship Type="http://schemas.openxmlformats.org/officeDocument/2006/relationships/image" Target="/ppt/media/image5.png" Id="Rc38dba8303f04166" /><Relationship Type="http://schemas.openxmlformats.org/officeDocument/2006/relationships/notesSlide" Target="/ppt/notesSlides/notesSlide4.xml" Id="Rc00857f36b5c44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2676604de4c42" /><Relationship Type="http://schemas.openxmlformats.org/officeDocument/2006/relationships/image" Target="/ppt/media/image5.png" Id="Rf98ae45fb83d4f03" /><Relationship Type="http://schemas.openxmlformats.org/officeDocument/2006/relationships/notesSlide" Target="/ppt/notesSlides/notesSlide5.xml" Id="R2b1df54854064d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37bd1a13042df" /><Relationship Type="http://schemas.openxmlformats.org/officeDocument/2006/relationships/image" Target="/ppt/media/image5.png" Id="R7448aa66da564dce" /><Relationship Type="http://schemas.openxmlformats.org/officeDocument/2006/relationships/notesSlide" Target="/ppt/notesSlides/notesSlide6.xml" Id="R3de05485222e48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336ca68944f29" /><Relationship Type="http://schemas.openxmlformats.org/officeDocument/2006/relationships/image" Target="/ppt/media/image5.png" Id="R95b0fb2a942f42d0" /><Relationship Type="http://schemas.openxmlformats.org/officeDocument/2006/relationships/image" Target="/ppt/media/image6.png" Id="Raad7a113c54e4200" /><Relationship Type="http://schemas.openxmlformats.org/officeDocument/2006/relationships/notesSlide" Target="/ppt/notesSlides/notesSlide7.xml" Id="R12c65bb236134b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aeb58f6694be2" /><Relationship Type="http://schemas.openxmlformats.org/officeDocument/2006/relationships/image" Target="/ppt/media/image5.png" Id="R626a556eefca4422" /><Relationship Type="http://schemas.openxmlformats.org/officeDocument/2006/relationships/notesSlide" Target="/ppt/notesSlides/notesSlide8.xml" Id="R08adadd7e67045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a6e64e8224a5f" /><Relationship Type="http://schemas.openxmlformats.org/officeDocument/2006/relationships/image" Target="/ppt/media/image5.png" Id="Rf289b3d52f274395" /><Relationship Type="http://schemas.openxmlformats.org/officeDocument/2006/relationships/notesSlide" Target="/ppt/notesSlides/notesSlide9.xml" Id="R177eab111fa547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732b77e864fb4" /><Relationship Type="http://schemas.openxmlformats.org/officeDocument/2006/relationships/image" Target="/ppt/media/image5.png" Id="Rc8947ba7dab04117" /><Relationship Type="http://schemas.openxmlformats.org/officeDocument/2006/relationships/notesSlide" Target="/ppt/notesSlides/notesSlide10.xml" Id="R52a54f5e5a8e41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429cbd6804a10" /><Relationship Type="http://schemas.openxmlformats.org/officeDocument/2006/relationships/image" Target="/ppt/media/image5.png" Id="Rf30794f9a5f94b82" /><Relationship Type="http://schemas.openxmlformats.org/officeDocument/2006/relationships/image" Target="/ppt/media/image7.png" Id="R91b7407c4b054840" /><Relationship Type="http://schemas.openxmlformats.org/officeDocument/2006/relationships/notesSlide" Target="/ppt/notesSlides/notesSlide11.xml" Id="R57a4de112a864d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c1138408d4603" /><Relationship Type="http://schemas.openxmlformats.org/officeDocument/2006/relationships/image" Target="/ppt/media/image5.png" Id="R2ef3bc6f77924dbc" /><Relationship Type="http://schemas.openxmlformats.org/officeDocument/2006/relationships/image" Target="/ppt/media/image8.png" Id="Rc45a8af2fb934525" /><Relationship Type="http://schemas.openxmlformats.org/officeDocument/2006/relationships/notesSlide" Target="/ppt/notesSlides/notesSlide12.xml" Id="R777fee7193dc4d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3d077e3ce45ab" /><Relationship Type="http://schemas.openxmlformats.org/officeDocument/2006/relationships/image" Target="/ppt/media/image5.png" Id="Rf5fe1806a1bc4c67" /><Relationship Type="http://schemas.openxmlformats.org/officeDocument/2006/relationships/notesSlide" Target="/ppt/notesSlides/notesSlide13.xml" Id="R3b17a1773d8647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547341ed542cc" /><Relationship Type="http://schemas.openxmlformats.org/officeDocument/2006/relationships/image" Target="/ppt/media/image5.png" Id="R35394471551f4563" /><Relationship Type="http://schemas.openxmlformats.org/officeDocument/2006/relationships/notesSlide" Target="/ppt/notesSlides/notesSlide14.xml" Id="R64045b6ba0f047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4f452bc4447db" /><Relationship Type="http://schemas.openxmlformats.org/officeDocument/2006/relationships/image" Target="/ppt/media/image5.png" Id="R93cc862596254f37" /><Relationship Type="http://schemas.openxmlformats.org/officeDocument/2006/relationships/notesSlide" Target="/ppt/notesSlides/notesSlide15.xml" Id="R914963bac77c4b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b5f7842334d48" /><Relationship Type="http://schemas.openxmlformats.org/officeDocument/2006/relationships/image" Target="/ppt/media/image5.png" Id="R46d89b46c7064de3" /><Relationship Type="http://schemas.openxmlformats.org/officeDocument/2006/relationships/notesSlide" Target="/ppt/notesSlides/notesSlide16.xml" Id="Rd2b10b134f7942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325fbfebe440f" /><Relationship Type="http://schemas.openxmlformats.org/officeDocument/2006/relationships/image" Target="/ppt/media/image5.png" Id="R8191a868bf0247be" /><Relationship Type="http://schemas.openxmlformats.org/officeDocument/2006/relationships/notesSlide" Target="/ppt/notesSlides/notesSlide17.xml" Id="Rfda1c5fc8de543a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95b83954842df" /><Relationship Type="http://schemas.openxmlformats.org/officeDocument/2006/relationships/image" Target="/ppt/media/image5.png" Id="Ra6dfc10429c744b5" /><Relationship Type="http://schemas.openxmlformats.org/officeDocument/2006/relationships/notesSlide" Target="/ppt/notesSlides/notesSlide18.xml" Id="R9acb92887e9641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9e633d66441e8" /><Relationship Type="http://schemas.openxmlformats.org/officeDocument/2006/relationships/image" Target="/ppt/media/image5.png" Id="Rd6b670b17d854313" /><Relationship Type="http://schemas.openxmlformats.org/officeDocument/2006/relationships/notesSlide" Target="/ppt/notesSlides/notesSlide19.xml" Id="Rdbbcb6c5cf984c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2cd5486a24645" /><Relationship Type="http://schemas.openxmlformats.org/officeDocument/2006/relationships/image" Target="/ppt/media/image5.png" Id="R76a340c2f1bc4575" /><Relationship Type="http://schemas.openxmlformats.org/officeDocument/2006/relationships/notesSlide" Target="/ppt/notesSlides/notesSlide20.xml" Id="R6bbb3d2ef15946b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3854ef15b2f4961" /><Relationship Type="http://schemas.openxmlformats.org/officeDocument/2006/relationships/image" Target="/ppt/media/image.jpeg" Id="Rc0cb92cf848a48eb" /><Relationship Type="http://schemas.openxmlformats.org/officeDocument/2006/relationships/image" Target="/ppt/media/image4.png" Id="R462a1c036b5a4f73" /><Relationship Type="http://schemas.openxmlformats.org/officeDocument/2006/relationships/notesSlide" Target="/ppt/notesSlides/notesSlide21.xml" Id="Rfb133bd654c447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Freeform 9">
            <a:extLst xmlns:a="http://schemas.openxmlformats.org/drawingml/2006/main">
              <a:ext uri="{FF2B5EF4-FFF2-40B4-BE49-F238E27FC236}">
                <a16:creationId xmlns:a16="http://schemas.microsoft.com/office/drawing/2014/main" id="{F253E41A-F615-4244-8DF1-D8F920BA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47534" y="4894560"/>
            <a:ext cx="8328409" cy="360000"/>
          </a:xfrm>
          <a:custGeom xmlns:a="http://schemas.openxmlformats.org/drawingml/2006/main">
            <a:rect l="l" t="t" r="r" b="b"/>
            <a:pathLst>
              <a:path w="4283112" h="320914">
                <a:moveTo>
                  <a:pt x="203200" y="0"/>
                </a:moveTo>
                <a:lnTo>
                  <a:pt x="4283112" y="0"/>
                </a:lnTo>
                <a:lnTo>
                  <a:pt x="4079912" y="320914"/>
                </a:lnTo>
                <a:lnTo>
                  <a:pt x="0" y="320914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D4D7D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76CD9C6-F298-4878-8577-9ABD41EA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375" y="4894560"/>
            <a:ext cx="5567601" cy="360000"/>
          </a:xfrm>
          <a:custGeom xmlns:a="http://schemas.openxmlformats.org/drawingml/2006/main">
            <a:rect l="l" t="t" r="r" b="b"/>
            <a:pathLst>
              <a:path w="6326234" h="281353">
                <a:moveTo>
                  <a:pt x="203200" y="0"/>
                </a:moveTo>
                <a:lnTo>
                  <a:pt x="6326234" y="0"/>
                </a:lnTo>
                <a:lnTo>
                  <a:pt x="6123034" y="281353"/>
                </a:lnTo>
                <a:lnTo>
                  <a:pt x="0" y="281353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5454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D3C70C4-9D69-4D80-B1F1-4801FB19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60640" y="1273160"/>
            <a:ext cx="6441858" cy="360000"/>
          </a:xfrm>
          <a:custGeom xmlns:a="http://schemas.openxmlformats.org/drawingml/2006/main">
            <a:rect l="l" t="t" r="r" b="b"/>
            <a:pathLst>
              <a:path w="4283112" h="320914">
                <a:moveTo>
                  <a:pt x="203200" y="0"/>
                </a:moveTo>
                <a:lnTo>
                  <a:pt x="4283112" y="0"/>
                </a:lnTo>
                <a:lnTo>
                  <a:pt x="4079912" y="320914"/>
                </a:lnTo>
                <a:lnTo>
                  <a:pt x="0" y="320914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D4D7D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7C8868F-C0C7-462E-BA83-21F7F14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271" y="1273160"/>
            <a:ext cx="8197597" cy="360000"/>
          </a:xfrm>
          <a:custGeom xmlns:a="http://schemas.openxmlformats.org/drawingml/2006/main">
            <a:rect l="l" t="t" r="r" b="b"/>
            <a:pathLst>
              <a:path w="6326234" h="281353">
                <a:moveTo>
                  <a:pt x="203200" y="0"/>
                </a:moveTo>
                <a:lnTo>
                  <a:pt x="6326234" y="0"/>
                </a:lnTo>
                <a:lnTo>
                  <a:pt x="6123034" y="281353"/>
                </a:lnTo>
                <a:lnTo>
                  <a:pt x="0" y="281353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5454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图片 4">
            <a:extLst xmlns:a="http://schemas.openxmlformats.org/drawingml/2006/main">
              <a:ext uri="{FF2B5EF4-FFF2-40B4-BE49-F238E27FC236}">
                <a16:creationId xmlns:a16="http://schemas.microsoft.com/office/drawing/2014/main" id="{0C7ECCDE-4F48-4AC0-8C48-F68095C694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ae21a230714789"/>
          <a:srcRect xmlns:a="http://schemas.openxmlformats.org/drawingml/2006/main" l="8161" t="20535" r="8157" b="341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0" y="1485265"/>
            <a:ext cx="12192000" cy="3602355"/>
          </a:xfrm>
          <a:prstGeom xmlns:a="http://schemas.openxmlformats.org/drawingml/2006/main" prst="rect">
            <a:avLst/>
          </a:prstGeom>
        </p:spPr>
      </p:pic>
      <p:sp>
        <p:nvSpPr>
          <p:cNvPr id="6" name="淘宝-想搞设计PPT(倒卖必究)-24">
            <a:extLst xmlns:a="http://schemas.openxmlformats.org/drawingml/2006/main">
              <a:ext uri="{FF2B5EF4-FFF2-40B4-BE49-F238E27FC236}">
                <a16:creationId xmlns:a16="http://schemas.microsoft.com/office/drawing/2014/main" id="{6A077481-A485-4EC7-BF16-60CA8A0C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5265"/>
            <a:ext cx="12192000" cy="3602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>
              <a:alpha val="7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47CE113-EFFB-4221-8425-8DE25BEB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淘宝-想搞设计PPT(倒卖必究)-4">
            <a:extLst xmlns:a="http://schemas.openxmlformats.org/drawingml/2006/main">
              <a:ext uri="{FF2B5EF4-FFF2-40B4-BE49-F238E27FC236}">
                <a16:creationId xmlns:a16="http://schemas.microsoft.com/office/drawing/2014/main" id="{3EA09B1E-425B-4DD9-A209-E78F6104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9348" y="938302"/>
            <a:ext cx="1193304" cy="1193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5" name="Picture 44">
            <a:extLst xmlns:a="http://schemas.openxmlformats.org/drawingml/2006/main">
              <a:ext uri="{FF2B5EF4-FFF2-40B4-BE49-F238E27FC236}">
                <a16:creationId xmlns:a16="http://schemas.microsoft.com/office/drawing/2014/main" id="{6A960E53-149E-43C5-9C5C-E2FB1578E9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658c2b5a94a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18381" y="957335"/>
            <a:ext cx="1155238" cy="1155238"/>
          </a:xfrm>
          <a:prstGeom xmlns:a="http://schemas.openxmlformats.org/drawingml/2006/main" prst="rect">
            <a:avLst/>
          </a:prstGeom>
        </p:spPr>
      </p:pic>
      <p:sp>
        <p:nvSpPr>
          <p:cNvPr id="8" name="淘宝-想搞设计PPT(倒卖必究)-7">
            <a:extLst xmlns:a="http://schemas.openxmlformats.org/drawingml/2006/main">
              <a:ext uri="{FF2B5EF4-FFF2-40B4-BE49-F238E27FC236}">
                <a16:creationId xmlns:a16="http://schemas.microsoft.com/office/drawing/2014/main" id="{4C62805F-9F58-4549-ACAA-03CAEAC5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sp>
        <p:nvSpPr>
          <p:cNvPr id="10" name="淘宝-想搞设计PPT(倒卖必究)-8">
            <a:extLst xmlns:a="http://schemas.openxmlformats.org/drawingml/2006/main">
              <a:ext uri="{FF2B5EF4-FFF2-40B4-BE49-F238E27FC236}">
                <a16:creationId xmlns:a16="http://schemas.microsoft.com/office/drawing/2014/main" id="{E204C7C1-C610-447D-A41D-5281CF7D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052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 Agent 的共享记忆与自动修复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54CBDFD-5AB2-42A2-8FAC-0FECD7E9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95925"/>
            <a:ext cx="10096500" cy="53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用退货例子和真实运行，说明怎样共享和更新计算方法</a:t>
            </a:r>
            <a:endParaRPr sz="20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A2719A35-67E1-4662-8716-DFB8B6B3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95725"/>
            <a:ext cx="70866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EF9F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127AA94E-5478-4818-AD2A-9EABC04C83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125200" y="6657975"/>
            <a:ext cx="800100" cy="1714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AD75FED6-38D0-DE9C-92C0-6E7FA635581C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9E57A2D1-7CB8-48A6-97B6-91D59FBB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0788680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60AA441D-EAB4-4064-A170-0082211190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a40f2c8964f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用户请求：9 </a:t>
            </a: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月门店退货金额是多少</a:t>
            </a: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？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E2598689-54C9-18A7-3A19-ED76AA08988F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" y="14302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request">
            <a:extLst xmlns:a="http://schemas.openxmlformats.org/drawingml/2006/main">
              <a:ext uri="{FF2B5EF4-FFF2-40B4-BE49-F238E27FC236}">
                <a16:creationId xmlns:a16="http://schemas.microsoft.com/office/drawing/2014/main" id="{11865C83-6D42-4068-862A-F5FA054A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81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“请统计 9 月门店退货金额。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只计已完成的退货，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月份按退货日期计算。”</a:t>
            </a:r>
          </a:p>
        </p:txBody>
      </p:sp>
      <p:sp>
        <p:nvSpPr>
          <p:cNvPr id="50" name="target-label">
            <a:extLst xmlns:a="http://schemas.openxmlformats.org/drawingml/2006/main">
              <a:ext uri="{FF2B5EF4-FFF2-40B4-BE49-F238E27FC236}">
                <a16:creationId xmlns:a16="http://schemas.microsoft.com/office/drawing/2014/main" id="{F9FB115B-393C-46E6-B79A-8A2722FB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用户需要的结果</a:t>
            </a:r>
          </a:p>
        </p:txBody>
      </p:sp>
      <p:sp>
        <p:nvSpPr>
          <p:cNvPr id="51" name="target">
            <a:extLst xmlns:a="http://schemas.openxmlformats.org/drawingml/2006/main">
              <a:ext uri="{FF2B5EF4-FFF2-40B4-BE49-F238E27FC236}">
                <a16:creationId xmlns:a16="http://schemas.microsoft.com/office/drawing/2014/main" id="{B2FE55E2-A738-4E3C-B59E-D082B23A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4762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4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4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600 元</a:t>
            </a:r>
          </a:p>
        </p:txBody>
      </p:sp>
      <p:graphicFrame>
        <p:nvGraphicFramePr>
          <p:cNvPr id="52" name="learning-data">
            <a:extLst xmlns:a="http://schemas.openxmlformats.org/drawingml/2006/main">
              <a:ext uri="{FF2B5EF4-FFF2-40B4-BE49-F238E27FC236}">
                <a16:creationId xmlns:a16="http://schemas.microsoft.com/office/drawing/2014/main" id="{3196A7DC-7362-45B2-BE41-7483CB390E64}"/>
              </a:ext>
            </a:extLst>
          </p:cNvPr>
          <p:cNvGraphicFramePr/>
          <p:nvPr/>
        </p:nvGraphicFramePr>
        <p:xfrm>
          <a:off xmlns:a="http://schemas.openxmlformats.org/drawingml/2006/main" x="7010400" y="2047875"/>
          <a:ext xmlns:a="http://schemas.openxmlformats.org/drawingml/2006/main" cx="443865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1533525"/>
                <a:gridCol w="1333500"/>
              </a:tblGrid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退货编号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金额（元）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 / A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R02 /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R03 / C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</a:tbl>
          </a:graphicData>
        </a:graphic>
      </p:graphicFrame>
      <p:sp>
        <p:nvSpPr>
          <p:cNvPr id="53" name="table-caption">
            <a:extLst xmlns:a="http://schemas.openxmlformats.org/drawingml/2006/main">
              <a:ext uri="{FF2B5EF4-FFF2-40B4-BE49-F238E27FC236}">
                <a16:creationId xmlns:a16="http://schemas.microsoft.com/office/drawing/2014/main" id="{13E01189-0290-4278-9792-F4A094E6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38750"/>
            <a:ext cx="443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三笔退货均发生在 9 月</a:t>
            </a:r>
          </a:p>
        </p:txBody>
      </p:sp>
      <p:sp>
        <p:nvSpPr>
          <p:cNvPr id="54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2CEC15E8-2858-4D1E-9521-B8F520B0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讲解例子：用“小票号 / 商品号”标识一笔退货。金额仅用于说明。</a:t>
            </a:r>
          </a:p>
        </p:txBody>
      </p:sp>
      <p:sp>
        <p:nvSpPr>
          <p:cNvPr id="55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599A54FD-E45B-49A4-B787-A8F83A8C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A5F2C5A0-D776-484E-84B1-3BD99A5E08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1b90028ea43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Agent </a:t>
            </a: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怎样得到</a:t>
            </a: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600 元？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202359C0-8A7A-196E-DD58-8E6569619F09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etup">
            <a:extLst xmlns:a="http://schemas.openxmlformats.org/drawingml/2006/main">
              <a:ext uri="{FF2B5EF4-FFF2-40B4-BE49-F238E27FC236}">
                <a16:creationId xmlns:a16="http://schemas.microsoft.com/office/drawing/2014/main" id="{BA644F19-B964-4EE1-8E05-7CA59F25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706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按照用户说明的规则，一步步写出查询</a:t>
            </a:r>
          </a:p>
        </p:txBody>
      </p:sp>
      <p:sp>
        <p:nvSpPr>
          <p:cNvPr id="50" name="learn-0">
            <a:extLst xmlns:a="http://schemas.openxmlformats.org/drawingml/2006/main">
              <a:ext uri="{FF2B5EF4-FFF2-40B4-BE49-F238E27FC236}">
                <a16:creationId xmlns:a16="http://schemas.microsoft.com/office/drawing/2014/main" id="{52AF9FB7-4689-4AC2-8F91-CBB92D30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0350"/>
            <a:ext cx="23812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learn-0-head">
            <a:extLst xmlns:a="http://schemas.openxmlformats.org/drawingml/2006/main">
              <a:ext uri="{FF2B5EF4-FFF2-40B4-BE49-F238E27FC236}">
                <a16:creationId xmlns:a16="http://schemas.microsoft.com/office/drawing/2014/main" id="{2932657C-9A31-4E9A-811B-D3F112FD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860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找数据</a:t>
            </a:r>
          </a:p>
        </p:txBody>
      </p:sp>
      <p:sp>
        <p:nvSpPr>
          <p:cNvPr id="52" name="learn-0-body">
            <a:extLst xmlns:a="http://schemas.openxmlformats.org/drawingml/2006/main">
              <a:ext uri="{FF2B5EF4-FFF2-40B4-BE49-F238E27FC236}">
                <a16:creationId xmlns:a16="http://schemas.microsoft.com/office/drawing/2014/main" id="{4CAE77B4-4951-4184-982C-70E92430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48025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退货金额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状态与日期字段</a:t>
            </a:r>
          </a:p>
        </p:txBody>
      </p:sp>
      <p:sp>
        <p:nvSpPr>
          <p:cNvPr id="53" name="learn-1">
            <a:extLst xmlns:a="http://schemas.openxmlformats.org/drawingml/2006/main">
              <a:ext uri="{FF2B5EF4-FFF2-40B4-BE49-F238E27FC236}">
                <a16:creationId xmlns:a16="http://schemas.microsoft.com/office/drawing/2014/main" id="{4175C286-7E5C-4D5F-868C-AD7EEECF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00350"/>
            <a:ext cx="23812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learn-1-head">
            <a:extLst xmlns:a="http://schemas.openxmlformats.org/drawingml/2006/main">
              <a:ext uri="{FF2B5EF4-FFF2-40B4-BE49-F238E27FC236}">
                <a16:creationId xmlns:a16="http://schemas.microsoft.com/office/drawing/2014/main" id="{E04AF2CF-4049-4189-A488-D4B82FF0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860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确认规则</a:t>
            </a:r>
          </a:p>
        </p:txBody>
      </p:sp>
      <p:sp>
        <p:nvSpPr>
          <p:cNvPr id="55" name="learn-1-body">
            <a:extLst xmlns:a="http://schemas.openxmlformats.org/drawingml/2006/main">
              <a:ext uri="{FF2B5EF4-FFF2-40B4-BE49-F238E27FC236}">
                <a16:creationId xmlns:a16="http://schemas.microsoft.com/office/drawing/2014/main" id="{E5CB33CE-611C-40AF-83CB-15EEADC6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48025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只计已完成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按退货日期分月</a:t>
            </a:r>
          </a:p>
        </p:txBody>
      </p:sp>
      <p:sp>
        <p:nvSpPr>
          <p:cNvPr id="56" name="learn-2">
            <a:extLst xmlns:a="http://schemas.openxmlformats.org/drawingml/2006/main">
              <a:ext uri="{FF2B5EF4-FFF2-40B4-BE49-F238E27FC236}">
                <a16:creationId xmlns:a16="http://schemas.microsoft.com/office/drawing/2014/main" id="{E7F37E94-7AA5-4EAD-8BF9-16DA0032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00350"/>
            <a:ext cx="23812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learn-2-head">
            <a:extLst xmlns:a="http://schemas.openxmlformats.org/drawingml/2006/main">
              <a:ext uri="{FF2B5EF4-FFF2-40B4-BE49-F238E27FC236}">
                <a16:creationId xmlns:a16="http://schemas.microsoft.com/office/drawing/2014/main" id="{5C925E57-99DA-4A6B-989D-A39F1217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860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生成查询</a:t>
            </a:r>
          </a:p>
        </p:txBody>
      </p:sp>
      <p:sp>
        <p:nvSpPr>
          <p:cNvPr id="58" name="learn-2-body">
            <a:extLst xmlns:a="http://schemas.openxmlformats.org/drawingml/2006/main">
              <a:ext uri="{FF2B5EF4-FFF2-40B4-BE49-F238E27FC236}">
                <a16:creationId xmlns:a16="http://schemas.microsoft.com/office/drawing/2014/main" id="{FB4E67CC-B5D7-48D0-9CEB-B86FE02F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48025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筛选 9 月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再对退货金额求和</a:t>
            </a:r>
          </a:p>
        </p:txBody>
      </p:sp>
      <p:sp>
        <p:nvSpPr>
          <p:cNvPr id="59" name="learn-3">
            <a:extLst xmlns:a="http://schemas.openxmlformats.org/drawingml/2006/main">
              <a:ext uri="{FF2B5EF4-FFF2-40B4-BE49-F238E27FC236}">
                <a16:creationId xmlns:a16="http://schemas.microsoft.com/office/drawing/2014/main" id="{49B0874F-B6CE-4400-B813-91E21EA6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00350"/>
            <a:ext cx="23812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learn-3-head">
            <a:extLst xmlns:a="http://schemas.openxmlformats.org/drawingml/2006/main">
              <a:ext uri="{FF2B5EF4-FFF2-40B4-BE49-F238E27FC236}">
                <a16:creationId xmlns:a16="http://schemas.microsoft.com/office/drawing/2014/main" id="{FAC4E15A-0FB7-485C-B9E6-DD63F04A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860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得到结果</a:t>
            </a:r>
          </a:p>
        </p:txBody>
      </p:sp>
      <p:sp>
        <p:nvSpPr>
          <p:cNvPr id="61" name="learn-3-body">
            <a:extLst xmlns:a="http://schemas.openxmlformats.org/drawingml/2006/main">
              <a:ext uri="{FF2B5EF4-FFF2-40B4-BE49-F238E27FC236}">
                <a16:creationId xmlns:a16="http://schemas.microsoft.com/office/drawing/2014/main" id="{C23BB019-CA27-46FD-8EA4-7685EA26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48025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100＋200＋300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600 元</a:t>
            </a:r>
          </a:p>
        </p:txBody>
      </p:sp>
      <p:cxnSp>
        <p:nvCxnSpPr>
          <p:cNvPr id="62" name="直接箭头连接符 61">
            <a:extLst xmlns:a="http://schemas.openxmlformats.org/drawingml/2006/main">
              <a:ext uri="{FF2B5EF4-FFF2-40B4-BE49-F238E27FC236}">
                <a16:creationId xmlns:a16="http://schemas.microsoft.com/office/drawing/2014/main" id="{75082593-64D9-4737-8071-511C492DEDF8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3095625" y="3452813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3" name="直接箭头连接符 62">
            <a:extLst xmlns:a="http://schemas.openxmlformats.org/drawingml/2006/main">
              <a:ext uri="{FF2B5EF4-FFF2-40B4-BE49-F238E27FC236}">
                <a16:creationId xmlns:a16="http://schemas.microsoft.com/office/drawing/2014/main" id="{E51879E3-9FFA-4428-85C6-A3F7B17E1026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5876925" y="3452813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4" name="直接箭头连接符 63">
            <a:extLst xmlns:a="http://schemas.openxmlformats.org/drawingml/2006/main">
              <a:ext uri="{FF2B5EF4-FFF2-40B4-BE49-F238E27FC236}">
                <a16:creationId xmlns:a16="http://schemas.microsoft.com/office/drawing/2014/main" id="{1DF0F176-F8E6-424F-9265-DB99819716AB}"/>
              </a:ext>
            </a:extLst>
          </p:cNvPr>
          <p:cNvCxnSpPr>
            <a:stCxn xmlns:a="http://schemas.openxmlformats.org/drawingml/2006/main" id="56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8658225" y="3452813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65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D60AD59F-A1CD-4672-A664-AEF478A2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05400"/>
            <a:ext cx="1076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takeaway">
            <a:extLst xmlns:a="http://schemas.openxmlformats.org/drawingml/2006/main">
              <a:ext uri="{FF2B5EF4-FFF2-40B4-BE49-F238E27FC236}">
                <a16:creationId xmlns:a16="http://schemas.microsoft.com/office/drawing/2014/main" id="{D1B292BB-5E06-4B2F-AA3B-E23CAE8B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62550"/>
            <a:ext cx="1045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本次学到的知识：哪些记录该算，以及怎样计算</a:t>
            </a:r>
          </a:p>
        </p:txBody>
      </p:sp>
      <p:sp>
        <p:nvSpPr>
          <p:cNvPr id="67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24F1BAC-1C5F-4498-9C2E-87D971EC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912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这里用退货例子说明过程，下一页看门店营业额的真实运行记录。</a:t>
            </a:r>
          </a:p>
        </p:txBody>
      </p:sp>
      <p:sp>
        <p:nvSpPr>
          <p:cNvPr id="68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7D9D91D7-678F-4A82-A0CB-D2F4D9FB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785E45B3-2F12-420F-B922-AB27B5B5BB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dba8303f041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真实运行：Agent 的 7 次工具调用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EFD6AB9A-5F9E-5F59-51AB-3C8734130965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real-question">
            <a:extLst xmlns:a="http://schemas.openxmlformats.org/drawingml/2006/main">
              <a:ext uri="{FF2B5EF4-FFF2-40B4-BE49-F238E27FC236}">
                <a16:creationId xmlns:a16="http://schemas.microsoft.com/office/drawing/2014/main" id="{F544FB8E-9CE6-484A-B6D7-9D5C768C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学习题：3 月门店营业额是多少？</a:t>
            </a:r>
          </a:p>
        </p:txBody>
      </p:sp>
      <p:sp>
        <p:nvSpPr>
          <p:cNvPr id="50" name="call-num-0">
            <a:extLst xmlns:a="http://schemas.openxmlformats.org/drawingml/2006/main">
              <a:ext uri="{FF2B5EF4-FFF2-40B4-BE49-F238E27FC236}">
                <a16:creationId xmlns:a16="http://schemas.microsoft.com/office/drawing/2014/main" id="{E18111C8-9C33-4442-80B9-C6CAEA90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9075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call-name-0">
            <a:extLst xmlns:a="http://schemas.openxmlformats.org/drawingml/2006/main">
              <a:ext uri="{FF2B5EF4-FFF2-40B4-BE49-F238E27FC236}">
                <a16:creationId xmlns:a16="http://schemas.microsoft.com/office/drawing/2014/main" id="{E1740B59-8992-4BB5-929D-0C6CD948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list_tables()</a:t>
            </a:r>
          </a:p>
        </p:txBody>
      </p:sp>
      <p:sp>
        <p:nvSpPr>
          <p:cNvPr id="52" name="call-result-0">
            <a:extLst xmlns:a="http://schemas.openxmlformats.org/drawingml/2006/main">
              <a:ext uri="{FF2B5EF4-FFF2-40B4-BE49-F238E27FC236}">
                <a16:creationId xmlns:a16="http://schemas.microsoft.com/office/drawing/2014/main" id="{A56865C7-62FA-40F2-99EA-E3D759FC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190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5 张表及说明</a:t>
            </a:r>
          </a:p>
        </p:txBody>
      </p:sp>
      <p:sp>
        <p:nvSpPr>
          <p:cNvPr id="53" name="call-num-1">
            <a:extLst xmlns:a="http://schemas.openxmlformats.org/drawingml/2006/main">
              <a:ext uri="{FF2B5EF4-FFF2-40B4-BE49-F238E27FC236}">
                <a16:creationId xmlns:a16="http://schemas.microsoft.com/office/drawing/2014/main" id="{629B77B1-AC54-4ED2-9336-128869BD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0032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4" name="call-name-1">
            <a:extLst xmlns:a="http://schemas.openxmlformats.org/drawingml/2006/main">
              <a:ext uri="{FF2B5EF4-FFF2-40B4-BE49-F238E27FC236}">
                <a16:creationId xmlns:a16="http://schemas.microsoft.com/office/drawing/2014/main" id="{73E21980-C28C-4AE7-8E9B-09B0DE54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find_metric("门店营业额")</a:t>
            </a:r>
          </a:p>
        </p:txBody>
      </p:sp>
      <p:sp>
        <p:nvSpPr>
          <p:cNvPr id="55" name="call-result-1">
            <a:extLst xmlns:a="http://schemas.openxmlformats.org/drawingml/2006/main">
              <a:ext uri="{FF2B5EF4-FFF2-40B4-BE49-F238E27FC236}">
                <a16:creationId xmlns:a16="http://schemas.microsoft.com/office/drawing/2014/main" id="{B9BC3628-C6BB-4104-AB2C-4219A236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003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没有已检查的规则</a:t>
            </a:r>
          </a:p>
        </p:txBody>
      </p:sp>
      <p:sp>
        <p:nvSpPr>
          <p:cNvPr id="56" name="call-num-2">
            <a:extLst xmlns:a="http://schemas.openxmlformats.org/drawingml/2006/main">
              <a:ext uri="{FF2B5EF4-FFF2-40B4-BE49-F238E27FC236}">
                <a16:creationId xmlns:a16="http://schemas.microsoft.com/office/drawing/2014/main" id="{680FFBA0-1E76-43C4-8F81-A7E57F3D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990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57" name="call-name-2">
            <a:extLst xmlns:a="http://schemas.openxmlformats.org/drawingml/2006/main">
              <a:ext uri="{FF2B5EF4-FFF2-40B4-BE49-F238E27FC236}">
                <a16:creationId xmlns:a16="http://schemas.microsoft.com/office/drawing/2014/main" id="{D3776485-6634-400C-946B-73AC2819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990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describe_table(store_sales)</a:t>
            </a:r>
          </a:p>
        </p:txBody>
      </p:sp>
      <p:sp>
        <p:nvSpPr>
          <p:cNvPr id="58" name="call-result-2">
            <a:extLst xmlns:a="http://schemas.openxmlformats.org/drawingml/2006/main">
              <a:ext uri="{FF2B5EF4-FFF2-40B4-BE49-F238E27FC236}">
                <a16:creationId xmlns:a16="http://schemas.microsoft.com/office/drawing/2014/main" id="{1ADD6881-F7A0-4860-86F3-9471E0A0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099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金额、日期等字段</a:t>
            </a:r>
          </a:p>
        </p:txBody>
      </p:sp>
      <p:sp>
        <p:nvSpPr>
          <p:cNvPr id="59" name="call-num-3">
            <a:extLst xmlns:a="http://schemas.openxmlformats.org/drawingml/2006/main">
              <a:ext uri="{FF2B5EF4-FFF2-40B4-BE49-F238E27FC236}">
                <a16:creationId xmlns:a16="http://schemas.microsoft.com/office/drawing/2014/main" id="{CBDB39E4-1105-4EDB-ABC5-57F74B19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194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0" name="call-name-3">
            <a:extLst xmlns:a="http://schemas.openxmlformats.org/drawingml/2006/main">
              <a:ext uri="{FF2B5EF4-FFF2-40B4-BE49-F238E27FC236}">
                <a16:creationId xmlns:a16="http://schemas.microsoft.com/office/drawing/2014/main" id="{FAC7295E-C20A-460B-A740-90174FD8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19475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describe_table(date_dim)</a:t>
            </a:r>
          </a:p>
        </p:txBody>
      </p:sp>
      <p:sp>
        <p:nvSpPr>
          <p:cNvPr id="61" name="call-result-3">
            <a:extLst xmlns:a="http://schemas.openxmlformats.org/drawingml/2006/main">
              <a:ext uri="{FF2B5EF4-FFF2-40B4-BE49-F238E27FC236}">
                <a16:creationId xmlns:a16="http://schemas.microsoft.com/office/drawing/2014/main" id="{12C74DE6-1E9F-4ECE-8934-2C71E8F0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194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日期字段与类型</a:t>
            </a:r>
          </a:p>
        </p:txBody>
      </p:sp>
      <p:sp>
        <p:nvSpPr>
          <p:cNvPr id="62" name="call-num-4">
            <a:extLst xmlns:a="http://schemas.openxmlformats.org/drawingml/2006/main">
              <a:ext uri="{FF2B5EF4-FFF2-40B4-BE49-F238E27FC236}">
                <a16:creationId xmlns:a16="http://schemas.microsoft.com/office/drawing/2014/main" id="{B183426D-8257-48F9-BDE1-24CECA80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2905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63" name="call-name-4">
            <a:extLst xmlns:a="http://schemas.openxmlformats.org/drawingml/2006/main">
              <a:ext uri="{FF2B5EF4-FFF2-40B4-BE49-F238E27FC236}">
                <a16:creationId xmlns:a16="http://schemas.microsoft.com/office/drawing/2014/main" id="{86118D9B-6F32-4DB1-A88F-1B8EE3D7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join_path(store_sales, date_dim)</a:t>
            </a:r>
          </a:p>
        </p:txBody>
      </p:sp>
      <p:sp>
        <p:nvSpPr>
          <p:cNvPr id="64" name="call-result-4">
            <a:extLst xmlns:a="http://schemas.openxmlformats.org/drawingml/2006/main">
              <a:ext uri="{FF2B5EF4-FFF2-40B4-BE49-F238E27FC236}">
                <a16:creationId xmlns:a16="http://schemas.microsoft.com/office/drawing/2014/main" id="{5D9C4BC9-550A-440F-ABAD-5C92AA46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29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98.97% 能找到日期</a:t>
            </a:r>
          </a:p>
        </p:txBody>
      </p:sp>
      <p:sp>
        <p:nvSpPr>
          <p:cNvPr id="65" name="call-num-5">
            <a:extLst xmlns:a="http://schemas.openxmlformats.org/drawingml/2006/main">
              <a:ext uri="{FF2B5EF4-FFF2-40B4-BE49-F238E27FC236}">
                <a16:creationId xmlns:a16="http://schemas.microsoft.com/office/drawing/2014/main" id="{DBAF91E5-9712-4562-9BF4-E01ED171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3862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66" name="call-name-5">
            <a:extLst xmlns:a="http://schemas.openxmlformats.org/drawingml/2006/main">
              <a:ext uri="{FF2B5EF4-FFF2-40B4-BE49-F238E27FC236}">
                <a16:creationId xmlns:a16="http://schemas.microsoft.com/office/drawing/2014/main" id="{E55B7AB5-3FCC-4C80-8A5C-E1BD9CF5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38625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run_sql</a:t>
            </a:r>
            <a:r>
              <a:rPr sz="16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(...)</a:t>
            </a:r>
          </a:p>
        </p:txBody>
      </p:sp>
      <p:sp>
        <p:nvSpPr>
          <p:cNvPr id="67" name="call-result-5">
            <a:extLst xmlns:a="http://schemas.openxmlformats.org/drawingml/2006/main">
              <a:ext uri="{FF2B5EF4-FFF2-40B4-BE49-F238E27FC236}">
                <a16:creationId xmlns:a16="http://schemas.microsoft.com/office/drawing/2014/main" id="{6EBFFC3B-C16C-4531-853C-F421AF44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38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13,570,368.70</a:t>
            </a:r>
          </a:p>
        </p:txBody>
      </p:sp>
      <p:sp>
        <p:nvSpPr>
          <p:cNvPr id="68" name="call-num-6">
            <a:extLst xmlns:a="http://schemas.openxmlformats.org/drawingml/2006/main">
              <a:ext uri="{FF2B5EF4-FFF2-40B4-BE49-F238E27FC236}">
                <a16:creationId xmlns:a16="http://schemas.microsoft.com/office/drawing/2014/main" id="{32B98D49-5A19-4FAB-B7BF-8DDE3FCE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4820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69" name="call-name-6">
            <a:extLst xmlns:a="http://schemas.openxmlformats.org/drawingml/2006/main">
              <a:ext uri="{FF2B5EF4-FFF2-40B4-BE49-F238E27FC236}">
                <a16:creationId xmlns:a16="http://schemas.microsoft.com/office/drawing/2014/main" id="{D5F66E99-0BA3-4AF6-B7F4-3E3D910C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final_answer(...)</a:t>
            </a:r>
          </a:p>
        </p:txBody>
      </p:sp>
      <p:sp>
        <p:nvSpPr>
          <p:cNvPr id="70" name="call-result-6">
            <a:extLst xmlns:a="http://schemas.openxmlformats.org/drawingml/2006/main">
              <a:ext uri="{FF2B5EF4-FFF2-40B4-BE49-F238E27FC236}">
                <a16:creationId xmlns:a16="http://schemas.microsoft.com/office/drawing/2014/main" id="{97F54D9C-E1BC-4985-9FE5-B7A1F7A7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482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答案正确</a:t>
            </a:r>
          </a:p>
        </p:txBody>
      </p:sp>
      <p:sp>
        <p:nvSpPr>
          <p:cNvPr id="71" name="query-label">
            <a:extLst xmlns:a="http://schemas.openxmlformats.org/drawingml/2006/main">
              <a:ext uri="{FF2B5EF4-FFF2-40B4-BE49-F238E27FC236}">
                <a16:creationId xmlns:a16="http://schemas.microsoft.com/office/drawing/2014/main" id="{32AD7FA8-0D78-4EEA-BCA3-A794843F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第 6 次调用的 SQL</a:t>
            </a:r>
          </a:p>
        </p:txBody>
      </p:sp>
      <p:sp>
        <p:nvSpPr>
          <p:cNvPr id="72" name="learning-sql-back">
            <a:extLst xmlns:a="http://schemas.openxmlformats.org/drawingml/2006/main">
              <a:ext uri="{FF2B5EF4-FFF2-40B4-BE49-F238E27FC236}">
                <a16:creationId xmlns:a16="http://schemas.microsoft.com/office/drawing/2014/main" id="{C1CB1D24-0AE1-4489-96A7-B0525849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3590925" cy="2600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learning-sql">
            <a:extLst xmlns:a="http://schemas.openxmlformats.org/drawingml/2006/main">
              <a:ext uri="{FF2B5EF4-FFF2-40B4-BE49-F238E27FC236}">
                <a16:creationId xmlns:a16="http://schemas.microsoft.com/office/drawing/2014/main" id="{1A7BC719-55E4-4AA7-A958-3077B95B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3362325" cy="2447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SELECT ROUND(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SUM(ss.ss_net_paid), 2)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FROM store_sales ss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JOIN date_dim 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ON ss.ss_sold_date_sk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   = d.d_date_sk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WHERE d.d_year = :年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AND d.d_moy = 3</a:t>
            </a:r>
          </a:p>
        </p:txBody>
      </p:sp>
      <p:sp>
        <p:nvSpPr>
          <p:cNvPr id="74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047744DB-5189-40C9-AF5D-F10504BE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76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takeaway">
            <a:extLst xmlns:a="http://schemas.openxmlformats.org/drawingml/2006/main">
              <a:ext uri="{FF2B5EF4-FFF2-40B4-BE49-F238E27FC236}">
                <a16:creationId xmlns:a16="http://schemas.microsoft.com/office/drawing/2014/main" id="{CEDFDA78-08B6-4140-8B70-BA6DA906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34025"/>
            <a:ext cx="1045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 5 轮、7 次工具调用，工具执行共用时 0.3 秒</a:t>
            </a:r>
          </a:p>
        </p:txBody>
      </p:sp>
      <p:sp>
        <p:nvSpPr>
          <p:cNvPr id="7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1C5AF65-3A2E-4952-A9EA-1B0C9BAF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912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真实运行 M1-L1，金额单位为元。年份用参数表示；0.3 秒不含模型思考时间。</a:t>
            </a:r>
          </a:p>
        </p:txBody>
      </p:sp>
      <p:sp>
        <p:nvSpPr>
          <p:cNvPr id="77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D7263969-8BD6-4108-864B-EA53F2C0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EB1FC004-D763-4D42-AF97-9561286B5C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ae45fb83d4f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下一位 Agent 怎样使用已有的计算规则？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EE5B3003-2C54-13C6-9832-7637201064DE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reuse-request">
            <a:extLst xmlns:a="http://schemas.openxmlformats.org/drawingml/2006/main">
              <a:ext uri="{FF2B5EF4-FFF2-40B4-BE49-F238E27FC236}">
                <a16:creationId xmlns:a16="http://schemas.microsoft.com/office/drawing/2014/main" id="{90B08EE4-E5BF-4B28-A16C-480F638D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新的请求：统计 10 月退货金额</a:t>
            </a:r>
          </a:p>
        </p:txBody>
      </p:sp>
      <p:sp>
        <p:nvSpPr>
          <p:cNvPr id="50" name="new-user">
            <a:extLst xmlns:a="http://schemas.openxmlformats.org/drawingml/2006/main">
              <a:ext uri="{FF2B5EF4-FFF2-40B4-BE49-F238E27FC236}">
                <a16:creationId xmlns:a16="http://schemas.microsoft.com/office/drawing/2014/main" id="{1B0C3EEB-DF0B-4C9F-A343-FA5FD7BC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2362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new-user-head">
            <a:extLst xmlns:a="http://schemas.openxmlformats.org/drawingml/2006/main">
              <a:ext uri="{FF2B5EF4-FFF2-40B4-BE49-F238E27FC236}">
                <a16:creationId xmlns:a16="http://schemas.microsoft.com/office/drawing/2014/main" id="{9EE89E6B-3B67-4FB3-9417-E23EC40C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4797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用户 Agent</a:t>
            </a:r>
          </a:p>
        </p:txBody>
      </p:sp>
      <p:sp>
        <p:nvSpPr>
          <p:cNvPr id="52" name="new-user-body">
            <a:extLst xmlns:a="http://schemas.openxmlformats.org/drawingml/2006/main">
              <a:ext uri="{FF2B5EF4-FFF2-40B4-BE49-F238E27FC236}">
                <a16:creationId xmlns:a16="http://schemas.microsoft.com/office/drawing/2014/main" id="{D5E6E6FC-4334-49E1-ACB4-FA664D68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09925"/>
            <a:ext cx="2133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接到 10 月请求</a:t>
            </a:r>
          </a:p>
        </p:txBody>
      </p:sp>
      <p:sp>
        <p:nvSpPr>
          <p:cNvPr id="53" name="find-def">
            <a:extLst xmlns:a="http://schemas.openxmlformats.org/drawingml/2006/main">
              <a:ext uri="{FF2B5EF4-FFF2-40B4-BE49-F238E27FC236}">
                <a16:creationId xmlns:a16="http://schemas.microsoft.com/office/drawing/2014/main" id="{441559E4-52ED-40F8-B785-1483F81D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6225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find-def-head">
            <a:extLst xmlns:a="http://schemas.openxmlformats.org/drawingml/2006/main">
              <a:ext uri="{FF2B5EF4-FFF2-40B4-BE49-F238E27FC236}">
                <a16:creationId xmlns:a16="http://schemas.microsoft.com/office/drawing/2014/main" id="{80346831-D8C5-4873-A97D-B4B8D538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479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获取已有规则</a:t>
            </a:r>
          </a:p>
        </p:txBody>
      </p:sp>
      <p:sp>
        <p:nvSpPr>
          <p:cNvPr id="55" name="find-def-body">
            <a:extLst xmlns:a="http://schemas.openxmlformats.org/drawingml/2006/main">
              <a:ext uri="{FF2B5EF4-FFF2-40B4-BE49-F238E27FC236}">
                <a16:creationId xmlns:a16="http://schemas.microsoft.com/office/drawing/2014/main" id="{3499629E-889F-46B4-B861-B21C8FB0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09925"/>
            <a:ext cx="2724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计算规则＋查询示例</a:t>
            </a:r>
          </a:p>
        </p:txBody>
      </p:sp>
      <p:sp>
        <p:nvSpPr>
          <p:cNvPr id="56" name="current-exec">
            <a:extLst xmlns:a="http://schemas.openxmlformats.org/drawingml/2006/main">
              <a:ext uri="{FF2B5EF4-FFF2-40B4-BE49-F238E27FC236}">
                <a16:creationId xmlns:a16="http://schemas.microsoft.com/office/drawing/2014/main" id="{5A1719B8-D11F-4D98-B9B4-F6AC7047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62250"/>
            <a:ext cx="4381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current-exec-head">
            <a:extLst xmlns:a="http://schemas.openxmlformats.org/drawingml/2006/main">
              <a:ext uri="{FF2B5EF4-FFF2-40B4-BE49-F238E27FC236}">
                <a16:creationId xmlns:a16="http://schemas.microsoft.com/office/drawing/2014/main" id="{DA5AEB61-B0CE-4532-B8F3-5C3F0D9C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479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查询当前数据</a:t>
            </a:r>
          </a:p>
        </p:txBody>
      </p:sp>
      <p:sp>
        <p:nvSpPr>
          <p:cNvPr id="58" name="current-exec-body">
            <a:extLst xmlns:a="http://schemas.openxmlformats.org/drawingml/2006/main">
              <a:ext uri="{FF2B5EF4-FFF2-40B4-BE49-F238E27FC236}">
                <a16:creationId xmlns:a16="http://schemas.microsoft.com/office/drawing/2014/main" id="{EDB18A2C-4BD1-4DB8-88FE-998A6F99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9925"/>
            <a:ext cx="4152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把月份改成 10 月</a:t>
            </a:r>
          </a:p>
        </p:txBody>
      </p:sp>
      <p:cxnSp>
        <p:nvCxnSpPr>
          <p:cNvPr id="59" name="直接箭头连接符 58">
            <a:extLst xmlns:a="http://schemas.openxmlformats.org/drawingml/2006/main">
              <a:ext uri="{FF2B5EF4-FFF2-40B4-BE49-F238E27FC236}">
                <a16:creationId xmlns:a16="http://schemas.microsoft.com/office/drawing/2014/main" id="{D8C24D4F-8967-4085-BC28-AA22541420B2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3076575" y="33718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0" name="直接箭头连接符 59">
            <a:extLst xmlns:a="http://schemas.openxmlformats.org/drawingml/2006/main">
              <a:ext uri="{FF2B5EF4-FFF2-40B4-BE49-F238E27FC236}">
                <a16:creationId xmlns:a16="http://schemas.microsoft.com/office/drawing/2014/main" id="{213CBF57-F6AE-4688-9F04-7301FF2A9BAA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6496050" y="33718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61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0061E89D-8E4B-44B2-8052-353FD2D2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33975"/>
            <a:ext cx="1076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takeaway">
            <a:extLst xmlns:a="http://schemas.openxmlformats.org/drawingml/2006/main">
              <a:ext uri="{FF2B5EF4-FFF2-40B4-BE49-F238E27FC236}">
                <a16:creationId xmlns:a16="http://schemas.microsoft.com/office/drawing/2014/main" id="{EA6D2577-4969-4976-BE87-6951BF41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91125"/>
            <a:ext cx="1045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计算规则可以共用，每次都用当前数据重新计算</a:t>
            </a:r>
          </a:p>
        </p:txBody>
      </p:sp>
      <p:sp>
        <p:nvSpPr>
          <p:cNvPr id="63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BF36534-44B3-409A-8791-B37A6006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912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退货例子：使用时说明采用哪个版本，并检查该版本的使用条件。</a:t>
            </a:r>
          </a:p>
        </p:txBody>
      </p:sp>
      <p:sp>
        <p:nvSpPr>
          <p:cNvPr id="64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D90FFF55-28CE-4684-ACDD-3CA34425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4F98A985-BB50-4457-A48A-9B34560342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8aa66da564d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数据变化：同一笔退货出现了两种状态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8C630A04-5A25-9E0C-9436-126091DB86B3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49" name="after-update">
            <a:extLst xmlns:a="http://schemas.openxmlformats.org/drawingml/2006/main">
              <a:ext uri="{FF2B5EF4-FFF2-40B4-BE49-F238E27FC236}">
                <a16:creationId xmlns:a16="http://schemas.microsoft.com/office/drawing/2014/main" id="{2FD142A7-BB6A-4B2B-BDDC-F4F9871360DD}"/>
              </a:ext>
            </a:extLst>
          </p:cNvPr>
          <p:cNvGraphicFramePr/>
          <p:nvPr/>
        </p:nvGraphicFramePr>
        <p:xfrm>
          <a:off xmlns:a="http://schemas.openxmlformats.org/drawingml/2006/main" x="685800" y="1876425"/>
          <a:ext xmlns:a="http://schemas.openxmlformats.org/drawingml/2006/main" cx="61912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857375"/>
                <a:gridCol w="2047875"/>
              </a:tblGrid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退货编号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金额（元）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 / A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 / 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申请中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R02 / B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R02 /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申请中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R03 / C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</a:tbl>
          </a:graphicData>
        </a:graphic>
      </p:graphicFrame>
      <p:sp>
        <p:nvSpPr>
          <p:cNvPr id="50" name="bad-label">
            <a:extLst xmlns:a="http://schemas.openxmlformats.org/drawingml/2006/main">
              <a:ext uri="{FF2B5EF4-FFF2-40B4-BE49-F238E27FC236}">
                <a16:creationId xmlns:a16="http://schemas.microsoft.com/office/drawing/2014/main" id="{59CAA58B-C4C1-4A31-B017-39FD6742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85975"/>
            <a:ext cx="3943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继续使用原 SQL</a:t>
            </a:r>
          </a:p>
        </p:txBody>
      </p:sp>
      <p:sp>
        <p:nvSpPr>
          <p:cNvPr id="51" name="bad-value">
            <a:extLst xmlns:a="http://schemas.openxmlformats.org/drawingml/2006/main">
              <a:ext uri="{FF2B5EF4-FFF2-40B4-BE49-F238E27FC236}">
                <a16:creationId xmlns:a16="http://schemas.microsoft.com/office/drawing/2014/main" id="{7A40DFB2-5FDD-41CC-8C7C-315BBBAB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38425"/>
            <a:ext cx="394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4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900 元</a:t>
            </a:r>
          </a:p>
        </p:txBody>
      </p:sp>
      <p:sp>
        <p:nvSpPr>
          <p:cNvPr id="52" name="good-result">
            <a:extLst xmlns:a="http://schemas.openxmlformats.org/drawingml/2006/main">
              <a:ext uri="{FF2B5EF4-FFF2-40B4-BE49-F238E27FC236}">
                <a16:creationId xmlns:a16="http://schemas.microsoft.com/office/drawing/2014/main" id="{F023951A-42E5-435C-990C-24A2E22C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10000"/>
            <a:ext cx="3943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正确结果仍为 600 元</a:t>
            </a:r>
          </a:p>
        </p:txBody>
      </p:sp>
      <p:sp>
        <p:nvSpPr>
          <p:cNvPr id="53" name="reason">
            <a:extLst xmlns:a="http://schemas.openxmlformats.org/drawingml/2006/main">
              <a:ext uri="{FF2B5EF4-FFF2-40B4-BE49-F238E27FC236}">
                <a16:creationId xmlns:a16="http://schemas.microsoft.com/office/drawing/2014/main" id="{00E9DD5C-3096-4F9A-8EA3-45B2A3CE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291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“申请中”的记录也被算了进去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表结构和 SQL 都没有报错</a:t>
            </a:r>
          </a:p>
        </p:txBody>
      </p:sp>
      <p:sp>
        <p:nvSpPr>
          <p:cNvPr id="54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8B49016E-3EED-4EE8-BBF9-26913D5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讲解示例：新增了两条“申请中”记录，已完成的三笔退货没有变化。</a:t>
            </a:r>
          </a:p>
        </p:txBody>
      </p:sp>
      <p:sp>
        <p:nvSpPr>
          <p:cNvPr id="55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8A126AD6-C2D8-47CA-8DA8-383C3FC4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33EA4886-A656-4A83-9C8B-A82FBEBDE6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0fb2a942f42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发布：学会计算方法，检查后供大家使用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D3D7D1C8-AE23-AA48-DF65-C742588DBE47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B5286698-8773-4CFD-860B-2E1FF2DE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pic>
        <p:nvPicPr>
          <p:cNvPr id="90" name="图片 89">
            <a:extLst xmlns:a="http://schemas.openxmlformats.org/drawingml/2006/main">
              <a:ext uri="{FF2B5EF4-FFF2-40B4-BE49-F238E27FC236}">
                <a16:creationId xmlns:a16="http://schemas.microsoft.com/office/drawing/2014/main" id="{463DFB5B-94E1-49AC-AF60-E0EFEA347B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7a113c54e4200"/>
          <a:srcRect xmlns:a="http://schemas.openxmlformats.org/drawingml/2006/main" l="0" t="7707" r="0" b="0"/>
          <a:stretch xmlns:a="http://schemas.openxmlformats.org/drawingml/2006/main"/>
        </p:blipFill>
        <p:spPr>
          <a:xfrm xmlns:a="http://schemas.openxmlformats.org/drawingml/2006/main">
            <a:off x="428625" y="1419225"/>
            <a:ext cx="11334750" cy="4672706"/>
          </a:xfrm>
          <a:prstGeom xmlns:a="http://schemas.openxmlformats.org/drawingml/2006/main" prst="rect">
            <a:avLst/>
          </a:prstGeom>
        </p:spPr>
      </p:pic>
      <p:sp>
        <p:nvSpPr>
          <p:cNvPr id="91" name="original-figure-caption">
            <a:extLst xmlns:a="http://schemas.openxmlformats.org/drawingml/2006/main">
              <a:ext uri="{FF2B5EF4-FFF2-40B4-BE49-F238E27FC236}">
                <a16:creationId xmlns:a16="http://schemas.microsoft.com/office/drawing/2014/main" id="{3CE1CA71-7707-4DDE-8A76-87D3215E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163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图中“定义”是计算规则，“前提”是使用条件。r1 是查询结果编号，v1 是规则版本。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59EE7F57-BF00-4569-AEC1-4470BE1EB2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a556eefca44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共享记忆：保存哪些计算规则和使用条件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BA58DA2A-B818-18A9-29C1-B697728D5BCE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9511920B-8F21-4241-B133-0010B56B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graphicFrame>
        <p:nvGraphicFramePr>
          <p:cNvPr id="54" name="revenue-definition-record">
            <a:extLst xmlns:a="http://schemas.openxmlformats.org/drawingml/2006/main">
              <a:ext uri="{FF2B5EF4-FFF2-40B4-BE49-F238E27FC236}">
                <a16:creationId xmlns:a16="http://schemas.microsoft.com/office/drawing/2014/main" id="{799775B4-6CB7-4EF4-A484-DED250AEA7A0}"/>
              </a:ext>
            </a:extLst>
          </p:cNvPr>
          <p:cNvGraphicFramePr/>
          <p:nvPr/>
        </p:nvGraphicFramePr>
        <p:xfrm>
          <a:off xmlns:a="http://schemas.openxmlformats.org/drawingml/2006/main" x="714375" y="1914525"/>
          <a:ext xmlns:a="http://schemas.openxmlformats.org/drawingml/2006/main" cx="10763250" cy="32689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14725"/>
                <a:gridCol w="7248525"/>
              </a:tblGrid>
              <a:tr h="6457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保存的内容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门店营业额的例子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计算规则</a:t>
                      </a:r>
                    </a:p>
                  </a:txBody>
                  <a:tcPr marL="91440" marR="91440" marT="45720" marB="45720"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净支付额相加，按销售日期分到各个月份</a:t>
                      </a:r>
                    </a:p>
                  </a:txBody>
                  <a:tcPr marL="91440" marR="91440" marT="45720" marB="45720" anchor="ctr">
                    <a:solidFill>
                      <a:srgbClr val="F8EFE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怎样计算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SUM(ss_net_paid)，年、月按问题填写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怎样识别一笔销售</a:t>
                      </a:r>
                    </a:p>
                  </a:txBody>
                  <a:tcPr marL="91440" marR="91440" marT="45720" marB="45720"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日期号＋小票号＋商品号；检查是否重复</a:t>
                      </a:r>
                    </a:p>
                  </a:txBody>
                  <a:tcPr marL="91440" marR="91440" marT="45720" marB="45720" anchor="ctr">
                    <a:solidFill>
                      <a:srgbClr val="F8EFE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版本和记录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首次发布 v1，优化后 v2，修复后 v3；保留记录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model-takeaway">
            <a:extLst xmlns:a="http://schemas.openxmlformats.org/drawingml/2006/main">
              <a:ext uri="{FF2B5EF4-FFF2-40B4-BE49-F238E27FC236}">
                <a16:creationId xmlns:a16="http://schemas.microsoft.com/office/drawing/2014/main" id="{E76AD212-270D-45BD-AB80-1AA8EBB0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438775"/>
            <a:ext cx="1064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计算规则和使用条件一起保存，由 MAVRA 检查</a:t>
            </a:r>
          </a:p>
        </p:txBody>
      </p:sp>
      <p:sp>
        <p:nvSpPr>
          <p:cNvPr id="56" name="model-footnote">
            <a:extLst xmlns:a="http://schemas.openxmlformats.org/drawingml/2006/main">
              <a:ext uri="{FF2B5EF4-FFF2-40B4-BE49-F238E27FC236}">
                <a16:creationId xmlns:a16="http://schemas.microsoft.com/office/drawing/2014/main" id="{639E19FD-D129-4926-980D-0CE35480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用户 Agent 获取计算规则和注意事项；MAVRA 保存完整的条件、检查结果和学习记录。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2B697073-8598-4F9F-97D8-EBE3D2E07E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9b3d52f2743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真实运行：发布 v1 前要做 7 项检查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388657AE-30A1-5A7A-6A7F-315D84436430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gate-row-0">
            <a:extLst xmlns:a="http://schemas.openxmlformats.org/drawingml/2006/main">
              <a:ext uri="{FF2B5EF4-FFF2-40B4-BE49-F238E27FC236}">
                <a16:creationId xmlns:a16="http://schemas.microsoft.com/office/drawing/2014/main" id="{3C0A543F-7EA5-486E-9E13-C6CCFC3E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0763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gate-n-0">
            <a:extLst xmlns:a="http://schemas.openxmlformats.org/drawingml/2006/main">
              <a:ext uri="{FF2B5EF4-FFF2-40B4-BE49-F238E27FC236}">
                <a16:creationId xmlns:a16="http://schemas.microsoft.com/office/drawing/2014/main" id="{1AF8F643-981F-45D4-A884-350CD32D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75260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gate-name-0">
            <a:extLst xmlns:a="http://schemas.openxmlformats.org/drawingml/2006/main">
              <a:ext uri="{FF2B5EF4-FFF2-40B4-BE49-F238E27FC236}">
                <a16:creationId xmlns:a16="http://schemas.microsoft.com/office/drawing/2014/main" id="{C0877110-823A-4712-9B75-0DD2C5C1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52600"/>
            <a:ext cx="3324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规则有依据</a:t>
            </a:r>
          </a:p>
        </p:txBody>
      </p:sp>
      <p:sp>
        <p:nvSpPr>
          <p:cNvPr id="52" name="gate-detail-0">
            <a:extLst xmlns:a="http://schemas.openxmlformats.org/drawingml/2006/main">
              <a:ext uri="{FF2B5EF4-FFF2-40B4-BE49-F238E27FC236}">
                <a16:creationId xmlns:a16="http://schemas.microsoft.com/office/drawing/2014/main" id="{DF32877C-A25A-4378-9014-FB995C2D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752600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题目说清了营业额怎么算</a:t>
            </a:r>
          </a:p>
        </p:txBody>
      </p:sp>
      <p:sp>
        <p:nvSpPr>
          <p:cNvPr id="53" name="gate-ok-0">
            <a:extLst xmlns:a="http://schemas.openxmlformats.org/drawingml/2006/main">
              <a:ext uri="{FF2B5EF4-FFF2-40B4-BE49-F238E27FC236}">
                <a16:creationId xmlns:a16="http://schemas.microsoft.com/office/drawing/2014/main" id="{900BA097-7777-45F2-90E9-58CAE69B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752600"/>
            <a:ext cx="28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54" name="gate-n-1">
            <a:extLst xmlns:a="http://schemas.openxmlformats.org/drawingml/2006/main">
              <a:ext uri="{FF2B5EF4-FFF2-40B4-BE49-F238E27FC236}">
                <a16:creationId xmlns:a16="http://schemas.microsoft.com/office/drawing/2014/main" id="{5D5EB545-BB9F-4797-86CD-3BA9B896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5742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5" name="gate-name-1">
            <a:extLst xmlns:a="http://schemas.openxmlformats.org/drawingml/2006/main">
              <a:ext uri="{FF2B5EF4-FFF2-40B4-BE49-F238E27FC236}">
                <a16:creationId xmlns:a16="http://schemas.microsoft.com/office/drawing/2014/main" id="{685B9494-ED1C-4501-B4FF-8F0D5A92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57425"/>
            <a:ext cx="3324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答案正确且能重算</a:t>
            </a:r>
          </a:p>
        </p:txBody>
      </p:sp>
      <p:sp>
        <p:nvSpPr>
          <p:cNvPr id="56" name="gate-detail-1">
            <a:extLst xmlns:a="http://schemas.openxmlformats.org/drawingml/2006/main">
              <a:ext uri="{FF2B5EF4-FFF2-40B4-BE49-F238E27FC236}">
                <a16:creationId xmlns:a16="http://schemas.microsoft.com/office/drawing/2014/main" id="{BBD6D507-044B-41F8-A721-79282D64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57425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答案通过独立检查，计算过程能重复</a:t>
            </a:r>
          </a:p>
        </p:txBody>
      </p:sp>
      <p:sp>
        <p:nvSpPr>
          <p:cNvPr id="57" name="gate-ok-1">
            <a:extLst xmlns:a="http://schemas.openxmlformats.org/drawingml/2006/main">
              <a:ext uri="{FF2B5EF4-FFF2-40B4-BE49-F238E27FC236}">
                <a16:creationId xmlns:a16="http://schemas.microsoft.com/office/drawing/2014/main" id="{EA57FE4E-9128-47D7-83E9-CE48A727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257425"/>
            <a:ext cx="28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58" name="gate-row-2">
            <a:extLst xmlns:a="http://schemas.openxmlformats.org/drawingml/2006/main">
              <a:ext uri="{FF2B5EF4-FFF2-40B4-BE49-F238E27FC236}">
                <a16:creationId xmlns:a16="http://schemas.microsoft.com/office/drawing/2014/main" id="{2E12C9E6-3BFB-4080-842E-A7427975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4150"/>
            <a:ext cx="10763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gate-n-2">
            <a:extLst xmlns:a="http://schemas.openxmlformats.org/drawingml/2006/main">
              <a:ext uri="{FF2B5EF4-FFF2-40B4-BE49-F238E27FC236}">
                <a16:creationId xmlns:a16="http://schemas.microsoft.com/office/drawing/2014/main" id="{FD805328-37B3-41B9-8253-7F49A3FB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6225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0" name="gate-name-2">
            <a:extLst xmlns:a="http://schemas.openxmlformats.org/drawingml/2006/main">
              <a:ext uri="{FF2B5EF4-FFF2-40B4-BE49-F238E27FC236}">
                <a16:creationId xmlns:a16="http://schemas.microsoft.com/office/drawing/2014/main" id="{35D6B3BB-74B7-41EB-A9AE-915075C4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0"/>
            <a:ext cx="3324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检查表和 SQL</a:t>
            </a:r>
          </a:p>
        </p:txBody>
      </p:sp>
      <p:sp>
        <p:nvSpPr>
          <p:cNvPr id="61" name="gate-detail-2">
            <a:extLst xmlns:a="http://schemas.openxmlformats.org/drawingml/2006/main">
              <a:ext uri="{FF2B5EF4-FFF2-40B4-BE49-F238E27FC236}">
                <a16:creationId xmlns:a16="http://schemas.microsoft.com/office/drawing/2014/main" id="{C9C1239D-FA84-42D6-8E1F-AAAFF53A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62250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表和列存在，连接正确，固定条件不含题目参数</a:t>
            </a:r>
          </a:p>
        </p:txBody>
      </p:sp>
      <p:sp>
        <p:nvSpPr>
          <p:cNvPr id="62" name="gate-ok-2">
            <a:extLst xmlns:a="http://schemas.openxmlformats.org/drawingml/2006/main">
              <a:ext uri="{FF2B5EF4-FFF2-40B4-BE49-F238E27FC236}">
                <a16:creationId xmlns:a16="http://schemas.microsoft.com/office/drawing/2014/main" id="{FC3BD430-1C4C-400A-862B-8493C10D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762250"/>
            <a:ext cx="28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63" name="gate-n-3">
            <a:extLst xmlns:a="http://schemas.openxmlformats.org/drawingml/2006/main">
              <a:ext uri="{FF2B5EF4-FFF2-40B4-BE49-F238E27FC236}">
                <a16:creationId xmlns:a16="http://schemas.microsoft.com/office/drawing/2014/main" id="{484818D3-9929-4675-BD05-447B7C21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670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4" name="gate-name-3">
            <a:extLst xmlns:a="http://schemas.openxmlformats.org/drawingml/2006/main">
              <a:ext uri="{FF2B5EF4-FFF2-40B4-BE49-F238E27FC236}">
                <a16:creationId xmlns:a16="http://schemas.microsoft.com/office/drawing/2014/main" id="{AD1D432E-D167-44A9-8874-F0C14535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67075"/>
            <a:ext cx="3324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主键唯一：同一笔销售一行</a:t>
            </a:r>
          </a:p>
        </p:txBody>
      </p:sp>
      <p:sp>
        <p:nvSpPr>
          <p:cNvPr id="65" name="gate-detail-3">
            <a:extLst xmlns:a="http://schemas.openxmlformats.org/drawingml/2006/main">
              <a:ext uri="{FF2B5EF4-FFF2-40B4-BE49-F238E27FC236}">
                <a16:creationId xmlns:a16="http://schemas.microsoft.com/office/drawing/2014/main" id="{44E07479-DB74-476C-B464-3BA35AF8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67075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989,695 行＝989,695 个键</a:t>
            </a:r>
          </a:p>
        </p:txBody>
      </p:sp>
      <p:sp>
        <p:nvSpPr>
          <p:cNvPr id="66" name="gate-ok-3">
            <a:extLst xmlns:a="http://schemas.openxmlformats.org/drawingml/2006/main">
              <a:ext uri="{FF2B5EF4-FFF2-40B4-BE49-F238E27FC236}">
                <a16:creationId xmlns:a16="http://schemas.microsoft.com/office/drawing/2014/main" id="{FBB6EDA2-25A2-4BF5-B366-7F248F08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267075"/>
            <a:ext cx="28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67" name="gate-row-4">
            <a:extLst xmlns:a="http://schemas.openxmlformats.org/drawingml/2006/main">
              <a:ext uri="{FF2B5EF4-FFF2-40B4-BE49-F238E27FC236}">
                <a16:creationId xmlns:a16="http://schemas.microsoft.com/office/drawing/2014/main" id="{CD296655-E19D-4AD2-B220-29E17C12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33800"/>
            <a:ext cx="10763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gate-n-4">
            <a:extLst xmlns:a="http://schemas.openxmlformats.org/drawingml/2006/main">
              <a:ext uri="{FF2B5EF4-FFF2-40B4-BE49-F238E27FC236}">
                <a16:creationId xmlns:a16="http://schemas.microsoft.com/office/drawing/2014/main" id="{445156E6-08CF-40F7-814B-5648EAF5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7190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69" name="gate-name-4">
            <a:extLst xmlns:a="http://schemas.openxmlformats.org/drawingml/2006/main">
              <a:ext uri="{FF2B5EF4-FFF2-40B4-BE49-F238E27FC236}">
                <a16:creationId xmlns:a16="http://schemas.microsoft.com/office/drawing/2014/main" id="{2202EEA3-3ECC-4DBA-9653-9B528C28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71900"/>
            <a:ext cx="3324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检查查询是否安全</a:t>
            </a:r>
          </a:p>
        </p:txBody>
      </p:sp>
      <p:sp>
        <p:nvSpPr>
          <p:cNvPr id="70" name="gate-detail-4">
            <a:extLst xmlns:a="http://schemas.openxmlformats.org/drawingml/2006/main">
              <a:ext uri="{FF2B5EF4-FFF2-40B4-BE49-F238E27FC236}">
                <a16:creationId xmlns:a16="http://schemas.microsoft.com/office/drawing/2014/main" id="{201F9816-451D-4D63-8942-F7BC2B44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71900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只有一条查询，不修改数据</a:t>
            </a:r>
          </a:p>
        </p:txBody>
      </p:sp>
      <p:sp>
        <p:nvSpPr>
          <p:cNvPr id="71" name="gate-ok-4">
            <a:extLst xmlns:a="http://schemas.openxmlformats.org/drawingml/2006/main">
              <a:ext uri="{FF2B5EF4-FFF2-40B4-BE49-F238E27FC236}">
                <a16:creationId xmlns:a16="http://schemas.microsoft.com/office/drawing/2014/main" id="{87C04F82-F43E-41ED-962A-B7A6DBF4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771900"/>
            <a:ext cx="28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72" name="gate-n-5">
            <a:extLst xmlns:a="http://schemas.openxmlformats.org/drawingml/2006/main">
              <a:ext uri="{FF2B5EF4-FFF2-40B4-BE49-F238E27FC236}">
                <a16:creationId xmlns:a16="http://schemas.microsoft.com/office/drawing/2014/main" id="{4F0B631F-4136-46E3-BAD3-26F3EE7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7672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3" name="gate-name-5">
            <a:extLst xmlns:a="http://schemas.openxmlformats.org/drawingml/2006/main">
              <a:ext uri="{FF2B5EF4-FFF2-40B4-BE49-F238E27FC236}">
                <a16:creationId xmlns:a16="http://schemas.microsoft.com/office/drawing/2014/main" id="{9B8B10C9-B57E-41C7-9C74-75EB25ED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76725"/>
            <a:ext cx="3324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再运行示例 SQL</a:t>
            </a:r>
          </a:p>
        </p:txBody>
      </p:sp>
      <p:sp>
        <p:nvSpPr>
          <p:cNvPr id="74" name="gate-detail-5">
            <a:extLst xmlns:a="http://schemas.openxmlformats.org/drawingml/2006/main">
              <a:ext uri="{FF2B5EF4-FFF2-40B4-BE49-F238E27FC236}">
                <a16:creationId xmlns:a16="http://schemas.microsoft.com/office/drawing/2014/main" id="{0394B571-8F59-4621-8ACC-BACFC200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276725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13,570,368.70</a:t>
            </a:r>
          </a:p>
        </p:txBody>
      </p:sp>
      <p:sp>
        <p:nvSpPr>
          <p:cNvPr id="75" name="gate-ok-5">
            <a:extLst xmlns:a="http://schemas.openxmlformats.org/drawingml/2006/main">
              <a:ext uri="{FF2B5EF4-FFF2-40B4-BE49-F238E27FC236}">
                <a16:creationId xmlns:a16="http://schemas.microsoft.com/office/drawing/2014/main" id="{7DB24065-69C9-4ED3-99D1-F36097C5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276725"/>
            <a:ext cx="28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76" name="gate-row-6">
            <a:extLst xmlns:a="http://schemas.openxmlformats.org/drawingml/2006/main">
              <a:ext uri="{FF2B5EF4-FFF2-40B4-BE49-F238E27FC236}">
                <a16:creationId xmlns:a16="http://schemas.microsoft.com/office/drawing/2014/main" id="{F08AF084-F4B7-4B72-AFB3-A65F9E49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43450"/>
            <a:ext cx="10763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gate-n-6">
            <a:extLst xmlns:a="http://schemas.openxmlformats.org/drawingml/2006/main">
              <a:ext uri="{FF2B5EF4-FFF2-40B4-BE49-F238E27FC236}">
                <a16:creationId xmlns:a16="http://schemas.microsoft.com/office/drawing/2014/main" id="{6A0B5CC5-0871-49D2-BE2A-4B69603F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78155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8" name="gate-name-6">
            <a:extLst xmlns:a="http://schemas.openxmlformats.org/drawingml/2006/main">
              <a:ext uri="{FF2B5EF4-FFF2-40B4-BE49-F238E27FC236}">
                <a16:creationId xmlns:a16="http://schemas.microsoft.com/office/drawing/2014/main" id="{606C1A61-23ED-43C3-ABF2-6383BC6F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781550"/>
            <a:ext cx="3324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再运行系统生成的 SQL</a:t>
            </a:r>
          </a:p>
        </p:txBody>
      </p:sp>
      <p:sp>
        <p:nvSpPr>
          <p:cNvPr id="79" name="gate-detail-6">
            <a:extLst xmlns:a="http://schemas.openxmlformats.org/drawingml/2006/main">
              <a:ext uri="{FF2B5EF4-FFF2-40B4-BE49-F238E27FC236}">
                <a16:creationId xmlns:a16="http://schemas.microsoft.com/office/drawing/2014/main" id="{2E5B2F11-A542-4013-9A9B-1BE6EA85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781550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13,570,368.70</a:t>
            </a:r>
          </a:p>
        </p:txBody>
      </p:sp>
      <p:sp>
        <p:nvSpPr>
          <p:cNvPr id="80" name="gate-ok-6">
            <a:extLst xmlns:a="http://schemas.openxmlformats.org/drawingml/2006/main">
              <a:ext uri="{FF2B5EF4-FFF2-40B4-BE49-F238E27FC236}">
                <a16:creationId xmlns:a16="http://schemas.microsoft.com/office/drawing/2014/main" id="{D6CDD96C-E2F0-4347-8C30-B43036CD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781550"/>
            <a:ext cx="28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81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785823B9-F804-4EC1-B0A0-8B339BEB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1076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2" name="takeaway">
            <a:extLst xmlns:a="http://schemas.openxmlformats.org/drawingml/2006/main">
              <a:ext uri="{FF2B5EF4-FFF2-40B4-BE49-F238E27FC236}">
                <a16:creationId xmlns:a16="http://schemas.microsoft.com/office/drawing/2014/main" id="{CB19C053-B0EB-4EA6-B69B-CD8A077A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24500"/>
            <a:ext cx="1045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7 项全部通过才发布 v1；共执行 5 条查询，用时 5.6 秒</a:t>
            </a:r>
          </a:p>
        </p:txBody>
      </p:sp>
      <p:sp>
        <p:nvSpPr>
          <p:cNvPr id="83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94854B0-31DC-440D-AC9F-015B6B04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912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真实运行 M1-L1。系统根据保存的规则生成 SQL，再运行一次，检查共享的规则是否正确。</a:t>
            </a:r>
          </a:p>
        </p:txBody>
      </p:sp>
      <p:sp>
        <p:nvSpPr>
          <p:cNvPr id="84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3A187079-AC94-4E96-B955-0B8ED53A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9CB84D06-B58A-42C3-9DD9-8277873C2B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47ba7dab041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真实运行：换一种查询写法，结果相同、用时更少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DB7BEEEC-A170-5376-2B6E-CB54687B0CB1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original-query">
            <a:extLst xmlns:a="http://schemas.openxmlformats.org/drawingml/2006/main">
              <a:ext uri="{FF2B5EF4-FFF2-40B4-BE49-F238E27FC236}">
                <a16:creationId xmlns:a16="http://schemas.microsoft.com/office/drawing/2014/main" id="{E3B95795-3809-4661-9178-1965B8EE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4133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riginal-query-head">
            <a:extLst xmlns:a="http://schemas.openxmlformats.org/drawingml/2006/main">
              <a:ext uri="{FF2B5EF4-FFF2-40B4-BE49-F238E27FC236}">
                <a16:creationId xmlns:a16="http://schemas.microsoft.com/office/drawing/2014/main" id="{6585FFF8-30CD-4B5B-A6DB-9CD98DE0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94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v1：连接日期表</a:t>
            </a:r>
          </a:p>
        </p:txBody>
      </p:sp>
      <p:sp>
        <p:nvSpPr>
          <p:cNvPr id="51" name="original-query-body">
            <a:extLst xmlns:a="http://schemas.openxmlformats.org/drawingml/2006/main">
              <a:ext uri="{FF2B5EF4-FFF2-40B4-BE49-F238E27FC236}">
                <a16:creationId xmlns:a16="http://schemas.microsoft.com/office/drawing/2014/main" id="{91D628D5-0875-4134-BC34-A30FD9BB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按年、月筛选销售</a:t>
            </a:r>
          </a:p>
        </p:txBody>
      </p:sp>
      <p:sp>
        <p:nvSpPr>
          <p:cNvPr id="52" name="range-query">
            <a:extLst xmlns:a="http://schemas.openxmlformats.org/drawingml/2006/main">
              <a:ext uri="{FF2B5EF4-FFF2-40B4-BE49-F238E27FC236}">
                <a16:creationId xmlns:a16="http://schemas.microsoft.com/office/drawing/2014/main" id="{19D66E76-B909-449D-BF08-DF39EDCF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838325"/>
            <a:ext cx="4133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range-query-head">
            <a:extLst xmlns:a="http://schemas.openxmlformats.org/drawingml/2006/main">
              <a:ext uri="{FF2B5EF4-FFF2-40B4-BE49-F238E27FC236}">
                <a16:creationId xmlns:a16="http://schemas.microsoft.com/office/drawing/2014/main" id="{DED214F9-0D12-4C81-ADAD-DE925291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24050"/>
            <a:ext cx="394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v2：按日期编号筛选</a:t>
            </a:r>
          </a:p>
        </p:txBody>
      </p:sp>
      <p:sp>
        <p:nvSpPr>
          <p:cNvPr id="54" name="range-query-body">
            <a:extLst xmlns:a="http://schemas.openxmlformats.org/drawingml/2006/main">
              <a:ext uri="{FF2B5EF4-FFF2-40B4-BE49-F238E27FC236}">
                <a16:creationId xmlns:a16="http://schemas.microsoft.com/office/drawing/2014/main" id="{CEBD165C-BD7B-4974-9672-749A649D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2860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用该月最小、最大的日期编号</a:t>
            </a:r>
          </a:p>
        </p:txBody>
      </p:sp>
      <p:cxnSp>
        <p:nvCxnSpPr>
          <p:cNvPr id="55" name="直接箭头连接符 54">
            <a:extLst xmlns:a="http://schemas.openxmlformats.org/drawingml/2006/main">
              <a:ext uri="{FF2B5EF4-FFF2-40B4-BE49-F238E27FC236}">
                <a16:creationId xmlns:a16="http://schemas.microsoft.com/office/drawing/2014/main" id="{3C0F9F03-EA73-4443-ACF1-382B0DFAC570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4857750" y="2319338"/>
            <a:ext cx="248602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56" name="rewrite-rule">
            <a:extLst xmlns:a="http://schemas.openxmlformats.org/drawingml/2006/main">
              <a:ext uri="{FF2B5EF4-FFF2-40B4-BE49-F238E27FC236}">
                <a16:creationId xmlns:a16="http://schemas.microsoft.com/office/drawing/2014/main" id="{798C8482-7D36-40B4-9DE2-E1063662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240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更换写法</a:t>
            </a:r>
          </a:p>
        </p:txBody>
      </p:sp>
      <p:sp>
        <p:nvSpPr>
          <p:cNvPr id="57" name="equal-number">
            <a:extLst xmlns:a="http://schemas.openxmlformats.org/drawingml/2006/main">
              <a:ext uri="{FF2B5EF4-FFF2-40B4-BE49-F238E27FC236}">
                <a16:creationId xmlns:a16="http://schemas.microsoft.com/office/drawing/2014/main" id="{B99C59C6-8CF7-45E0-87D5-253397C4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857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4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4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4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14 / 14</a:t>
            </a:r>
          </a:p>
        </p:txBody>
      </p:sp>
      <p:sp>
        <p:nvSpPr>
          <p:cNvPr id="58" name="equal-label">
            <a:extLst xmlns:a="http://schemas.openxmlformats.org/drawingml/2006/main">
              <a:ext uri="{FF2B5EF4-FFF2-40B4-BE49-F238E27FC236}">
                <a16:creationId xmlns:a16="http://schemas.microsoft.com/office/drawing/2014/main" id="{C147F44A-5F9F-4895-95D1-A74B8A63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81475"/>
            <a:ext cx="385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14 组结果全部相同</a:t>
            </a:r>
          </a:p>
        </p:txBody>
      </p:sp>
      <p:sp>
        <p:nvSpPr>
          <p:cNvPr id="59" name="equal-detail">
            <a:extLst xmlns:a="http://schemas.openxmlformats.org/drawingml/2006/main">
              <a:ext uri="{FF2B5EF4-FFF2-40B4-BE49-F238E27FC236}">
                <a16:creationId xmlns:a16="http://schemas.microsoft.com/office/drawing/2014/main" id="{5C664BBB-EC44-452C-92A1-02C435CE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422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12 个月、一个季度、一次差值计算</a:t>
            </a:r>
          </a:p>
        </p:txBody>
      </p:sp>
      <p:sp>
        <p:nvSpPr>
          <p:cNvPr id="60" name="timing">
            <a:extLst xmlns:a="http://schemas.openxmlformats.org/drawingml/2006/main">
              <a:ext uri="{FF2B5EF4-FFF2-40B4-BE49-F238E27FC236}">
                <a16:creationId xmlns:a16="http://schemas.microsoft.com/office/drawing/2014/main" id="{9222E8E0-D9E6-469B-AAB4-39B3975A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305175"/>
            <a:ext cx="5810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39.7 ms  →  33.3 ms</a:t>
            </a:r>
          </a:p>
        </p:txBody>
      </p:sp>
      <p:sp>
        <p:nvSpPr>
          <p:cNvPr id="61" name="saving">
            <a:extLst xmlns:a="http://schemas.openxmlformats.org/drawingml/2006/main">
              <a:ext uri="{FF2B5EF4-FFF2-40B4-BE49-F238E27FC236}">
                <a16:creationId xmlns:a16="http://schemas.microsoft.com/office/drawing/2014/main" id="{3E3D65B6-CC51-4F10-8E2B-CEE72150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29100"/>
            <a:ext cx="5753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执行时间减少 16.1%</a:t>
            </a:r>
          </a:p>
        </p:txBody>
      </p:sp>
      <p:sp>
        <p:nvSpPr>
          <p:cNvPr id="62" name="added-premise">
            <a:extLst xmlns:a="http://schemas.openxmlformats.org/drawingml/2006/main">
              <a:ext uri="{FF2B5EF4-FFF2-40B4-BE49-F238E27FC236}">
                <a16:creationId xmlns:a16="http://schemas.microsoft.com/office/drawing/2014/main" id="{C5B5A9A2-0A64-4916-ABC8-A2E1AE64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714875"/>
            <a:ext cx="578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新增条件：每月日期编号连续</a:t>
            </a:r>
          </a:p>
        </p:txBody>
      </p:sp>
      <p:sp>
        <p:nvSpPr>
          <p:cNvPr id="63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D4D9ECD0-9E0A-4C6C-9DEF-BCC5F24B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76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takeaway">
            <a:extLst xmlns:a="http://schemas.openxmlformats.org/drawingml/2006/main">
              <a:ext uri="{FF2B5EF4-FFF2-40B4-BE49-F238E27FC236}">
                <a16:creationId xmlns:a16="http://schemas.microsoft.com/office/drawing/2014/main" id="{7A0061AB-7916-45D4-B1D3-E1C45B20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34025"/>
            <a:ext cx="1045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用学习时的数据重算，结果也相同；新条件不满足就恢复原写法</a:t>
            </a:r>
          </a:p>
        </p:txBody>
      </p:sp>
      <p:sp>
        <p:nvSpPr>
          <p:cNvPr id="6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F19A977-645F-4CAB-B5AC-63226878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912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真实优化记录：14 对查询交替计时；耗时差的 95% 置信区间为 [−12.2, −0.5] ms。</a:t>
            </a:r>
          </a:p>
        </p:txBody>
      </p:sp>
      <p:sp>
        <p:nvSpPr>
          <p:cNvPr id="66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840D544A-5F67-420C-8D17-C4A6A03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64025F4B-DA4B-49FC-B6C7-B6DAA7D54A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794f9a5f94b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使用：只问营业额，Agent 就能找到计算规则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30394428-F1DC-E5F6-DB0C-7DE31F3D8A23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551BC53E-44F6-4455-915F-9943254A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pic>
        <p:nvPicPr>
          <p:cNvPr id="89" name="图片 88">
            <a:extLst xmlns:a="http://schemas.openxmlformats.org/drawingml/2006/main">
              <a:ext uri="{FF2B5EF4-FFF2-40B4-BE49-F238E27FC236}">
                <a16:creationId xmlns:a16="http://schemas.microsoft.com/office/drawing/2014/main" id="{1C90D9B5-8DB0-437F-8E8D-4F8CFF850C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7407c4b054840"/>
          <a:srcRect xmlns:a="http://schemas.openxmlformats.org/drawingml/2006/main" l="0" t="7707" r="0" b="0"/>
          <a:stretch xmlns:a="http://schemas.openxmlformats.org/drawingml/2006/main"/>
        </p:blipFill>
        <p:spPr>
          <a:xfrm xmlns:a="http://schemas.openxmlformats.org/drawingml/2006/main">
            <a:off x="428625" y="1419225"/>
            <a:ext cx="11334750" cy="4672706"/>
          </a:xfrm>
          <a:prstGeom xmlns:a="http://schemas.openxmlformats.org/drawingml/2006/main" prst="rect">
            <a:avLst/>
          </a:prstGeom>
        </p:spPr>
      </p:pic>
      <p:sp>
        <p:nvSpPr>
          <p:cNvPr id="90" name="original-figure-caption">
            <a:extLst xmlns:a="http://schemas.openxmlformats.org/drawingml/2006/main">
              <a:ext uri="{FF2B5EF4-FFF2-40B4-BE49-F238E27FC236}">
                <a16:creationId xmlns:a16="http://schemas.microsoft.com/office/drawing/2014/main" id="{E5DFB244-5AD9-4E2B-BD4A-E87319D1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163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本次用时 7.4 秒（4 轮、6 次调用）；未开启同一快照检查，第 17 页解释。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72DC2558-0903-470E-818C-42E615B598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3bc6f77924d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维护：数据改了，下次使用时再检查和修复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4DB16885-0D3F-A391-B669-3211DB3B26E8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write-transition">
            <a:extLst xmlns:a="http://schemas.openxmlformats.org/drawingml/2006/main">
              <a:ext uri="{FF2B5EF4-FFF2-40B4-BE49-F238E27FC236}">
                <a16:creationId xmlns:a16="http://schemas.microsoft.com/office/drawing/2014/main" id="{2B6CC203-F5B5-42C7-B895-6A01A33B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43050"/>
            <a:ext cx="923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数据写入</a:t>
            </a:r>
          </a:p>
        </p:txBody>
      </p:sp>
      <p:sp>
        <p:nvSpPr>
          <p:cNvPr id="88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B0F8F1D1-93F8-4564-AF16-0F1286BD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pic>
        <p:nvPicPr>
          <p:cNvPr id="89" name="图片 88">
            <a:extLst xmlns:a="http://schemas.openxmlformats.org/drawingml/2006/main">
              <a:ext uri="{FF2B5EF4-FFF2-40B4-BE49-F238E27FC236}">
                <a16:creationId xmlns:a16="http://schemas.microsoft.com/office/drawing/2014/main" id="{2048B3E2-7AB1-44FF-B6E4-5E5390CDA5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a8af2fb934525"/>
          <a:srcRect xmlns:a="http://schemas.openxmlformats.org/drawingml/2006/main" l="0" t="7707" r="0" b="0"/>
          <a:stretch xmlns:a="http://schemas.openxmlformats.org/drawingml/2006/main"/>
        </p:blipFill>
        <p:spPr>
          <a:xfrm xmlns:a="http://schemas.openxmlformats.org/drawingml/2006/main">
            <a:off x="428625" y="1419225"/>
            <a:ext cx="11334750" cy="4672706"/>
          </a:xfrm>
          <a:prstGeom xmlns:a="http://schemas.openxmlformats.org/drawingml/2006/main" prst="rect">
            <a:avLst/>
          </a:prstGeom>
        </p:spPr>
      </p:pic>
      <p:sp>
        <p:nvSpPr>
          <p:cNvPr id="90" name="original-figure-caption">
            <a:extLst xmlns:a="http://schemas.openxmlformats.org/drawingml/2006/main">
              <a:ext uri="{FF2B5EF4-FFF2-40B4-BE49-F238E27FC236}">
                <a16:creationId xmlns:a16="http://schemas.microsoft.com/office/drawing/2014/main" id="{72DE1563-1E58-4279-8B8B-960ED188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163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“回归测试”就是用学习时的数据再算一次。检查和修复共用时 31.6 秒，之后大家共用 v3。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87A777EA-AB61-4D41-932B-F4EB40F9ED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e1806a1bc4c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真实运行：数据更正后，同一笔销售出现多行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2DD23107-4986-8758-3A93-3D74F35908CC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trigger">
            <a:extLst xmlns:a="http://schemas.openxmlformats.org/drawingml/2006/main">
              <a:ext uri="{FF2B5EF4-FFF2-40B4-BE49-F238E27FC236}">
                <a16:creationId xmlns:a16="http://schemas.microsoft.com/office/drawing/2014/main" id="{712CE2DB-D336-4B1C-A11E-FAA9ED45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下次调用 find_metric("门店营业额") 时，发现表版本变了</a:t>
            </a:r>
          </a:p>
        </p:txBody>
      </p:sp>
      <p:sp>
        <p:nvSpPr>
          <p:cNvPr id="50" name="check-sql-title">
            <a:extLst xmlns:a="http://schemas.openxmlformats.org/drawingml/2006/main">
              <a:ext uri="{FF2B5EF4-FFF2-40B4-BE49-F238E27FC236}">
                <a16:creationId xmlns:a16="http://schemas.microsoft.com/office/drawing/2014/main" id="{83250D89-76ED-4DFC-8982-914BBAC5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76475"/>
            <a:ext cx="542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检查是否重复的 SQL</a:t>
            </a:r>
          </a:p>
        </p:txBody>
      </p:sp>
      <p:sp>
        <p:nvSpPr>
          <p:cNvPr id="51" name="check-sql-back">
            <a:extLst xmlns:a="http://schemas.openxmlformats.org/drawingml/2006/main">
              <a:ext uri="{FF2B5EF4-FFF2-40B4-BE49-F238E27FC236}">
                <a16:creationId xmlns:a16="http://schemas.microsoft.com/office/drawing/2014/main" id="{CACF0DFA-6086-4A12-9933-1A2291F5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95575"/>
            <a:ext cx="6229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check-sql">
            <a:extLst xmlns:a="http://schemas.openxmlformats.org/drawingml/2006/main">
              <a:ext uri="{FF2B5EF4-FFF2-40B4-BE49-F238E27FC236}">
                <a16:creationId xmlns:a16="http://schemas.microsoft.com/office/drawing/2014/main" id="{7D181CF7-4FBE-468F-B071-DBEF33C0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71775"/>
            <a:ext cx="60007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SELECT COUNT(*) AS n_rows,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COUNT(DISTINCT (ss_item_sk,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  ss_sold_date_sk, ss_ticket_number)) AS n_keys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FROM store_sales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WHERE ss_item_sk IS NOT NULL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AND ss_sold_date_sk IS NOT NULL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AND ss_ticket_number IS NOT NULL;</a:t>
            </a:r>
          </a:p>
        </p:txBody>
      </p:sp>
      <p:sp>
        <p:nvSpPr>
          <p:cNvPr id="53" name="nrows">
            <a:extLst xmlns:a="http://schemas.openxmlformats.org/drawingml/2006/main">
              <a:ext uri="{FF2B5EF4-FFF2-40B4-BE49-F238E27FC236}">
                <a16:creationId xmlns:a16="http://schemas.microsoft.com/office/drawing/2014/main" id="{6538842E-8EB2-43FF-B0DE-8B0CF828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90775"/>
            <a:ext cx="4038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1,055,610 行</a:t>
            </a:r>
          </a:p>
        </p:txBody>
      </p:sp>
      <p:sp>
        <p:nvSpPr>
          <p:cNvPr id="54" name="nkeys">
            <a:extLst xmlns:a="http://schemas.openxmlformats.org/drawingml/2006/main">
              <a:ext uri="{FF2B5EF4-FFF2-40B4-BE49-F238E27FC236}">
                <a16:creationId xmlns:a16="http://schemas.microsoft.com/office/drawing/2014/main" id="{70483AA1-859B-4E7E-9F30-C217A2BD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71825"/>
            <a:ext cx="4038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989,695 个键</a:t>
            </a:r>
          </a:p>
        </p:txBody>
      </p:sp>
      <p:sp>
        <p:nvSpPr>
          <p:cNvPr id="55" name="time">
            <a:extLst xmlns:a="http://schemas.openxmlformats.org/drawingml/2006/main">
              <a:ext uri="{FF2B5EF4-FFF2-40B4-BE49-F238E27FC236}">
                <a16:creationId xmlns:a16="http://schemas.microsoft.com/office/drawing/2014/main" id="{3DA48F88-C3A0-467C-8E6E-CDB27EA5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6717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主键唯一检查用时 6.0 秒</a:t>
            </a:r>
          </a:p>
        </p:txBody>
      </p:sp>
      <p:sp>
        <p:nvSpPr>
          <p:cNvPr id="56" name="cause">
            <a:extLst xmlns:a="http://schemas.openxmlformats.org/drawingml/2006/main">
              <a:ext uri="{FF2B5EF4-FFF2-40B4-BE49-F238E27FC236}">
                <a16:creationId xmlns:a16="http://schemas.microsoft.com/office/drawing/2014/main" id="{0A4D8C49-DEBB-45D4-8E1A-77B8FC23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6196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旧记录和更正后的记录都在</a:t>
            </a:r>
          </a:p>
        </p:txBody>
      </p:sp>
      <p:sp>
        <p:nvSpPr>
          <p:cNvPr id="57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1C55AF10-109B-4257-B7D9-1E0CE2B1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76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takeaway">
            <a:extLst xmlns:a="http://schemas.openxmlformats.org/drawingml/2006/main">
              <a:ext uri="{FF2B5EF4-FFF2-40B4-BE49-F238E27FC236}">
                <a16:creationId xmlns:a16="http://schemas.microsoft.com/office/drawing/2014/main" id="{712EBED1-CE72-4709-9E2D-8194C963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34025"/>
            <a:ext cx="1045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旧 SQL 仍能执行，却会把旧金额一起加进去</a:t>
            </a:r>
          </a:p>
        </p:txBody>
      </p:sp>
      <p:sp>
        <p:nvSpPr>
          <p:cNvPr id="5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D1ACAFF-087A-4DD7-A506-CE56FF63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912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只统计日期号、小票号和商品号都非空的记录。日期表未变，不重查；关联检查用时 0.2 秒。</a:t>
            </a:r>
          </a:p>
        </p:txBody>
      </p:sp>
      <p:sp>
        <p:nvSpPr>
          <p:cNvPr id="60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70418B38-CB9F-4674-B8CB-53C77122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A3D02F1A-3A89-4C82-ABDA-970E297188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94471551f45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退货例子：每笔只留一行，也不能漏掉任何一笔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327921A4-25C4-3DB4-06B1-32693CEE2241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49" name="repair-candidates">
            <a:extLst xmlns:a="http://schemas.openxmlformats.org/drawingml/2006/main">
              <a:ext uri="{FF2B5EF4-FFF2-40B4-BE49-F238E27FC236}">
                <a16:creationId xmlns:a16="http://schemas.microsoft.com/office/drawing/2014/main" id="{C04D1D11-439F-4D13-B84A-C4DFAAF453BF}"/>
              </a:ext>
            </a:extLst>
          </p:cNvPr>
          <p:cNvGraphicFramePr/>
          <p:nvPr/>
        </p:nvGraphicFramePr>
        <p:xfrm>
          <a:off xmlns:a="http://schemas.openxmlformats.org/drawingml/2006/main" x="685800" y="1943100"/>
          <a:ext xmlns:a="http://schemas.openxmlformats.org/drawingml/2006/main" cx="10829925" cy="2181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62350"/>
                <a:gridCol w="3648075"/>
                <a:gridCol w="3619500"/>
              </a:tblGrid>
              <a:tr h="7270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尝试的筛选条件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保留的退货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</a:tr>
              <a:tr h="7270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状态＝申请中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R01、R02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漏掉 R03，不能用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  <a:tr h="7270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状态＝已完成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R01、R02、R03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每笔一行，没有遗漏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regression">
            <a:extLst xmlns:a="http://schemas.openxmlformats.org/drawingml/2006/main">
              <a:ext uri="{FF2B5EF4-FFF2-40B4-BE49-F238E27FC236}">
                <a16:creationId xmlns:a16="http://schemas.microsoft.com/office/drawing/2014/main" id="{8DE38A9F-839C-4F97-8417-D2C7DD8D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62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用学习时的数据再算一次，修复后的 SQL 仍得到 600 元</a:t>
            </a:r>
          </a:p>
        </p:txBody>
      </p:sp>
      <p:sp>
        <p:nvSpPr>
          <p:cNvPr id="51" name="publish">
            <a:extLst xmlns:a="http://schemas.openxmlformats.org/drawingml/2006/main">
              <a:ext uri="{FF2B5EF4-FFF2-40B4-BE49-F238E27FC236}">
                <a16:creationId xmlns:a16="http://schemas.microsoft.com/office/drawing/2014/main" id="{5321F9B8-3150-48CE-9D29-153F47B3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保存新规则：只算“已完成”，当前结果也是 600 元</a:t>
            </a:r>
          </a:p>
        </p:txBody>
      </p:sp>
      <p:sp>
        <p:nvSpPr>
          <p:cNvPr id="52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8F71928A-91C7-499E-91EB-C24C3022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只有一个方案通过，且用学习时的数据重算结果相同，才发布新版本；否则暂停使用。</a:t>
            </a:r>
          </a:p>
        </p:txBody>
      </p:sp>
      <p:sp>
        <p:nvSpPr>
          <p:cNvPr id="53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78C39B6C-09C0-4140-80E5-537B88EF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D55DB668-EC8E-45AF-9B89-AD5C69D5D0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c862596254f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真实运行：只有一个修复方案通过全部检查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EA83FA91-883A-0168-8075-96CEB9DCA3C2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49" name="repair-candidates">
            <a:extLst xmlns:a="http://schemas.openxmlformats.org/drawingml/2006/main">
              <a:ext uri="{FF2B5EF4-FFF2-40B4-BE49-F238E27FC236}">
                <a16:creationId xmlns:a16="http://schemas.microsoft.com/office/drawing/2014/main" id="{C8A0B2D6-4D29-4597-A231-9CB46B995951}"/>
              </a:ext>
            </a:extLst>
          </p:cNvPr>
          <p:cNvGraphicFramePr/>
          <p:nvPr/>
        </p:nvGraphicFramePr>
        <p:xfrm>
          <a:off xmlns:a="http://schemas.openxmlformats.org/drawingml/2006/main" x="714375" y="1771650"/>
          <a:ext xmlns:a="http://schemas.openxmlformats.org/drawingml/2006/main" cx="1076325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524500"/>
              </a:tblGrid>
              <a:tr h="573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尝试的筛选条件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每笔一行，且没有遗漏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ss_is_current = '1'</a:t>
                      </a:r>
                    </a:p>
                  </a:txBody>
                  <a:tcPr marL="91440" marR="91440" marT="45720" marB="45720"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通过：每笔销售都保留</a:t>
                      </a:r>
                    </a:p>
                  </a:txBody>
                  <a:tcPr marL="91440" marR="91440" marT="45720" marB="45720" anchor="ctr">
                    <a:solidFill>
                      <a:srgbClr val="F8EFE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ss_is_current = '0'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不通过：只剩被更正的销售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ss_quantity = 1 … 9</a:t>
                      </a:r>
                    </a:p>
                  </a:txBody>
                  <a:tcPr marL="91440" marR="91440" marT="45720" marB="45720"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不通过：每种取值都只留下部分销售</a:t>
                      </a:r>
                    </a:p>
                  </a:txBody>
                  <a:tcPr marL="91440" marR="91440" marT="45720" marB="45720" anchor="ctr">
                    <a:solidFill>
                      <a:srgbClr val="F8EFEF"/>
                    </a:solidFill>
                  </a:tcPr>
                </a:tc>
              </a:tr>
            </a:tbl>
          </a:graphicData>
        </a:graphic>
      </p:graphicFrame>
      <p:sp>
        <p:nvSpPr>
          <p:cNvPr id="50" name="unique-filter">
            <a:extLst xmlns:a="http://schemas.openxmlformats.org/drawingml/2006/main">
              <a:ext uri="{FF2B5EF4-FFF2-40B4-BE49-F238E27FC236}">
                <a16:creationId xmlns:a16="http://schemas.microsoft.com/office/drawing/2014/main" id="{1D9FB81A-EEAB-49EE-81A4-81438650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0075"/>
            <a:ext cx="32385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unique-filter-head">
            <a:extLst xmlns:a="http://schemas.openxmlformats.org/drawingml/2006/main">
              <a:ext uri="{FF2B5EF4-FFF2-40B4-BE49-F238E27FC236}">
                <a16:creationId xmlns:a16="http://schemas.microsoft.com/office/drawing/2014/main" id="{AD106DFE-D794-4661-9CF2-36879469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958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唯一可用的条件</a:t>
            </a:r>
          </a:p>
        </p:txBody>
      </p:sp>
      <p:sp>
        <p:nvSpPr>
          <p:cNvPr id="52" name="unique-filter-body">
            <a:extLst xmlns:a="http://schemas.openxmlformats.org/drawingml/2006/main">
              <a:ext uri="{FF2B5EF4-FFF2-40B4-BE49-F238E27FC236}">
                <a16:creationId xmlns:a16="http://schemas.microsoft.com/office/drawing/2014/main" id="{3006D788-649F-4D25-B7D8-3D672B05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577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ss_is_current = '1'</a:t>
            </a:r>
          </a:p>
        </p:txBody>
      </p:sp>
      <p:sp>
        <p:nvSpPr>
          <p:cNvPr id="53" name="regression">
            <a:extLst xmlns:a="http://schemas.openxmlformats.org/drawingml/2006/main">
              <a:ext uri="{FF2B5EF4-FFF2-40B4-BE49-F238E27FC236}">
                <a16:creationId xmlns:a16="http://schemas.microsoft.com/office/drawing/2014/main" id="{BBF7F528-145E-4AAE-8856-44D5133B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10075"/>
            <a:ext cx="43148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regression-head">
            <a:extLst xmlns:a="http://schemas.openxmlformats.org/drawingml/2006/main">
              <a:ext uri="{FF2B5EF4-FFF2-40B4-BE49-F238E27FC236}">
                <a16:creationId xmlns:a16="http://schemas.microsoft.com/office/drawing/2014/main" id="{76488379-91A9-450F-9CD5-16D33BF7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95800"/>
            <a:ext cx="4124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用学习时的数据重算</a:t>
            </a:r>
          </a:p>
        </p:txBody>
      </p:sp>
      <p:sp>
        <p:nvSpPr>
          <p:cNvPr id="55" name="regression-body">
            <a:extLst xmlns:a="http://schemas.openxmlformats.org/drawingml/2006/main">
              <a:ext uri="{FF2B5EF4-FFF2-40B4-BE49-F238E27FC236}">
                <a16:creationId xmlns:a16="http://schemas.microsoft.com/office/drawing/2014/main" id="{08E87236-A983-4684-845A-F73CA7B9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57750"/>
            <a:ext cx="4086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13,570,368.70 ＝ 13,570,368.70</a:t>
            </a:r>
          </a:p>
        </p:txBody>
      </p:sp>
      <p:sp>
        <p:nvSpPr>
          <p:cNvPr id="56" name="publish-v3">
            <a:extLst xmlns:a="http://schemas.openxmlformats.org/drawingml/2006/main">
              <a:ext uri="{FF2B5EF4-FFF2-40B4-BE49-F238E27FC236}">
                <a16:creationId xmlns:a16="http://schemas.microsoft.com/office/drawing/2014/main" id="{28F4C186-DB12-41AD-ACE3-BC188011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410075"/>
            <a:ext cx="20764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publish-v3-head">
            <a:extLst xmlns:a="http://schemas.openxmlformats.org/drawingml/2006/main">
              <a:ext uri="{FF2B5EF4-FFF2-40B4-BE49-F238E27FC236}">
                <a16:creationId xmlns:a16="http://schemas.microsoft.com/office/drawing/2014/main" id="{0F5657B1-D890-4C11-A771-9B56DDD8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495800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发布 v3</a:t>
            </a:r>
          </a:p>
        </p:txBody>
      </p:sp>
      <p:cxnSp>
        <p:nvCxnSpPr>
          <p:cNvPr id="58" name="直接箭头连接符 57">
            <a:extLst xmlns:a="http://schemas.openxmlformats.org/drawingml/2006/main">
              <a:ext uri="{FF2B5EF4-FFF2-40B4-BE49-F238E27FC236}">
                <a16:creationId xmlns:a16="http://schemas.microsoft.com/office/drawing/2014/main" id="{42269525-8BDF-41CA-8E54-0FF3AFACF781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3952875" y="4852988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59" name="直接箭头连接符 58">
            <a:extLst xmlns:a="http://schemas.openxmlformats.org/drawingml/2006/main">
              <a:ext uri="{FF2B5EF4-FFF2-40B4-BE49-F238E27FC236}">
                <a16:creationId xmlns:a16="http://schemas.microsoft.com/office/drawing/2014/main" id="{3AF336A6-2959-4939-814C-62E8FE6E138F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829675" y="48529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60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13CD7855-09F0-4EE5-ADEB-FB86CC15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0"/>
            <a:ext cx="1076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takeaway">
            <a:extLst xmlns:a="http://schemas.openxmlformats.org/drawingml/2006/main">
              <a:ext uri="{FF2B5EF4-FFF2-40B4-BE49-F238E27FC236}">
                <a16:creationId xmlns:a16="http://schemas.microsoft.com/office/drawing/2014/main" id="{F8E2EA68-5475-43B1-BDCA-B7373F15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81650"/>
            <a:ext cx="1045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这条规则检查和修复共用时 31.6 秒，之后大家共用新版本</a:t>
            </a:r>
          </a:p>
        </p:txBody>
      </p:sp>
      <p:sp>
        <p:nvSpPr>
          <p:cNvPr id="6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2D3F592-1A4B-4AD5-80D0-87F3499C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912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真实运行记录：先确认只有一个方案通过检查，再用学习时的数据重算。</a:t>
            </a:r>
          </a:p>
        </p:txBody>
      </p:sp>
      <p:sp>
        <p:nvSpPr>
          <p:cNvPr id="63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9E2E2B7B-CAB5-4EF6-8257-FE48CFF3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F8ACBDF1-D749-4A4E-A226-44395A7779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89b46c7064d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真实运行：修复后 9 月营业额是 1293.3 万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DC9C7607-4BA3-B4DC-A00F-2E67A9FCFF7E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ame-question">
            <a:extLst xmlns:a="http://schemas.openxmlformats.org/drawingml/2006/main">
              <a:ext uri="{FF2B5EF4-FFF2-40B4-BE49-F238E27FC236}">
                <a16:creationId xmlns:a16="http://schemas.microsoft.com/office/drawing/2014/main" id="{F63BC88C-CA6E-40BF-BC1D-AD805603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同一个问题：数据更正后，9 月门店营业额是多少？</a:t>
            </a:r>
          </a:p>
        </p:txBody>
      </p:sp>
      <p:graphicFrame>
        <p:nvGraphicFramePr>
          <p:cNvPr id="50" name="answer-comparison">
            <a:extLst xmlns:a="http://schemas.openxmlformats.org/drawingml/2006/main">
              <a:ext uri="{FF2B5EF4-FFF2-40B4-BE49-F238E27FC236}">
                <a16:creationId xmlns:a16="http://schemas.microsoft.com/office/drawing/2014/main" id="{50FD1DC0-0883-446C-9C98-FD4AB55932FF}"/>
              </a:ext>
            </a:extLst>
          </p:cNvPr>
          <p:cNvGraphicFramePr/>
          <p:nvPr/>
        </p:nvGraphicFramePr>
        <p:xfrm>
          <a:off xmlns:a="http://schemas.openxmlformats.org/drawingml/2006/main" x="714375" y="2476500"/>
          <a:ext xmlns:a="http://schemas.openxmlformats.org/drawingml/2006/main" cx="1076325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00775"/>
                <a:gridCol w="2686050"/>
                <a:gridCol w="1876425"/>
              </a:tblGrid>
              <a:tr h="692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使用的计算规则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答案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是否正确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</a:tr>
              <a:tr h="692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MAVRA v3：加 ss_is_current='1'</a:t>
                      </a:r>
                    </a:p>
                  </a:txBody>
                  <a:tcPr marL="91440" marR="91440" marT="45720" marB="45720"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1293.3 万</a:t>
                      </a:r>
                    </a:p>
                  </a:txBody>
                  <a:tcPr marL="91440" marR="91440" marT="45720" marB="45720"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正确</a:t>
                      </a:r>
                    </a:p>
                  </a:txBody>
                  <a:tcPr marL="91440" marR="91440" marT="45720" marB="45720" anchor="ctr">
                    <a:solidFill>
                      <a:srgbClr val="F8EFEF"/>
                    </a:solidFill>
                  </a:tcPr>
                </a:tc>
              </a:tr>
              <a:tr h="692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数据变了仍用旧 SQL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1430.1 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actual-answer">
            <a:extLst xmlns:a="http://schemas.openxmlformats.org/drawingml/2006/main">
              <a:ext uri="{FF2B5EF4-FFF2-40B4-BE49-F238E27FC236}">
                <a16:creationId xmlns:a16="http://schemas.microsoft.com/office/drawing/2014/main" id="{D0FD3EC8-474E-4BF6-B086-13666AC4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v3 查询结果：12,932,888.04 元</a:t>
            </a:r>
          </a:p>
        </p:txBody>
      </p:sp>
      <p:sp>
        <p:nvSpPr>
          <p:cNvPr id="52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DD9277B7-C81E-4FBD-85D4-E8A948AE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0"/>
            <a:ext cx="1076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takeaway">
            <a:extLst xmlns:a="http://schemas.openxmlformats.org/drawingml/2006/main">
              <a:ext uri="{FF2B5EF4-FFF2-40B4-BE49-F238E27FC236}">
                <a16:creationId xmlns:a16="http://schemas.microsoft.com/office/drawing/2014/main" id="{1DCE17DB-2127-4669-BA9D-A8ED7348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81650"/>
            <a:ext cx="1045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之后再调用 find_metric，只需 3 ms 就能取得 v3</a:t>
            </a:r>
          </a:p>
        </p:txBody>
      </p:sp>
      <p:sp>
        <p:nvSpPr>
          <p:cNvPr id="5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7F917F9-DBB9-46B9-A47E-E3950602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912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真实运行与对照结果。本次 Agent 共调用工具 9 次，全程用时 81 秒（包含检查和修复）。</a:t>
            </a:r>
          </a:p>
        </p:txBody>
      </p:sp>
      <p:sp>
        <p:nvSpPr>
          <p:cNvPr id="55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8B20EF02-2557-444C-8206-80437756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024402ED-B5F9-4BE4-802E-F6BD730BC2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1a868bf0247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检查与执行必须看到同一份数据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90F7333B-44AC-F7E9-D49D-FE92F45E0477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17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eparate-label">
            <a:extLst xmlns:a="http://schemas.openxmlformats.org/drawingml/2006/main">
              <a:ext uri="{FF2B5EF4-FFF2-40B4-BE49-F238E27FC236}">
                <a16:creationId xmlns:a16="http://schemas.microsoft.com/office/drawing/2014/main" id="{4AAD086B-FBAE-4623-805A-ADFA8209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先检查后执行</a:t>
            </a:r>
          </a:p>
        </p:txBody>
      </p:sp>
      <p:sp>
        <p:nvSpPr>
          <p:cNvPr id="50" name="check-old">
            <a:extLst xmlns:a="http://schemas.openxmlformats.org/drawingml/2006/main">
              <a:ext uri="{FF2B5EF4-FFF2-40B4-BE49-F238E27FC236}">
                <a16:creationId xmlns:a16="http://schemas.microsoft.com/office/drawing/2014/main" id="{272B824B-A62D-41D4-8A1C-8A6BD589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76475"/>
            <a:ext cx="27146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check-old-head">
            <a:extLst xmlns:a="http://schemas.openxmlformats.org/drawingml/2006/main">
              <a:ext uri="{FF2B5EF4-FFF2-40B4-BE49-F238E27FC236}">
                <a16:creationId xmlns:a16="http://schemas.microsoft.com/office/drawing/2014/main" id="{EBF5722A-5B6F-4B90-92EA-0D49F69A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使用条件检查通过</a:t>
            </a:r>
          </a:p>
        </p:txBody>
      </p:sp>
      <p:sp>
        <p:nvSpPr>
          <p:cNvPr id="52" name="check-old-body">
            <a:extLst xmlns:a="http://schemas.openxmlformats.org/drawingml/2006/main">
              <a:ext uri="{FF2B5EF4-FFF2-40B4-BE49-F238E27FC236}">
                <a16:creationId xmlns:a16="http://schemas.microsoft.com/office/drawing/2014/main" id="{504D6C54-C7AE-411B-877F-C198B947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24150"/>
            <a:ext cx="2486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看到更新前的数据</a:t>
            </a:r>
          </a:p>
        </p:txBody>
      </p:sp>
      <p:sp>
        <p:nvSpPr>
          <p:cNvPr id="53" name="concurrent-write">
            <a:extLst xmlns:a="http://schemas.openxmlformats.org/drawingml/2006/main">
              <a:ext uri="{FF2B5EF4-FFF2-40B4-BE49-F238E27FC236}">
                <a16:creationId xmlns:a16="http://schemas.microsoft.com/office/drawing/2014/main" id="{B6EB56E8-4C26-494B-9D4B-9C14B32D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76475"/>
            <a:ext cx="30384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concurrent-write-head">
            <a:extLst xmlns:a="http://schemas.openxmlformats.org/drawingml/2006/main">
              <a:ext uri="{FF2B5EF4-FFF2-40B4-BE49-F238E27FC236}">
                <a16:creationId xmlns:a16="http://schemas.microsoft.com/office/drawing/2014/main" id="{BC958AA8-D241-44DE-8FEC-C98F5F10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2847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检查后，数据更新了</a:t>
            </a:r>
          </a:p>
        </p:txBody>
      </p:sp>
      <p:sp>
        <p:nvSpPr>
          <p:cNvPr id="55" name="concurrent-write-body">
            <a:extLst xmlns:a="http://schemas.openxmlformats.org/drawingml/2006/main">
              <a:ext uri="{FF2B5EF4-FFF2-40B4-BE49-F238E27FC236}">
                <a16:creationId xmlns:a16="http://schemas.microsoft.com/office/drawing/2014/main" id="{BDB12517-7DAD-443B-BC7A-B47EFDB9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280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重复记录进入数据库</a:t>
            </a:r>
          </a:p>
        </p:txBody>
      </p:sp>
      <p:sp>
        <p:nvSpPr>
          <p:cNvPr id="56" name="query-new">
            <a:extLst xmlns:a="http://schemas.openxmlformats.org/drawingml/2006/main">
              <a:ext uri="{FF2B5EF4-FFF2-40B4-BE49-F238E27FC236}">
                <a16:creationId xmlns:a16="http://schemas.microsoft.com/office/drawing/2014/main" id="{8444E7EE-EF68-4AE9-9A7A-73E67492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76475"/>
            <a:ext cx="29527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query-new-head">
            <a:extLst xmlns:a="http://schemas.openxmlformats.org/drawingml/2006/main">
              <a:ext uri="{FF2B5EF4-FFF2-40B4-BE49-F238E27FC236}">
                <a16:creationId xmlns:a16="http://schemas.microsoft.com/office/drawing/2014/main" id="{AF692DD5-68C1-4946-9E90-8F16CE60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622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查询读到更新后数据</a:t>
            </a:r>
          </a:p>
        </p:txBody>
      </p:sp>
      <p:sp>
        <p:nvSpPr>
          <p:cNvPr id="58" name="query-new-body">
            <a:extLst xmlns:a="http://schemas.openxmlformats.org/drawingml/2006/main">
              <a:ext uri="{FF2B5EF4-FFF2-40B4-BE49-F238E27FC236}">
                <a16:creationId xmlns:a16="http://schemas.microsoft.com/office/drawing/2014/main" id="{1E3AB981-A735-4DD2-BC65-A48C9B24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241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已不满足刚才的条件</a:t>
            </a:r>
          </a:p>
        </p:txBody>
      </p:sp>
      <p:cxnSp>
        <p:nvCxnSpPr>
          <p:cNvPr id="59" name="直接箭头连接符 58">
            <a:extLst xmlns:a="http://schemas.openxmlformats.org/drawingml/2006/main">
              <a:ext uri="{FF2B5EF4-FFF2-40B4-BE49-F238E27FC236}">
                <a16:creationId xmlns:a16="http://schemas.microsoft.com/office/drawing/2014/main" id="{8ADDE162-81DC-44A1-A8B9-9896344045F4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3429000" y="2700338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0" name="直接箭头连接符 59">
            <a:extLst xmlns:a="http://schemas.openxmlformats.org/drawingml/2006/main">
              <a:ext uri="{FF2B5EF4-FFF2-40B4-BE49-F238E27FC236}">
                <a16:creationId xmlns:a16="http://schemas.microsoft.com/office/drawing/2014/main" id="{3C1F8D95-DB3F-4089-B488-37A3F0116185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7496175" y="2700338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61" name="unsafe-number">
            <a:extLst xmlns:a="http://schemas.openxmlformats.org/drawingml/2006/main">
              <a:ext uri="{FF2B5EF4-FFF2-40B4-BE49-F238E27FC236}">
                <a16:creationId xmlns:a16="http://schemas.microsoft.com/office/drawing/2014/main" id="{31238750-4A01-44FF-808B-601B1E2F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最多 4.6% 的已作答查询，使用了不满足条件的数据</a:t>
            </a:r>
          </a:p>
        </p:txBody>
      </p:sp>
      <p:sp>
        <p:nvSpPr>
          <p:cNvPr id="62" name="snapshot-area">
            <a:extLst xmlns:a="http://schemas.openxmlformats.org/drawingml/2006/main">
              <a:ext uri="{FF2B5EF4-FFF2-40B4-BE49-F238E27FC236}">
                <a16:creationId xmlns:a16="http://schemas.microsoft.com/office/drawing/2014/main" id="{E80B63AA-2889-491F-A616-C34771D9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10763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snapshot-label">
            <a:extLst xmlns:a="http://schemas.openxmlformats.org/drawingml/2006/main">
              <a:ext uri="{FF2B5EF4-FFF2-40B4-BE49-F238E27FC236}">
                <a16:creationId xmlns:a16="http://schemas.microsoft.com/office/drawing/2014/main" id="{0D1430E5-2B74-413E-8804-3AA3B0AA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48125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固定同一份数据（同一快照）</a:t>
            </a:r>
          </a:p>
        </p:txBody>
      </p:sp>
      <p:sp>
        <p:nvSpPr>
          <p:cNvPr id="64" name="read-snapshot">
            <a:extLst xmlns:a="http://schemas.openxmlformats.org/drawingml/2006/main">
              <a:ext uri="{FF2B5EF4-FFF2-40B4-BE49-F238E27FC236}">
                <a16:creationId xmlns:a16="http://schemas.microsoft.com/office/drawing/2014/main" id="{82045389-D2EA-4D69-9D56-F73FF377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read-snapshot-head">
            <a:extLst xmlns:a="http://schemas.openxmlformats.org/drawingml/2006/main">
              <a:ext uri="{FF2B5EF4-FFF2-40B4-BE49-F238E27FC236}">
                <a16:creationId xmlns:a16="http://schemas.microsoft.com/office/drawing/2014/main" id="{247693D8-C294-4AC5-89DB-7BF069ED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81525"/>
            <a:ext cx="2533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读取表版本</a:t>
            </a:r>
          </a:p>
        </p:txBody>
      </p:sp>
      <p:sp>
        <p:nvSpPr>
          <p:cNvPr id="66" name="check-snapshot">
            <a:extLst xmlns:a="http://schemas.openxmlformats.org/drawingml/2006/main">
              <a:ext uri="{FF2B5EF4-FFF2-40B4-BE49-F238E27FC236}">
                <a16:creationId xmlns:a16="http://schemas.microsoft.com/office/drawing/2014/main" id="{5CC1E992-4D0C-47F7-8D89-AA9085FE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49580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check-snapshot-head">
            <a:extLst xmlns:a="http://schemas.openxmlformats.org/drawingml/2006/main">
              <a:ext uri="{FF2B5EF4-FFF2-40B4-BE49-F238E27FC236}">
                <a16:creationId xmlns:a16="http://schemas.microsoft.com/office/drawing/2014/main" id="{1ADB2993-C31D-41BA-B6DD-97E5188F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581525"/>
            <a:ext cx="2533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检查使用条件</a:t>
            </a:r>
          </a:p>
        </p:txBody>
      </p:sp>
      <p:sp>
        <p:nvSpPr>
          <p:cNvPr id="68" name="execute-snapshot">
            <a:extLst xmlns:a="http://schemas.openxmlformats.org/drawingml/2006/main">
              <a:ext uri="{FF2B5EF4-FFF2-40B4-BE49-F238E27FC236}">
                <a16:creationId xmlns:a16="http://schemas.microsoft.com/office/drawing/2014/main" id="{8624859A-CA4B-4119-A127-5E5EA68B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495800"/>
            <a:ext cx="2724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238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execute-snapshot-head">
            <a:extLst xmlns:a="http://schemas.openxmlformats.org/drawingml/2006/main">
              <a:ext uri="{FF2B5EF4-FFF2-40B4-BE49-F238E27FC236}">
                <a16:creationId xmlns:a16="http://schemas.microsoft.com/office/drawing/2014/main" id="{197961F6-78C4-4CF6-9023-368AD734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581525"/>
            <a:ext cx="2533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执行查询</a:t>
            </a:r>
          </a:p>
        </p:txBody>
      </p:sp>
      <p:cxnSp>
        <p:nvCxnSpPr>
          <p:cNvPr id="70" name="直接箭头连接符 69">
            <a:extLst xmlns:a="http://schemas.openxmlformats.org/drawingml/2006/main">
              <a:ext uri="{FF2B5EF4-FFF2-40B4-BE49-F238E27FC236}">
                <a16:creationId xmlns:a16="http://schemas.microsoft.com/office/drawing/2014/main" id="{03ED2BB2-DAE1-4524-B0CD-A5389CC24F32}"/>
              </a:ext>
            </a:extLst>
          </p:cNvPr>
          <p:cNvCxnSpPr>
            <a:stCxn xmlns:a="http://schemas.openxmlformats.org/drawingml/2006/main" id="64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3657600" y="4819650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71" name="直接箭头连接符 70">
            <a:extLst xmlns:a="http://schemas.openxmlformats.org/drawingml/2006/main">
              <a:ext uri="{FF2B5EF4-FFF2-40B4-BE49-F238E27FC236}">
                <a16:creationId xmlns:a16="http://schemas.microsoft.com/office/drawing/2014/main" id="{27D7AA74-105A-4EE4-BA2C-5108AD2B80BD}"/>
              </a:ext>
            </a:extLst>
          </p:cNvPr>
          <p:cNvCxnSpPr>
            <a:stCxn xmlns:a="http://schemas.openxmlformats.org/drawingml/2006/main" id="66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458075" y="48196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72" name="safe-number">
            <a:extLst xmlns:a="http://schemas.openxmlformats.org/drawingml/2006/main">
              <a:ext uri="{FF2B5EF4-FFF2-40B4-BE49-F238E27FC236}">
                <a16:creationId xmlns:a16="http://schemas.microsoft.com/office/drawing/2014/main" id="{7677B9C9-4E8F-4037-BB87-39F65473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11,297 次已作答查询中，0 次使用不满足条件的数据</a:t>
            </a:r>
          </a:p>
        </p:txBody>
      </p:sp>
      <p:sp>
        <p:nvSpPr>
          <p:cNvPr id="73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354820A-D30A-4DB5-86B1-5A4518DC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912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论文 §7.3 表 3，查询和更新同时发生。0/11,297 为四组实验合计；4.6% 来自更新未提前通知的实验。</a:t>
            </a:r>
          </a:p>
        </p:txBody>
      </p:sp>
      <p:sp>
        <p:nvSpPr>
          <p:cNvPr id="74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8A739562-3DB0-4C0A-A36A-774A1705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599E520B-42D5-45F8-9719-312A6E9C99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fc10429c744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实验：共享计算规则，减少重复查找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B1C6C81E-38B9-7560-621D-5A151A79DF9B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18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49" name="sharing-results">
            <a:extLst xmlns:a="http://schemas.openxmlformats.org/drawingml/2006/main">
              <a:ext uri="{FF2B5EF4-FFF2-40B4-BE49-F238E27FC236}">
                <a16:creationId xmlns:a16="http://schemas.microsoft.com/office/drawing/2014/main" id="{7C0908F4-2202-43DD-8F8A-3BAD186A6629}"/>
              </a:ext>
            </a:extLst>
          </p:cNvPr>
          <p:cNvGraphicFramePr/>
          <p:nvPr/>
        </p:nvGraphicFramePr>
        <p:xfrm>
          <a:off xmlns:a="http://schemas.openxmlformats.org/drawingml/2006/main" x="714375" y="2162175"/>
          <a:ext xmlns:a="http://schemas.openxmlformats.org/drawingml/2006/main" cx="7239000" cy="2733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1857375"/>
                <a:gridCol w="1857375"/>
              </a:tblGrid>
              <a:tr h="911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没有学过的新问题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不共享规则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MAVRA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</a:tr>
              <a:tr h="911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回答准确率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49%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  <a:tr h="911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单题平均耗时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75.6 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 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speedup">
            <a:extLst xmlns:a="http://schemas.openxmlformats.org/drawingml/2006/main">
              <a:ext uri="{FF2B5EF4-FFF2-40B4-BE49-F238E27FC236}">
                <a16:creationId xmlns:a16="http://schemas.microsoft.com/office/drawing/2014/main" id="{FDFACE29-75CA-407D-9529-C5BCB1A3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33625"/>
            <a:ext cx="323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5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5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5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8.9 倍</a:t>
            </a:r>
          </a:p>
        </p:txBody>
      </p:sp>
      <p:sp>
        <p:nvSpPr>
          <p:cNvPr id="51" name="speedup-label">
            <a:extLst xmlns:a="http://schemas.openxmlformats.org/drawingml/2006/main">
              <a:ext uri="{FF2B5EF4-FFF2-40B4-BE49-F238E27FC236}">
                <a16:creationId xmlns:a16="http://schemas.microsoft.com/office/drawing/2014/main" id="{FE003B5E-695D-48B6-8EDD-766DE4F6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29025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完成查询更快</a:t>
            </a:r>
          </a:p>
        </p:txBody>
      </p:sp>
      <p:sp>
        <p:nvSpPr>
          <p:cNvPr id="52" name="control">
            <a:extLst xmlns:a="http://schemas.openxmlformats.org/drawingml/2006/main">
              <a:ext uri="{FF2B5EF4-FFF2-40B4-BE49-F238E27FC236}">
                <a16:creationId xmlns:a16="http://schemas.microsoft.com/office/drawing/2014/main" id="{D0D32BD7-D1D4-462A-892C-CF8D5BCA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863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数据没变时，查找以前的成功示例也能达到 100% 准确率</a:t>
            </a:r>
          </a:p>
        </p:txBody>
      </p:sp>
      <p:sp>
        <p:nvSpPr>
          <p:cNvPr id="53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5CE72BE8-E99D-4927-BC64-D7F0DAE5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论文 §7.6–7.7。数据未变，使用 DeepSeek V4.1 Flash，耗时包含整个任务。</a:t>
            </a:r>
          </a:p>
        </p:txBody>
      </p:sp>
      <p:sp>
        <p:nvSpPr>
          <p:cNvPr id="54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E05E61A1-EF74-4C6F-9F70-A6F6B844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9438AC0A-2AA7-4AC9-849E-A0082C1D69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670b17d8543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实验：数据更新后，检查和修复能提高准确率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CCF91274-D221-1BB4-3BF9-836E3AD31EBE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19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49" name="breaking-results">
            <a:extLst xmlns:a="http://schemas.openxmlformats.org/drawingml/2006/main">
              <a:ext uri="{FF2B5EF4-FFF2-40B4-BE49-F238E27FC236}">
                <a16:creationId xmlns:a16="http://schemas.microsoft.com/office/drawing/2014/main" id="{2023E9CC-06DD-4C9D-B36F-F29B9E1E4C6F}"/>
              </a:ext>
            </a:extLst>
          </p:cNvPr>
          <p:cNvGraphicFramePr/>
          <p:nvPr/>
        </p:nvGraphicFramePr>
        <p:xfrm>
          <a:off xmlns:a="http://schemas.openxmlformats.org/drawingml/2006/main" x="714375" y="2009775"/>
          <a:ext xmlns:a="http://schemas.openxmlformats.org/drawingml/2006/main" cx="6762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33950"/>
                <a:gridCol w="1828800"/>
              </a:tblGrid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回答准确率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不共享规则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19%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查找历史示例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查找示例＋Agent 自己检查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63%</a:t>
                      </a:r>
                    </a:p>
                  </a:txBody>
                  <a:tcPr marL="91440" marR="91440" marT="45720" marB="45720" anchor="ctr">
                    <a:solidFill>
                      <a:srgbClr val="F6EEE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MAVRA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benefit">
            <a:extLst xmlns:a="http://schemas.openxmlformats.org/drawingml/2006/main">
              <a:ext uri="{FF2B5EF4-FFF2-40B4-BE49-F238E27FC236}">
                <a16:creationId xmlns:a16="http://schemas.microsoft.com/office/drawing/2014/main" id="{BB202A5D-415A-448E-A7EA-D07DC9F5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907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6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＋16</a:t>
            </a:r>
          </a:p>
        </p:txBody>
      </p:sp>
      <p:sp>
        <p:nvSpPr>
          <p:cNvPr id="51" name="benefit-unit">
            <a:extLst xmlns:a="http://schemas.openxmlformats.org/drawingml/2006/main">
              <a:ext uri="{FF2B5EF4-FFF2-40B4-BE49-F238E27FC236}">
                <a16:creationId xmlns:a16="http://schemas.microsoft.com/office/drawing/2014/main" id="{2D1142FF-4777-48E1-BCA9-3F7CF747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76625"/>
            <a:ext cx="338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个百分点</a:t>
            </a:r>
          </a:p>
        </p:txBody>
      </p:sp>
      <p:sp>
        <p:nvSpPr>
          <p:cNvPr id="52" name="benefit-caption">
            <a:extLst xmlns:a="http://schemas.openxmlformats.org/drawingml/2006/main">
              <a:ext uri="{FF2B5EF4-FFF2-40B4-BE49-F238E27FC236}">
                <a16:creationId xmlns:a16="http://schemas.microsoft.com/office/drawing/2014/main" id="{3E5ABB3D-4FF8-43A3-8FEF-B8848FEF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238625"/>
            <a:ext cx="3905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相比查找历史示例</a:t>
            </a:r>
          </a:p>
        </p:txBody>
      </p:sp>
      <p:sp>
        <p:nvSpPr>
          <p:cNvPr id="53" name="result-scope">
            <a:extLst xmlns:a="http://schemas.openxmlformats.org/drawingml/2006/main">
              <a:ext uri="{FF2B5EF4-FFF2-40B4-BE49-F238E27FC236}">
                <a16:creationId xmlns:a16="http://schemas.microsoft.com/office/drawing/2014/main" id="{2F6503C9-31DA-4224-91A1-BC1ABA8C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061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73% 是最终回答准确率，也包括修复失败后 Agent 自己查找答案</a:t>
            </a:r>
          </a:p>
        </p:txBody>
      </p:sp>
      <p:sp>
        <p:nvSpPr>
          <p:cNvPr id="54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82C0F399-2EC1-4DDB-B640-787A11BF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论文 §7.6。测试五类会破坏原有使用条件的数据更新，每种方法独立运行三次。</a:t>
            </a:r>
          </a:p>
        </p:txBody>
      </p:sp>
      <p:sp>
        <p:nvSpPr>
          <p:cNvPr id="55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565E48BE-09DA-4DAD-B30E-48382E32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 xmlns:a="http://schemas.openxmlformats.org/drawingml/2006/main">
              <a:ext uri="{FF2B5EF4-FFF2-40B4-BE49-F238E27FC236}">
                <a16:creationId xmlns:a16="http://schemas.microsoft.com/office/drawing/2014/main" id="{E0D0C4B7-7337-43CA-96C8-7D71C929A9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340c2f1bc45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2145" y="6094850"/>
            <a:ext cx="2011854" cy="394294"/>
          </a:xfrm>
          <a:prstGeom xmlns:a="http://schemas.openxmlformats.org/drawingml/2006/main" prst="rect">
            <a:avLst/>
          </a:prstGeom>
        </p:spPr>
      </p:pic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7097"/>
            <a:ext cx="320494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B2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6" y="907097"/>
            <a:ext cx="101600" cy="449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5A5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108585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局限：有些业务变化，系统无法自动判断</a:t>
            </a:r>
          </a:p>
        </p:txBody>
      </p:sp>
      <p:sp>
        <p:nvSpPr>
          <p:cNvPr id="6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657975"/>
            <a:ext cx="800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844E025A-983C-6D44-79C6-4612AACD43FC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34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2438400" cy="57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6200"/>
            <a:ext cx="2438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000" y="151742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82" y="130869"/>
            <a:ext cx="0" cy="27000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E0B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49" name="limits">
            <a:extLst xmlns:a="http://schemas.openxmlformats.org/drawingml/2006/main">
              <a:ext uri="{FF2B5EF4-FFF2-40B4-BE49-F238E27FC236}">
                <a16:creationId xmlns:a16="http://schemas.microsoft.com/office/drawing/2014/main" id="{1E5B6486-6779-40BA-AC0D-C0B6C4EA0756}"/>
              </a:ext>
            </a:extLst>
          </p:cNvPr>
          <p:cNvGraphicFramePr/>
          <p:nvPr/>
        </p:nvGraphicFramePr>
        <p:xfrm>
          <a:off xmlns:a="http://schemas.openxmlformats.org/drawingml/2006/main" x="714375" y="2076450"/>
          <a:ext xmlns:a="http://schemas.openxmlformats.org/drawingml/2006/main" cx="1076325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00400"/>
                <a:gridCol w="3848100"/>
                <a:gridCol w="3714750"/>
              </a:tblGrid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系统能检查什么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系统如何处理</a:t>
                      </a:r>
                    </a:p>
                  </a:txBody>
                  <a:tcPr marL="91440" marR="91440" marT="45720" marB="45720" anchor="ctr">
                    <a:solidFill>
                      <a:srgbClr val="A2383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金额单位变了</a:t>
                      </a:r>
                    </a:p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600 元改写成 60000 分</a:t>
                      </a:r>
                    </a:p>
                  </a:txBody>
                  <a:tcPr marL="91440" marR="91440" marT="45720" marB="45720"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行数、编号和关联都没变</a:t>
                      </a:r>
                    </a:p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无法判断金额单位</a:t>
                      </a:r>
                    </a:p>
                  </a:txBody>
                  <a:tcPr marL="91440" marR="91440" marT="45720" marB="45720"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需要新的业务说明</a:t>
                      </a:r>
                    </a:p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这些检查发现不了</a:t>
                      </a:r>
                    </a:p>
                  </a:txBody>
                  <a:tcPr marL="91440" marR="91440" marT="45720" marB="45720" anchor="ctr">
                    <a:solidFill>
                      <a:srgbClr val="F8EFE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两份完整的数据</a:t>
                      </a:r>
                    </a:p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每份都是一笔一行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能发现重复</a:t>
                      </a:r>
                    </a:p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但两种筛选方法都能通过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不自动选择其中一份</a:t>
                      </a:r>
                    </a:p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暂停使用这条规则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8C6468D4-3E7A-40FC-96F5-83F36ED2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00675"/>
            <a:ext cx="1076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takeaway">
            <a:extLst xmlns:a="http://schemas.openxmlformats.org/drawingml/2006/main">
              <a:ext uri="{FF2B5EF4-FFF2-40B4-BE49-F238E27FC236}">
                <a16:creationId xmlns:a16="http://schemas.microsoft.com/office/drawing/2014/main" id="{AA603F0D-24D2-47EE-A2D5-B5155152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57825"/>
            <a:ext cx="1045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检查不通过，又无法确定唯一修复方法时，暂停使用并等待重新学习</a:t>
            </a:r>
          </a:p>
        </p:txBody>
      </p:sp>
      <p:sp>
        <p:nvSpPr>
          <p:cNvPr id="5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D068EF5-BAF1-49AC-9FD1-E5A28EE0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912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还需要正确的业务说明、明确的规则版本，以及在同一份数据上检查和查询。</a:t>
            </a:r>
          </a:p>
        </p:txBody>
      </p:sp>
      <p:sp>
        <p:nvSpPr>
          <p:cNvPr id="53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0113DFF3-CBB2-4592-8A3E-1DAEF1EF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BD726D3C-5189-4B44-8A4E-CE3F74F516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cb92cf848a48eb"/>
          <a:srcRect xmlns:a="http://schemas.openxmlformats.org/drawingml/2006/main" l="8161" t="20535" r="8157" b="341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0" y="1485265"/>
            <a:ext cx="12192000" cy="3602355"/>
          </a:xfrm>
          <a:prstGeom xmlns:a="http://schemas.openxmlformats.org/drawingml/2006/main" prst="rect">
            <a:avLst/>
          </a:prstGeom>
        </p:spPr>
      </p:pic>
      <p:sp>
        <p:nvSpPr>
          <p:cNvPr id="12" name="淘宝-想搞设计PPT(倒卖必究)-24">
            <a:extLst xmlns:a="http://schemas.openxmlformats.org/drawingml/2006/main">
              <a:ext uri="{FF2B5EF4-FFF2-40B4-BE49-F238E27FC236}">
                <a16:creationId xmlns:a16="http://schemas.microsoft.com/office/drawing/2014/main" id="{D17B7066-2A4F-406B-B6C6-9CEECF9A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5265"/>
            <a:ext cx="12192000" cy="3602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>
              <a:alpha val="7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A98F4D-6DBD-4D93-8E43-06A1915D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8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淘宝-想搞设计PPT(倒卖必究)-4">
            <a:extLst xmlns:a="http://schemas.openxmlformats.org/drawingml/2006/main">
              <a:ext uri="{FF2B5EF4-FFF2-40B4-BE49-F238E27FC236}">
                <a16:creationId xmlns:a16="http://schemas.microsoft.com/office/drawing/2014/main" id="{2E5F918B-39AD-4052-B5F6-9DB18AB9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463" y="752088"/>
            <a:ext cx="1193304" cy="1193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5" name="Picture 44">
            <a:extLst xmlns:a="http://schemas.openxmlformats.org/drawingml/2006/main">
              <a:ext uri="{FF2B5EF4-FFF2-40B4-BE49-F238E27FC236}">
                <a16:creationId xmlns:a16="http://schemas.microsoft.com/office/drawing/2014/main" id="{4B8A53FD-B1E1-4064-A4C3-D147A387AC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a1c036b5a4f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9496" y="771121"/>
            <a:ext cx="1155238" cy="1155238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835FAD2-ACC7-46CE-AB52-CFDF394D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10287000" cy="4892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退货例子说明过程，营业额记录展示真实运行</a:t>
            </a:r>
            <a:endParaRPr sz="20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淘宝-想搞设计PPT(倒卖必究)-7">
            <a:extLst xmlns:a="http://schemas.openxmlformats.org/drawingml/2006/main">
              <a:ext uri="{FF2B5EF4-FFF2-40B4-BE49-F238E27FC236}">
                <a16:creationId xmlns:a16="http://schemas.microsoft.com/office/drawing/2014/main" id="{8C0AD2EC-4FA7-4E1B-9043-A4113BBA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4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4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共享计算规则，使用时检查和修复</a:t>
            </a:r>
          </a:p>
        </p:txBody>
      </p:sp>
      <p:sp>
        <p:nvSpPr>
          <p:cNvPr id="15" name="淘宝-想搞设计PPT(倒卖必究)-8">
            <a:extLst xmlns:a="http://schemas.openxmlformats.org/drawingml/2006/main">
              <a:ext uri="{FF2B5EF4-FFF2-40B4-BE49-F238E27FC236}">
                <a16:creationId xmlns:a16="http://schemas.microsoft.com/office/drawing/2014/main" id="{B1EA418B-C1C5-4375-BA2C-094965CC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学会怎么算以后，还要检查数据变了能不能继续用</a:t>
            </a:r>
          </a:p>
        </p:txBody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A3E0B4AC-1FA7-4608-982C-4A179FF2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668" y="3933190"/>
            <a:ext cx="698373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EF9F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灯片编号占位符 45">
            <a:extLst xmlns:a="http://schemas.openxmlformats.org/drawingml/2006/main">
              <a:ext uri="{FF2B5EF4-FFF2-40B4-BE49-F238E27FC236}">
                <a16:creationId xmlns:a16="http://schemas.microsoft.com/office/drawing/2014/main" id="{E4003A9B-F48A-4B4E-B4E3-8D17FC777A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125200" y="6657975"/>
            <a:ext cx="800100" cy="1714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F6DF2BE2-2DFA-1C03-677D-BDC2260D6D92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21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MAVRA-footer">
            <a:extLst xmlns:a="http://schemas.openxmlformats.org/drawingml/2006/main">
              <a:ext uri="{FF2B5EF4-FFF2-40B4-BE49-F238E27FC236}">
                <a16:creationId xmlns:a16="http://schemas.microsoft.com/office/drawing/2014/main" id="{4AEEBF16-4C32-4E58-9959-6E0861E3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6579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663662246"/>
      </p:ext>
    </p:extLst>
  </p:cSld>
</p:sld>
</file>

<file path=ppt/theme/theme1.xml><?xml version="1.0" encoding="utf-8"?>
<a:theme xmlns:a="http://schemas.openxmlformats.org/drawingml/2006/main" name="主题2">
  <a:themeElements>
    <a:clrScheme name="党政风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0707"/>
      </a:accent1>
      <a:accent2>
        <a:srgbClr val="A60303"/>
      </a:accent2>
      <a:accent3>
        <a:srgbClr val="F27F1B"/>
      </a:accent3>
      <a:accent4>
        <a:srgbClr val="F2A71B"/>
      </a:accent4>
      <a:accent5>
        <a:srgbClr val="C2C4F2"/>
      </a:accent5>
      <a:accent6>
        <a:srgbClr val="71B8FF"/>
      </a:accent6>
      <a:hlink>
        <a:srgbClr val="0563C1"/>
      </a:hlink>
      <a:folHlink>
        <a:srgbClr val="954F72"/>
      </a:folHlink>
    </a:clrScheme>
    <a:fontScheme name="党政">
      <a:majorFont>
        <a:latin typeface="思源宋体 CN Medium"/>
        <a:ea typeface="思源宋体 CN Light"/>
        <a:cs typeface=""/>
      </a:majorFont>
      <a:minorFont>
        <a:latin typeface="思源宋体 CN Light"/>
        <a:ea typeface="思源宋体 CN Heavy"/>
        <a:cs typeface=""/>
      </a:minorFont>
    </a:fontScheme>
    <a:fmtScheme name="党政风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2026-10-10T10:21:51.8630000Z</dcterms:created>
  <dcterms:modified xsi:type="dcterms:W3CDTF">2026-10-10T10:21:51.8630000Z</dcterms:modified>
</coreProperties>
</file>