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5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embeddedFontLst>
    <p:embeddedFont>
      <p:font typeface="微软雅黑" panose="020B0503020204020204" pitchFamily="34" charset="-122"/>
      <p:regular r:id="rId27"/>
      <p:bold r:id="rId2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65A9FE-0638-E1AD-55F9-8C6FFAC0F837}" name="梦阳 马" initials="梦马" userId="9fbde04e6393f71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 秒</a:t>
            </a:r>
          </a:p>
          <a:p>
            <a:endParaRPr/>
          </a:p>
          <a:p>
            <a:r>
              <a:t>今天介绍 MAVRA。一个 Agent 学会怎样计算营业额后，其他 Agent 可以使用同样的规则。数据变了以后，系统还要检查这些规则能不能继续用。先用两页说明为什么需要共享记忆，以及数据变化后为什么要检查。再用三笔退货把过程讲清楚，接着看门店营业额的真实运行和实验结果。</a:t>
            </a:r>
          </a:p>
          <a:p>
            <a:endParaRPr/>
          </a:p>
          <a:p>
            <a:r>
              <a:t>资料来源：用户提供的 main-en.pdf，MAVRA: Maintainable Shared Memory for Data Agents。摘要与第 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</a:t>
            </a:r>
          </a:p>
          <a:p>
            <a:endParaRPr/>
          </a:p>
          <a:p>
            <a:r>
              <a:t>数据 Agent 接到营业额或退货金额问题后，通常不能直接写出正确 SQL。它先找数据表和字段，再确认哪些记录应该计算、日期用哪一列，以及表之间怎样连接。不同 Agent 回答类似问题时，往往会重复查找这些信息。因此，可以把已经学会的计算规则和查询示例保存到共享记忆，供后来的 Agent 使用。共享的是计算方法，每次回答仍要查询当前数据。接下来还要解决一个问题：保存下来的计算方法，数据变了以后还能不能用？</a:t>
            </a:r>
          </a:p>
          <a:p>
            <a:endParaRPr/>
          </a:p>
          <a:p>
            <a:r>
              <a:t>资料来源：用户提供的 main-en.pdf，MAVRA: Maintainable Shared Memory for Data Agents。摘要、第 1 节和第 2.1 节，关于不同 Agent 重复查找数据库知识的观察。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</a:t>
            </a:r>
          </a:p>
          <a:p>
            <a:endParaRPr/>
          </a:p>
          <a:p>
            <a:r>
              <a:t>只保存过去成功的 SQL 或问答示例，不能保证数据更新后仍然适用。例如，原先每笔业务只有一行，后来系统把同一笔业务的不同状态也写进表，旧 SQL 仍能正常执行，却可能把同一笔金额加好几次。表名和字段没有改变，只看 SQL 是否报错发现不了这个问题。MAVRA 因此把计算规则和使用条件一起保存。写入时它不启动维护，等到下一次使用，先比较相关表的版本，表变了才检查受影响的条件。检查不通过时尝试修复，无法确定唯一正确的修复方法时就暂停使用。下面用三笔退货，把这个问题完整讲一遍。</a:t>
            </a:r>
          </a:p>
          <a:p>
            <a:endParaRPr/>
          </a:p>
          <a:p>
            <a:r>
              <a:t>资料来源：用户提供的 main-en.pdf，MAVRA: Maintainable Shared Memory for Data Agents。第 1 节、第 2.2 节，以及第 5–6 节。退货状态记录导致旧 SQL 重复计数，使用时比较表版本并维护。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用户要求只算已完成的退货，月份按退货日期确定。右侧三笔退货都是九月，100 加 200 加 300，结果是 600 元。这里用小票号和商品号一起识别一笔退货，例如 R01/A。这是帮助理解的例子，数字不是论文测量结果。</a:t>
            </a:r>
          </a:p>
          <a:p>
            <a:endParaRPr/>
          </a:p>
          <a:p>
            <a:r>
              <a:t>资料来源：用户提供的 main-en.pdf，MAVRA: Maintainable Shared Memory for Data Agents。第 1、3、4.1 节。该数值例子依据论文的退货状态变更场景构造。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Agent 先找退货金额、状态和日期等字段，再按用户说明只保留已完成的退货，筛选九月并求和，得到 600 元。系统要记住的是怎么算，以及为什么这样算。下一页展示门店营业额的真实工具调用记录。</a:t>
            </a:r>
          </a:p>
          <a:p>
            <a:endParaRPr/>
          </a:p>
          <a:p>
            <a:r>
              <a:t>来源：用户提供的 main-en.pdf，MAVRA: Maintainable Shared Memory for Data Agents。第 1、5.1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真实学习题问三月门店营业额，计算规则是销售记录的净支付额相加，月份按销售日期确定。Agent 先列出表，确认没有已检查的规则，再分别查看销售表和日期表，找到连接方式，执行 SQL，最后提交答案。describe_table 调用了两次，所以共七次调用、五轮。结果是 13,570,368.70 元。0.3 秒只计算工具执行时间，不包含模型思考和等待。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下一个 Agent 要算十月退货金额，可以取得已经检查过的计算规则，把月份改成十月，再查询当前数据。共享的是规则，不是之前的 600 元答案。使用时要说明规则版本，并检查对应的使用条件。</a:t>
            </a:r>
          </a:p>
          <a:p>
            <a:endParaRPr/>
          </a:p>
          <a:p>
            <a:r>
              <a:t>来源：用户提供的 main-en.pdf，MAVRA: Maintainable Shared Memory for Data Agents。第 3、6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后来系统把申请中的退货记录也写入同一张表。R01 和 R02 各多了一行，但已完成的三笔退货没有变化，正确答案仍为 600 元。旧 SQL 把新行也算进去，得到 900 元。SQL 没有报错，但结果错了。所有继续使用旧规则的 Agent 都可能遇到同样的问题。</a:t>
            </a:r>
          </a:p>
          <a:p>
            <a:endParaRPr/>
          </a:p>
          <a:p>
            <a:r>
              <a:t>资料来源：用户提供的 main-en.pdf，MAVRA: Maintainable Shared Memory for Data Agents。第 1、2.2、7.6 节。示意数值，非论文原始结果。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按左、中、右讲。左边是 Agent 学习三月营业额，五轮七次工具调用后得到正确答案。中间从 SQL 整理出计算内容、数据表、日期字段、记录编号以及年和月参数，这一步用时 12.7 秒。图中的度量就是计算内容，事实表就是保存销售记录的表，粒度说明一行数据代表什么。随后做七项检查，共五条查询、5.6 秒。右边保存第一版规则 v1，同时保存使用条件和学习记录。图里的规范 SQL 是系统按保存的规则生成的查询。主键唯一表示一笔销售只保留一行；维表主键唯一表示日期表的日期编号不重复；参照完整性检查销售能否找到对应日期。r1 是查询结果编号，不是规则版本。已发布的版本不直接修改，有变化时发布新版本。</a:t>
            </a:r>
          </a:p>
          <a:p>
            <a:endParaRPr/>
          </a:p>
          <a:p>
            <a:r>
              <a:t>资料来源：用户提供的 run-publish-zh.png；steps.py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共享记忆保存四类内容：怎么算、查询怎样写、怎样识别一笔销售，以及各个版本的检查记录。营业额是净支付额相加，年和月随问题填写。日期号、小票号和商品号共同识别一笔销售。首次发布 v1，查询优化后发布 v2，数据更正并修复后发布 v3，旧版本仍保留记录。用户 Agent 获取计算规则和注意事项，完整使用条件及检查结果由 MAVRA 保存。</a:t>
            </a:r>
          </a:p>
          <a:p>
            <a:endParaRPr/>
          </a:p>
          <a:p>
            <a:r>
              <a:t>资料来源：run-publish-zh.png、run-use-zh.png 和 steps.py。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七项检查必须全部通过才发布。先确认题目有明确业务说明、答案正确且计算过程可以重复，再检查表、列和 SQL 是否符合要求。主键唯一检查排除编号含空值的记录，得到 989,695 行和 989,695 个不同业务键。业务键就是识别一笔销售的那组编号。随后检查查询只读且只有一条语句，分别再次执行示例 SQL 和系统生成的 SQL，都要得到 13,570,368.70 元。本例总共五条查询，用时 5.6 秒；七项检查不等于七条查询。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合成零售数据。来源：用户提供的 main-en.pdf，MAVRA: Maintainable Shared Memory for Data Agents。第 5.1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v1 连接日期表，再按年和月筛选。v2 改用这个月最小和最大的日期编号筛选，减少连接。这种写法要求每个月的日期编号连续。系统用学习时的数据重算，并比较十四组结果：十二个月、一个季度和一次差值计算，结果全部相同。在同一份数据上交替计时，平均耗时从 39.7 毫秒降到 33.3 毫秒，减少 16.1%。三十六个月的日期编号连续性检查都通过。如果以后不再连续，就恢复原来的查询写法。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合成零售数据。draw_optimize。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Agent B 只问九月营业额，没有得到具体计算规则。find_metric 按名称找到规则，比较相关表的版本，确认表没变，用四毫秒返回 v2。B 按示例写 SQL，并说明使用 v2。run_sql 检查查询只读、版本仍可用、必要筛选条件没有遗漏，然后执行 SQL，用时二十四毫秒。答案为 13,069,651.80 元，约 1307.0 万，全程四轮六次工具调用、7.4 秒。没有共享记忆的对照因为选错列，得到 1413.8 万。这里没有开启让检查和查询固定使用同一份数据的模式；图中的“在快照上执行 SQL”只说明查询本身的执行方式。第十九页单独解释两者如何使用同一快照。</a:t>
            </a:r>
          </a:p>
          <a:p>
            <a:endParaRPr/>
          </a:p>
          <a:p>
            <a:r>
              <a:t>资料来源：用户提供的 run-use-zh.png；steps.py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先看上面一行。数据更正保留旧记录，并把当前记录的金额改成九折。表版本变了，但写入时 MAVRA 什么都不做。下次 B 再问九月营业额，调用 find_metric 发现版本变化，才开始检查。再看中间一行。日期表没变，对它的检查跳过；销售与日期的关联仍符合要求；主键唯一检查却发现 1,055,610 行只有 989,695 个不同业务键，说明同一笔销售出现多行。于是暂停 v2，尝试修复。只有 ss_is_current 等于一，才能每笔留一行又不遗漏。用学习时的数据再算三月，仍为 13,570,368.70 元，这就是图中的回归测试。最后发布 v3，九月结果为 1293.3 万。继续用旧 SQL 会把旧金额加进去，得到 1430.1 万。该规则的检查和修复共 31.6 秒，之后大家共用新版本。左下还展示了另一种情况：数据完全重复、找不到唯一修复方法，就暂停使用，交给 Agent 自己查找。</a:t>
            </a:r>
          </a:p>
          <a:p>
            <a:endParaRPr/>
          </a:p>
          <a:p>
            <a:r>
              <a:t>资料来源：用户提供的 run-maintain-zh.png；steps.py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数据更正后，旧记录和更正后的记录同时存在。下次使用时，系统发现销售表版本变了，开始检查。左侧 SQL 排除了日期号、小票号或商品号为空的记录，因此数字不是整张表的总行数。检查结果是 1,055,610 行、989,695 个不同业务键，多出 65,915 行，用时六秒。日期表未变，不重复检查它的编号；销售能否关联到日期的检查仍通过，用时 0.2 秒。重复检查不通过，v2 暂停使用，进入修复。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合成零售数据。draw_check；校验 SQL 的非空键过滤依据工作区 src/checks.rs Check::Unique 查询生成逻辑。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回到退货例子。修复不能只消除重复，还要保留每一笔退货。只保留申请中会漏掉 R03，不能用；只保留已完成，三笔都在而且每笔一行。再用学习时的数据重新执行修复后的 SQL，结果仍为 600 元，才保存新规则。如果没有方案通过，或多个方案都通过，系统就不自动选择。</a:t>
            </a:r>
          </a:p>
          <a:p>
            <a:endParaRPr/>
          </a:p>
          <a:p>
            <a:r>
              <a:t>资料来源：main-en.pdf 第 5.3 节，退货为讲解示意。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系统逐一尝试取值较少的列。ss_is_current 等于一时，每笔销售都有且只有一行。等于零时，只留下被更正的销售，会遗漏其他销售。数量列的各个取值也只能保留部分销售。只有一个方案通过，才继续检查新规则和 SQL，再用学习时的数据计算三月营业额，仍为 13,570,368.70 元，发布 v3。检查和修复共用时 31.6 秒，只计算这一条规则。记录中的检查为 11.9 秒、修复为 19.6 秒，分项四舍五入，因此相加与总数略有差别。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合成零售数据。draw_repair。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再次回答用户的九月问题。修复后的 v3 只保留当前记录，得到 12,932,888.04 元，约 1293.3 万，答案正确。数据变了仍用旧 SQL，会把旧金额也相加，得到 1430.1 万。本次 Agent 共调用工具九次，全程 81 秒，包含检查、修复、继续查找和模型等待。随后再调用 find_metric，直接取得已发布的 v3，只需三毫秒。81 秒、31.6 秒和三毫秒分别计算整个任务、一条规则的检查修复、后续一次查询规则的时间。第十三页的 1413.8 万是更正前没有共享记忆的另一组对照。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合成零售数据。draw_after，10-10 对照结果。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先看上面的时间顺序。检查时数据满足条件，但检查后有更新提交，查询读到更新后的数据，原来的条件已经不满足。实验中，最多 4.6% 的已作答查询遇到了这种情况。下面让表版本检查、使用条件检查和 SQL 执行固定在同一份数据上，这就是同一快照。表版本还必须与数据更新一起提交。四组实验合计 11,297 次已作答查询，零次使用不满足条件的数据。这里统计的是使用条件是否满足，不是所有业务答案的错误率。</a:t>
            </a:r>
          </a:p>
          <a:p>
            <a:endParaRPr/>
          </a:p>
          <a:p>
            <a:r>
              <a:t>来源：用户提供的 main-en.pdf，MAVRA: Maintainable Shared Memory for Data Agents。第 7.3 节、表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对没有学过的新问题，不共享规则时回答准确率为 49%，使用 MAVRA 为 100%。从第一次工具调用到提交答案，平均用时从 75.6 秒降到 8.5 秒，约快 8.9 倍。主要原因是不用每次重新查找计算方法。在数据不变时，查找以前成功的示例也能达到 100% 准确率。下一页再看数据变化后的差别。本页数字是整组任务的平均结果，第十三页的 7.4 秒只是一个任务的实际用时。</a:t>
            </a:r>
          </a:p>
          <a:p>
            <a:endParaRPr/>
          </a:p>
          <a:p>
            <a:r>
              <a:t>资料来源：用户提供的 main-en.pdf，MAVRA: Maintainable Shared Memory for Data Agents。第 7.6、7.7 节。建库成本另计，约 181k tokens、283 秒/库。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这一组实验更新了数据，使原来的一些使用条件不再成立。MAVRA 最终回答准确率为 73%，查找历史示例为 57%，相差十六个百分点。即使让 Agent 在找到示例后自己检查，也只有 63%。旧示例能告诉它以前怎么算，但数据变了以后还需要检查。73% 包含系统修复失败后，Agent 自己继续查找答案的情况，不表示所有请求都能自动修好。实验覆盖五类更新，每种方法独立运行三次，MAVRA 三次准确率为 69% 到 76%。</a:t>
            </a:r>
          </a:p>
          <a:p>
            <a:endParaRPr/>
          </a:p>
          <a:p>
            <a:r>
              <a:t>资料来源：用户提供的 main-en.pdf，MAVRA: Maintainable Shared Memory for Data Agents。第 7.6 节，图 4；19% 与用户原 PPT 第 7 页一致。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系统也有检查不到的情况。金额单位从元改成分，行数、编号和关联关系都没变，系统无法只靠这些检查判断单位，需要新的业务说明。另一种情况是两份完整数据都能做到一笔一行，系统能发现重复，却无法确定该选哪一份，所以不自动选择，暂停这条规则。前面零次使用不满足条件的数据，不表示零次业务理解错误。</a:t>
            </a:r>
          </a:p>
          <a:p>
            <a:endParaRPr/>
          </a:p>
          <a:p>
            <a:r>
              <a:t>来源：用户提供的 main-en.pdf，MAVRA: Maintainable Shared Memory for Data Agents。第 4.3、5.3、7.4、9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 秒</a:t>
            </a:r>
          </a:p>
          <a:p>
            <a:endParaRPr/>
          </a:p>
          <a:p>
            <a:r>
              <a:t>第一次 Agent 学会怎样计算，其他 Agent 使用相同规则。数据变了，下次使用时先检查。发现问题后，只有一个修复方法通过全部检查，并且用学习时的数据重算结果相同，才发布新版本。这样，学过的计算规则才能继续供大家使用。</a:t>
            </a:r>
          </a:p>
          <a:p>
            <a:endParaRPr/>
          </a:p>
          <a:p>
            <a:r>
              <a:t>资料来源：用户提供的 main-en.pdf，MAVRA: Maintainable Shared Memory for Data Agents。第 10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24929-BCC5-4CC2-98DA-E5CE8B9E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76025-84A2-4E30-A556-4DE7BB565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6AF6C-8CDC-4F70-9681-6E7C90E3C8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202A6-EE69-4FB1-9544-B40999FD95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D5FD5A-B47E-4252-B784-154314CBD7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98C98C0B-8FEB-4CAA-ADEE-33842A2AE742}"/>
              </a:ext>
            </a:extLst>
          </p:cNvPr>
          <p:cNvSpPr>
            <a:spLocks noGrp="1"/>
          </p:cNvSpPr>
          <p:nvPr/>
        </p:nvSpPr>
        <p:spPr>
          <a:xfrm>
            <a:off x="3723162" y="1212615"/>
            <a:ext cx="8468838" cy="5645385"/>
          </a:xfrm>
          <a:prstGeom prst="roundRect">
            <a:avLst>
              <a:gd name="adj" fmla="val 0"/>
            </a:avLst>
          </a:prstGeom>
          <a:blipFill rotWithShape="1">
            <a:blip r:embed="rId2">
              <a:alphaModFix amt="78000"/>
              <a:lum bright="70000" contrast="-70000"/>
            </a:blip>
            <a:srcRect/>
            <a:stretch>
              <a:fillRect l="-2104" t="-17263" r="-2232" b="-9915"/>
            </a:stretch>
          </a:blip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3355D6-2F6C-48B6-ABBD-828CBE85E2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2026/10/11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224570-F67B-4896-9742-078884E04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C199E-2D6B-4F24-A270-A6DA2519D7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1197BAD-8471-42E3-B55F-94B02D3A3FA2}"/>
              </a:ext>
            </a:extLst>
          </p:cNvPr>
          <p:cNvSpPr>
            <a:spLocks noGrp="1"/>
          </p:cNvSpPr>
          <p:nvPr/>
        </p:nvSpPr>
        <p:spPr>
          <a:xfrm>
            <a:off x="0" y="2692400"/>
            <a:ext cx="12192000" cy="2159000"/>
          </a:xfrm>
          <a:prstGeom prst="rect">
            <a:avLst/>
          </a:prstGeom>
          <a:gradFill flip="none" rotWithShape="1">
            <a:gsLst>
              <a:gs pos="0">
                <a:srgbClr val="B53132"/>
              </a:gs>
              <a:gs pos="100000">
                <a:srgbClr val="DC5A5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716620-4920-4A5E-B2BE-BD785AACB4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4E63B7F-BEDC-44E3-891F-8E1DE6767941}" type="datetime1">
              <a:t>2026/10/11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8B925C-B809-48EA-926E-B32C40C200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7201C-D887-44D0-9699-92DF7E5B3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F3269D-51BB-4135-9D7F-7CA81D23812E}" type="slidenum">
              <a:t>‹#›</a:t>
            </a:fld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92F0FE-115B-4F40-B561-FF9050AF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029" y="298670"/>
            <a:ext cx="2409371" cy="5999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3CA46B-689A-40E4-8AD9-AD9179AF8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12" t="4985" r="7595" b="7042"/>
          <a:stretch>
            <a:fillRect/>
          </a:stretch>
        </p:blipFill>
        <p:spPr>
          <a:xfrm>
            <a:off x="552450" y="819150"/>
            <a:ext cx="5086350" cy="5295900"/>
          </a:xfrm>
          <a:prstGeom prst="rect">
            <a:avLst/>
          </a:pr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2392986B-7AAA-4364-80D2-5E2F7870E4D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790700" y="1428750"/>
            <a:ext cx="3133725" cy="41529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8DD1A-9D90-4DFE-95E5-F08BE985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E2BE2D-9BCF-473C-8E55-1E20C47544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1">
              <a:t>2026/10/11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F20095-DE12-4616-83A6-E49EB3890C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46A099-0922-44B2-9979-9C3FAAA30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8948A-56E2-48C0-897F-8589CEE8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92ECAB-C5E7-4916-8A49-8AD742749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A331B-FD06-48D3-8557-9DF6ED380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E925B-61E5-4406-AD38-8720E87F7E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055AAF-FF7E-4C82-9F24-B0C84100F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588321E-4836-4E53-97AE-663132234D41}"/>
              </a:ext>
            </a:extLst>
          </p:cNvPr>
          <p:cNvSpPr>
            <a:spLocks noGrp="1"/>
          </p:cNvSpPr>
          <p:nvPr/>
        </p:nvSpPr>
        <p:spPr>
          <a:xfrm>
            <a:off x="3723162" y="1212615"/>
            <a:ext cx="8468838" cy="5645385"/>
          </a:xfrm>
          <a:prstGeom prst="roundRect">
            <a:avLst>
              <a:gd name="adj" fmla="val 0"/>
            </a:avLst>
          </a:prstGeom>
          <a:blipFill rotWithShape="1">
            <a:blip r:embed="rId2">
              <a:alphaModFix amt="78000"/>
              <a:lum bright="70000" contrast="-70000"/>
            </a:blip>
            <a:srcRect/>
            <a:stretch>
              <a:fillRect l="-2104" t="-17263" r="-2232" b="-9915"/>
            </a:stretch>
          </a:blip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5B29C6-C5FF-48F7-A809-97AD3C4823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2026/10/11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396EF8-F962-478F-A039-B739EEC127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92CF06-67DE-4985-9C51-CF7EB36D3A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122A22-8B2A-48CE-8EC0-7F5B7400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D587D2-5CA0-4546-BB01-11DCA67AA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2670AD-7A14-46CF-8FEA-A0E0402536D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1">
              <a:t>2026/10/11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174E54-CE15-445E-B7FF-4F07E72DD95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0139F-4348-4C89-9A6C-29A98F352AF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415578-ED20-4249-9EFA-D576CF10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445888-2C5F-49DB-A915-356147545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5C5E9-6DD9-46CE-A56F-DCB6E7E910E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1">
              <a:t>2026/10/11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A1402-B9BB-4D97-8269-CFBA311B6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C072-78C5-4F21-9B7A-957E79E78B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9">
            <a:extLst>
              <a:ext uri="{FF2B5EF4-FFF2-40B4-BE49-F238E27FC236}">
                <a16:creationId xmlns:a16="http://schemas.microsoft.com/office/drawing/2014/main" id="{F253E41A-F615-4244-8DF1-D8F920BACE1C}"/>
              </a:ext>
            </a:extLst>
          </p:cNvPr>
          <p:cNvSpPr>
            <a:spLocks noGrp="1"/>
          </p:cNvSpPr>
          <p:nvPr/>
        </p:nvSpPr>
        <p:spPr>
          <a:xfrm>
            <a:off x="-447534" y="4894560"/>
            <a:ext cx="8328409" cy="360000"/>
          </a:xfrm>
          <a:custGeom>
            <a:avLst/>
            <a:gdLst/>
            <a:ahLst/>
            <a:cxnLst/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>
            <a:srgbClr val="D4D7DD"/>
          </a:solidFill>
        </p:spPr>
        <p:txBody>
          <a:bodyPr/>
          <a:lstStyle/>
          <a:p>
            <a:endParaRPr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476CD9C6-F298-4878-8577-9ABD41EAF55C}"/>
              </a:ext>
            </a:extLst>
          </p:cNvPr>
          <p:cNvSpPr>
            <a:spLocks noGrp="1"/>
          </p:cNvSpPr>
          <p:nvPr/>
        </p:nvSpPr>
        <p:spPr>
          <a:xfrm>
            <a:off x="7160375" y="4894560"/>
            <a:ext cx="5567601" cy="360000"/>
          </a:xfrm>
          <a:custGeom>
            <a:avLst/>
            <a:gdLst/>
            <a:ahLst/>
            <a:cxnLst/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/>
          <a:lstStyle/>
          <a:p>
            <a:endParaRPr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CD3C70C4-9D69-4D80-B1F1-4801FB198E5C}"/>
              </a:ext>
            </a:extLst>
          </p:cNvPr>
          <p:cNvSpPr>
            <a:spLocks noGrp="1"/>
          </p:cNvSpPr>
          <p:nvPr/>
        </p:nvSpPr>
        <p:spPr>
          <a:xfrm>
            <a:off x="-460640" y="1273160"/>
            <a:ext cx="6441858" cy="360000"/>
          </a:xfrm>
          <a:custGeom>
            <a:avLst/>
            <a:gdLst/>
            <a:ahLst/>
            <a:cxnLst/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>
            <a:srgbClr val="D4D7DD"/>
          </a:solidFill>
        </p:spPr>
        <p:txBody>
          <a:bodyPr/>
          <a:lstStyle/>
          <a:p>
            <a:endParaRPr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A7C8868F-C0C7-462E-BA83-21F7F14392E0}"/>
              </a:ext>
            </a:extLst>
          </p:cNvPr>
          <p:cNvSpPr>
            <a:spLocks noGrp="1"/>
          </p:cNvSpPr>
          <p:nvPr/>
        </p:nvSpPr>
        <p:spPr>
          <a:xfrm>
            <a:off x="4517271" y="1273160"/>
            <a:ext cx="8197597" cy="360000"/>
          </a:xfrm>
          <a:custGeom>
            <a:avLst/>
            <a:gdLst/>
            <a:ahLst/>
            <a:cxnLst/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/>
          <a:lstStyle/>
          <a:p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4582DC-C1FE-47AF-8F99-F22E86F0F8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61" t="20535" r="8157" b="34135"/>
          <a:stretch>
            <a:fillRect/>
          </a:stretch>
        </p:blipFill>
        <p:spPr>
          <a:xfrm flipH="1">
            <a:off x="0" y="1485265"/>
            <a:ext cx="12192000" cy="3602355"/>
          </a:xfrm>
          <a:prstGeom prst="rect">
            <a:avLst/>
          </a:prstGeom>
        </p:spPr>
      </p:pic>
      <p:sp>
        <p:nvSpPr>
          <p:cNvPr id="6" name="淘宝-想搞设计PPT(倒卖必究)-24">
            <a:extLst>
              <a:ext uri="{FF2B5EF4-FFF2-40B4-BE49-F238E27FC236}">
                <a16:creationId xmlns:a16="http://schemas.microsoft.com/office/drawing/2014/main" id="{6A077481-A485-4EC7-BF16-60CA8A0CA448}"/>
              </a:ext>
            </a:extLst>
          </p:cNvPr>
          <p:cNvSpPr>
            <a:spLocks noGrp="1"/>
          </p:cNvSpPr>
          <p:nvPr/>
        </p:nvSpPr>
        <p:spPr>
          <a:xfrm>
            <a:off x="0" y="1485265"/>
            <a:ext cx="12192000" cy="3602355"/>
          </a:xfrm>
          <a:prstGeom prst="rect">
            <a:avLst/>
          </a:prstGeom>
          <a:solidFill>
            <a:srgbClr val="A2383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7CE113-EFFB-4221-8425-8DE25BEB3FF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>
              <a:ext uri="{FF2B5EF4-FFF2-40B4-BE49-F238E27FC236}">
                <a16:creationId xmlns:a16="http://schemas.microsoft.com/office/drawing/2014/main" id="{3EA09B1E-425B-4DD9-A209-E78F610475D6}"/>
              </a:ext>
            </a:extLst>
          </p:cNvPr>
          <p:cNvSpPr>
            <a:spLocks noGrp="1"/>
          </p:cNvSpPr>
          <p:nvPr/>
        </p:nvSpPr>
        <p:spPr>
          <a:xfrm>
            <a:off x="5499348" y="938302"/>
            <a:ext cx="1193304" cy="11933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3239D4E-8481-49FF-9920-5D160AC0C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381" y="957335"/>
            <a:ext cx="1155238" cy="1155238"/>
          </a:xfrm>
          <a:prstGeom prst="rect">
            <a:avLst/>
          </a:prstGeom>
        </p:spPr>
      </p:pic>
      <p:sp>
        <p:nvSpPr>
          <p:cNvPr id="8" name="淘宝-想搞设计PPT(倒卖必究)-7">
            <a:extLst>
              <a:ext uri="{FF2B5EF4-FFF2-40B4-BE49-F238E27FC236}">
                <a16:creationId xmlns:a16="http://schemas.microsoft.com/office/drawing/2014/main" id="{4C62805F-9F58-4549-ACAA-03CAEAC54EBD}"/>
              </a:ext>
            </a:extLst>
          </p:cNvPr>
          <p:cNvSpPr>
            <a:spLocks noGrp="1"/>
          </p:cNvSpPr>
          <p:nvPr/>
        </p:nvSpPr>
        <p:spPr>
          <a:xfrm>
            <a:off x="1143000" y="2495550"/>
            <a:ext cx="990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60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sp>
        <p:nvSpPr>
          <p:cNvPr id="10" name="淘宝-想搞设计PPT(倒卖必究)-8">
            <a:extLst>
              <a:ext uri="{FF2B5EF4-FFF2-40B4-BE49-F238E27FC236}">
                <a16:creationId xmlns:a16="http://schemas.microsoft.com/office/drawing/2014/main" id="{E204C7C1-C610-447D-A41D-5281CF7DB3FE}"/>
              </a:ext>
            </a:extLst>
          </p:cNvPr>
          <p:cNvSpPr>
            <a:spLocks noGrp="1"/>
          </p:cNvSpPr>
          <p:nvPr/>
        </p:nvSpPr>
        <p:spPr>
          <a:xfrm>
            <a:off x="1143000" y="4105275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 Agent 的共享记忆与自动修复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A2719A35-67E1-4662-8716-DFB8B6B33CC4}"/>
              </a:ext>
            </a:extLst>
          </p:cNvPr>
          <p:cNvSpPr>
            <a:spLocks noGrp="1"/>
          </p:cNvSpPr>
          <p:nvPr/>
        </p:nvSpPr>
        <p:spPr>
          <a:xfrm>
            <a:off x="2552700" y="3895725"/>
            <a:ext cx="7086600" cy="0"/>
          </a:xfrm>
          <a:prstGeom prst="line">
            <a:avLst/>
          </a:prstGeom>
          <a:ln w="28575">
            <a:solidFill>
              <a:srgbClr val="FEF9F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6" name="灯片编号占位符 45">
            <a:extLst>
              <a:ext uri="{FF2B5EF4-FFF2-40B4-BE49-F238E27FC236}">
                <a16:creationId xmlns:a16="http://schemas.microsoft.com/office/drawing/2014/main" id="{127AA94E-5478-4818-AD2A-9EABC04C83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25200" y="6657975"/>
            <a:ext cx="800100" cy="171450"/>
          </a:xfrm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AD75FED6-38D0-DE9C-92C0-6E7FA635581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MAVRA-footer">
            <a:extLst>
              <a:ext uri="{FF2B5EF4-FFF2-40B4-BE49-F238E27FC236}">
                <a16:creationId xmlns:a16="http://schemas.microsoft.com/office/drawing/2014/main" id="{9E57A2D1-7CB8-48A6-97B6-91D59FBBF7E8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07886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1C1CB689-733F-48A1-91FD-65D6F8C6B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研究背景：为什么数据</a:t>
            </a:r>
            <a:r>
              <a:rPr sz="28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28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需要共享记忆</a:t>
            </a:r>
            <a:endParaRPr sz="2850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2598689-54C9-18A7-3A19-ED76AA08988F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setup">
            <a:extLst>
              <a:ext uri="{FF2B5EF4-FFF2-40B4-BE49-F238E27FC236}">
                <a16:creationId xmlns:a16="http://schemas.microsoft.com/office/drawing/2014/main" id="{BA644F19-B964-4EE1-8E05-7CA59F251A6E}"/>
              </a:ext>
            </a:extLst>
          </p:cNvPr>
          <p:cNvSpPr>
            <a:spLocks noGrp="1"/>
          </p:cNvSpPr>
          <p:nvPr/>
        </p:nvSpPr>
        <p:spPr>
          <a:xfrm>
            <a:off x="742950" y="1724025"/>
            <a:ext cx="107061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 err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回答一个业务问题，往往要先查清计算方法</a:t>
            </a:r>
            <a:endParaRPr sz="2250" b="1" dirty="0">
              <a:solidFill>
                <a:srgbClr val="A238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learn-0">
            <a:extLst>
              <a:ext uri="{FF2B5EF4-FFF2-40B4-BE49-F238E27FC236}">
                <a16:creationId xmlns:a16="http://schemas.microsoft.com/office/drawing/2014/main" id="{52AF9FB7-4689-4AC2-8F91-CBB92D302457}"/>
              </a:ext>
            </a:extLst>
          </p:cNvPr>
          <p:cNvSpPr>
            <a:spLocks noGrp="1"/>
          </p:cNvSpPr>
          <p:nvPr/>
        </p:nvSpPr>
        <p:spPr>
          <a:xfrm>
            <a:off x="7143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learn-0-head">
            <a:extLst>
              <a:ext uri="{FF2B5EF4-FFF2-40B4-BE49-F238E27FC236}">
                <a16:creationId xmlns:a16="http://schemas.microsoft.com/office/drawing/2014/main" id="{2932657C-9A31-4E9A-811B-D3F112FDFE46}"/>
              </a:ext>
            </a:extLst>
          </p:cNvPr>
          <p:cNvSpPr>
            <a:spLocks noGrp="1"/>
          </p:cNvSpPr>
          <p:nvPr/>
        </p:nvSpPr>
        <p:spPr>
          <a:xfrm>
            <a:off x="8096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 err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2250" b="1" dirty="0">
              <a:solidFill>
                <a:srgbClr val="A238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learn-0-body">
            <a:extLst>
              <a:ext uri="{FF2B5EF4-FFF2-40B4-BE49-F238E27FC236}">
                <a16:creationId xmlns:a16="http://schemas.microsoft.com/office/drawing/2014/main" id="{4CAE77B4-4951-4184-982C-70E924303CE6}"/>
              </a:ext>
            </a:extLst>
          </p:cNvPr>
          <p:cNvSpPr>
            <a:spLocks noGrp="1"/>
          </p:cNvSpPr>
          <p:nvPr/>
        </p:nvSpPr>
        <p:spPr>
          <a:xfrm>
            <a:off x="8286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门店营业额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是多少？</a:t>
            </a:r>
          </a:p>
        </p:txBody>
      </p:sp>
      <p:sp>
        <p:nvSpPr>
          <p:cNvPr id="53" name="learn-1">
            <a:extLst>
              <a:ext uri="{FF2B5EF4-FFF2-40B4-BE49-F238E27FC236}">
                <a16:creationId xmlns:a16="http://schemas.microsoft.com/office/drawing/2014/main" id="{4175C286-7E5C-4D5F-868C-AD7EEECF4849}"/>
              </a:ext>
            </a:extLst>
          </p:cNvPr>
          <p:cNvSpPr>
            <a:spLocks noGrp="1"/>
          </p:cNvSpPr>
          <p:nvPr/>
        </p:nvSpPr>
        <p:spPr>
          <a:xfrm>
            <a:off x="34956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learn-1-head">
            <a:extLst>
              <a:ext uri="{FF2B5EF4-FFF2-40B4-BE49-F238E27FC236}">
                <a16:creationId xmlns:a16="http://schemas.microsoft.com/office/drawing/2014/main" id="{E04AF2CF-4049-4189-A488-D4B82FF0E67C}"/>
              </a:ext>
            </a:extLst>
          </p:cNvPr>
          <p:cNvSpPr>
            <a:spLocks noGrp="1"/>
          </p:cNvSpPr>
          <p:nvPr/>
        </p:nvSpPr>
        <p:spPr>
          <a:xfrm>
            <a:off x="35909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找表和字段</a:t>
            </a:r>
          </a:p>
        </p:txBody>
      </p:sp>
      <p:sp>
        <p:nvSpPr>
          <p:cNvPr id="55" name="learn-1-body">
            <a:extLst>
              <a:ext uri="{FF2B5EF4-FFF2-40B4-BE49-F238E27FC236}">
                <a16:creationId xmlns:a16="http://schemas.microsoft.com/office/drawing/2014/main" id="{E5CB33CE-611C-40AF-83CB-15EEADC6F671}"/>
              </a:ext>
            </a:extLst>
          </p:cNvPr>
          <p:cNvSpPr>
            <a:spLocks noGrp="1"/>
          </p:cNvSpPr>
          <p:nvPr/>
        </p:nvSpPr>
        <p:spPr>
          <a:xfrm>
            <a:off x="36099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金额在哪列</a:t>
            </a:r>
            <a:r>
              <a:rPr sz="18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？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日期用哪列</a:t>
            </a:r>
            <a:r>
              <a:rPr sz="18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56" name="learn-2">
            <a:extLst>
              <a:ext uri="{FF2B5EF4-FFF2-40B4-BE49-F238E27FC236}">
                <a16:creationId xmlns:a16="http://schemas.microsoft.com/office/drawing/2014/main" id="{E7F37E94-7AA5-4EAD-8BF9-16DA0032549D}"/>
              </a:ext>
            </a:extLst>
          </p:cNvPr>
          <p:cNvSpPr>
            <a:spLocks noGrp="1"/>
          </p:cNvSpPr>
          <p:nvPr/>
        </p:nvSpPr>
        <p:spPr>
          <a:xfrm>
            <a:off x="62769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learn-2-head">
            <a:extLst>
              <a:ext uri="{FF2B5EF4-FFF2-40B4-BE49-F238E27FC236}">
                <a16:creationId xmlns:a16="http://schemas.microsoft.com/office/drawing/2014/main" id="{5C925E57-99DA-4A6B-989D-A39F1217F6FD}"/>
              </a:ext>
            </a:extLst>
          </p:cNvPr>
          <p:cNvSpPr>
            <a:spLocks noGrp="1"/>
          </p:cNvSpPr>
          <p:nvPr/>
        </p:nvSpPr>
        <p:spPr>
          <a:xfrm>
            <a:off x="63722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确认计算规则</a:t>
            </a:r>
          </a:p>
        </p:txBody>
      </p:sp>
      <p:sp>
        <p:nvSpPr>
          <p:cNvPr id="58" name="learn-2-body">
            <a:extLst>
              <a:ext uri="{FF2B5EF4-FFF2-40B4-BE49-F238E27FC236}">
                <a16:creationId xmlns:a16="http://schemas.microsoft.com/office/drawing/2014/main" id="{FB4E67CC-B5D7-48D0-9CEB-B86FE02F41B5}"/>
              </a:ext>
            </a:extLst>
          </p:cNvPr>
          <p:cNvSpPr>
            <a:spLocks noGrp="1"/>
          </p:cNvSpPr>
          <p:nvPr/>
        </p:nvSpPr>
        <p:spPr>
          <a:xfrm>
            <a:off x="63912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哪些记录该算</a:t>
            </a:r>
            <a:r>
              <a:rPr sz="18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？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表应该怎么连</a:t>
            </a:r>
            <a:r>
              <a:rPr sz="18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59" name="learn-3">
            <a:extLst>
              <a:ext uri="{FF2B5EF4-FFF2-40B4-BE49-F238E27FC236}">
                <a16:creationId xmlns:a16="http://schemas.microsoft.com/office/drawing/2014/main" id="{49B0874F-B6CE-4400-B813-91E21EA6C662}"/>
              </a:ext>
            </a:extLst>
          </p:cNvPr>
          <p:cNvSpPr>
            <a:spLocks noGrp="1"/>
          </p:cNvSpPr>
          <p:nvPr/>
        </p:nvSpPr>
        <p:spPr>
          <a:xfrm>
            <a:off x="9058275" y="2800350"/>
            <a:ext cx="2381250" cy="13049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learn-3-head">
            <a:extLst>
              <a:ext uri="{FF2B5EF4-FFF2-40B4-BE49-F238E27FC236}">
                <a16:creationId xmlns:a16="http://schemas.microsoft.com/office/drawing/2014/main" id="{FAC4E15A-0FB7-485C-B9E6-DD63F04A3C6B}"/>
              </a:ext>
            </a:extLst>
          </p:cNvPr>
          <p:cNvSpPr>
            <a:spLocks noGrp="1"/>
          </p:cNvSpPr>
          <p:nvPr/>
        </p:nvSpPr>
        <p:spPr>
          <a:xfrm>
            <a:off x="91535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写 SQL 回答</a:t>
            </a:r>
          </a:p>
        </p:txBody>
      </p:sp>
      <p:sp>
        <p:nvSpPr>
          <p:cNvPr id="61" name="learn-3-body">
            <a:extLst>
              <a:ext uri="{FF2B5EF4-FFF2-40B4-BE49-F238E27FC236}">
                <a16:creationId xmlns:a16="http://schemas.microsoft.com/office/drawing/2014/main" id="{C23BB019-CA27-46FD-8EA4-7685EA2642CA}"/>
              </a:ext>
            </a:extLst>
          </p:cNvPr>
          <p:cNvSpPr>
            <a:spLocks noGrp="1"/>
          </p:cNvSpPr>
          <p:nvPr/>
        </p:nvSpPr>
        <p:spPr>
          <a:xfrm>
            <a:off x="91725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按规则查询</a:t>
            </a:r>
            <a:endParaRPr sz="1875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得到结果</a:t>
            </a:r>
            <a:endParaRPr sz="1875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D070865-B7CA-4AA9-A7A6-E31DE058FC85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0956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981CC6F-5EFE-45F9-A82E-D1500E58F853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58769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E0BD43A-3E9E-4B42-839A-38CB3E150BAD}"/>
              </a:ext>
            </a:extLst>
          </p:cNvPr>
          <p:cNvCxnSpPr>
            <a:stCxn id="56" idx="3"/>
            <a:endCxn id="59" idx="1"/>
          </p:cNvCxnSpPr>
          <p:nvPr/>
        </p:nvCxnSpPr>
        <p:spPr>
          <a:xfrm>
            <a:off x="86582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5" name="takeaway-band">
            <a:extLst>
              <a:ext uri="{FF2B5EF4-FFF2-40B4-BE49-F238E27FC236}">
                <a16:creationId xmlns:a16="http://schemas.microsoft.com/office/drawing/2014/main" id="{D60AD59F-A1CD-4672-A664-AEF478A2D0BC}"/>
              </a:ext>
            </a:extLst>
          </p:cNvPr>
          <p:cNvSpPr>
            <a:spLocks noGrp="1"/>
          </p:cNvSpPr>
          <p:nvPr/>
        </p:nvSpPr>
        <p:spPr>
          <a:xfrm>
            <a:off x="714375" y="51054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akeaway">
            <a:extLst>
              <a:ext uri="{FF2B5EF4-FFF2-40B4-BE49-F238E27FC236}">
                <a16:creationId xmlns:a16="http://schemas.microsoft.com/office/drawing/2014/main" id="{D1B292BB-5E06-4B2F-AA3B-E23CAE8BA48B}"/>
              </a:ext>
            </a:extLst>
          </p:cNvPr>
          <p:cNvSpPr>
            <a:spLocks noGrp="1"/>
          </p:cNvSpPr>
          <p:nvPr/>
        </p:nvSpPr>
        <p:spPr>
          <a:xfrm>
            <a:off x="866775" y="51625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不同 Agent 会重复查这些信息，学会后可以保存下来共用</a:t>
            </a:r>
          </a:p>
        </p:txBody>
      </p:sp>
      <p:sp>
        <p:nvSpPr>
          <p:cNvPr id="67" name="source-note">
            <a:extLst>
              <a:ext uri="{FF2B5EF4-FFF2-40B4-BE49-F238E27FC236}">
                <a16:creationId xmlns:a16="http://schemas.microsoft.com/office/drawing/2014/main" id="{C24F1BAC-1C5F-4498-9C2E-87D971ECFD8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共享记忆保存计算规则，供其他 Agent 回答类似问题时使用。</a:t>
            </a:r>
          </a:p>
        </p:txBody>
      </p:sp>
      <p:sp>
        <p:nvSpPr>
          <p:cNvPr id="68" name="MAVRA-footer">
            <a:extLst>
              <a:ext uri="{FF2B5EF4-FFF2-40B4-BE49-F238E27FC236}">
                <a16:creationId xmlns:a16="http://schemas.microsoft.com/office/drawing/2014/main" id="{7D9D91D7-678F-4A82-A0CB-D2F4D9FBC809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1C1CB689-733F-48A1-91FD-65D6F8C6B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研究背景：保存的计算方法也可能过时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202359C0-8A7A-196E-DD58-8E6569619F09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setup">
            <a:extLst>
              <a:ext uri="{FF2B5EF4-FFF2-40B4-BE49-F238E27FC236}">
                <a16:creationId xmlns:a16="http://schemas.microsoft.com/office/drawing/2014/main" id="{BA644F19-B964-4EE1-8E05-7CA59F251A6E}"/>
              </a:ext>
            </a:extLst>
          </p:cNvPr>
          <p:cNvSpPr>
            <a:spLocks noGrp="1"/>
          </p:cNvSpPr>
          <p:nvPr/>
        </p:nvSpPr>
        <p:spPr>
          <a:xfrm>
            <a:off x="742950" y="1724025"/>
            <a:ext cx="107061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以前算对的 SQL，数据更新后未必还算得对</a:t>
            </a:r>
          </a:p>
        </p:txBody>
      </p:sp>
      <p:sp>
        <p:nvSpPr>
          <p:cNvPr id="50" name="learn-0">
            <a:extLst>
              <a:ext uri="{FF2B5EF4-FFF2-40B4-BE49-F238E27FC236}">
                <a16:creationId xmlns:a16="http://schemas.microsoft.com/office/drawing/2014/main" id="{52AF9FB7-4689-4AC2-8F91-CBB92D302457}"/>
              </a:ext>
            </a:extLst>
          </p:cNvPr>
          <p:cNvSpPr>
            <a:spLocks noGrp="1"/>
          </p:cNvSpPr>
          <p:nvPr/>
        </p:nvSpPr>
        <p:spPr>
          <a:xfrm>
            <a:off x="7143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learn-0-head">
            <a:extLst>
              <a:ext uri="{FF2B5EF4-FFF2-40B4-BE49-F238E27FC236}">
                <a16:creationId xmlns:a16="http://schemas.microsoft.com/office/drawing/2014/main" id="{2932657C-9A31-4E9A-811B-D3F112FDFE46}"/>
              </a:ext>
            </a:extLst>
          </p:cNvPr>
          <p:cNvSpPr>
            <a:spLocks noGrp="1"/>
          </p:cNvSpPr>
          <p:nvPr/>
        </p:nvSpPr>
        <p:spPr>
          <a:xfrm>
            <a:off x="8096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过去</a:t>
            </a:r>
          </a:p>
        </p:txBody>
      </p:sp>
      <p:sp>
        <p:nvSpPr>
          <p:cNvPr id="52" name="learn-0-body">
            <a:extLst>
              <a:ext uri="{FF2B5EF4-FFF2-40B4-BE49-F238E27FC236}">
                <a16:creationId xmlns:a16="http://schemas.microsoft.com/office/drawing/2014/main" id="{4CAE77B4-4951-4184-982C-70E924303CE6}"/>
              </a:ext>
            </a:extLst>
          </p:cNvPr>
          <p:cNvSpPr>
            <a:spLocks noGrp="1"/>
          </p:cNvSpPr>
          <p:nvPr/>
        </p:nvSpPr>
        <p:spPr>
          <a:xfrm>
            <a:off x="8286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一笔业务一行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旧 SQL 结果正确</a:t>
            </a:r>
          </a:p>
        </p:txBody>
      </p:sp>
      <p:sp>
        <p:nvSpPr>
          <p:cNvPr id="53" name="learn-1">
            <a:extLst>
              <a:ext uri="{FF2B5EF4-FFF2-40B4-BE49-F238E27FC236}">
                <a16:creationId xmlns:a16="http://schemas.microsoft.com/office/drawing/2014/main" id="{4175C286-7E5C-4D5F-868C-AD7EEECF4849}"/>
              </a:ext>
            </a:extLst>
          </p:cNvPr>
          <p:cNvSpPr>
            <a:spLocks noGrp="1"/>
          </p:cNvSpPr>
          <p:nvPr/>
        </p:nvSpPr>
        <p:spPr>
          <a:xfrm>
            <a:off x="34956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learn-1-head">
            <a:extLst>
              <a:ext uri="{FF2B5EF4-FFF2-40B4-BE49-F238E27FC236}">
                <a16:creationId xmlns:a16="http://schemas.microsoft.com/office/drawing/2014/main" id="{E04AF2CF-4049-4189-A488-D4B82FF0E67C}"/>
              </a:ext>
            </a:extLst>
          </p:cNvPr>
          <p:cNvSpPr>
            <a:spLocks noGrp="1"/>
          </p:cNvSpPr>
          <p:nvPr/>
        </p:nvSpPr>
        <p:spPr>
          <a:xfrm>
            <a:off x="35909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数据更新</a:t>
            </a:r>
          </a:p>
        </p:txBody>
      </p:sp>
      <p:sp>
        <p:nvSpPr>
          <p:cNvPr id="55" name="learn-1-body">
            <a:extLst>
              <a:ext uri="{FF2B5EF4-FFF2-40B4-BE49-F238E27FC236}">
                <a16:creationId xmlns:a16="http://schemas.microsoft.com/office/drawing/2014/main" id="{E5CB33CE-611C-40AF-83CB-15EEADC6F671}"/>
              </a:ext>
            </a:extLst>
          </p:cNvPr>
          <p:cNvSpPr>
            <a:spLocks noGrp="1"/>
          </p:cNvSpPr>
          <p:nvPr/>
        </p:nvSpPr>
        <p:spPr>
          <a:xfrm>
            <a:off x="36099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增加状态记录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一笔业务出现多行</a:t>
            </a:r>
          </a:p>
        </p:txBody>
      </p:sp>
      <p:sp>
        <p:nvSpPr>
          <p:cNvPr id="56" name="learn-2">
            <a:extLst>
              <a:ext uri="{FF2B5EF4-FFF2-40B4-BE49-F238E27FC236}">
                <a16:creationId xmlns:a16="http://schemas.microsoft.com/office/drawing/2014/main" id="{E7F37E94-7AA5-4EAD-8BF9-16DA0032549D}"/>
              </a:ext>
            </a:extLst>
          </p:cNvPr>
          <p:cNvSpPr>
            <a:spLocks noGrp="1"/>
          </p:cNvSpPr>
          <p:nvPr/>
        </p:nvSpPr>
        <p:spPr>
          <a:xfrm>
            <a:off x="62769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learn-2-head">
            <a:extLst>
              <a:ext uri="{FF2B5EF4-FFF2-40B4-BE49-F238E27FC236}">
                <a16:creationId xmlns:a16="http://schemas.microsoft.com/office/drawing/2014/main" id="{5C925E57-99DA-4A6B-989D-A39F1217F6FD}"/>
              </a:ext>
            </a:extLst>
          </p:cNvPr>
          <p:cNvSpPr>
            <a:spLocks noGrp="1"/>
          </p:cNvSpPr>
          <p:nvPr/>
        </p:nvSpPr>
        <p:spPr>
          <a:xfrm>
            <a:off x="63722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再次查询</a:t>
            </a:r>
          </a:p>
        </p:txBody>
      </p:sp>
      <p:sp>
        <p:nvSpPr>
          <p:cNvPr id="58" name="learn-2-body">
            <a:extLst>
              <a:ext uri="{FF2B5EF4-FFF2-40B4-BE49-F238E27FC236}">
                <a16:creationId xmlns:a16="http://schemas.microsoft.com/office/drawing/2014/main" id="{FB4E67CC-B5D7-48D0-9CEB-B86FE02F41B5}"/>
              </a:ext>
            </a:extLst>
          </p:cNvPr>
          <p:cNvSpPr>
            <a:spLocks noGrp="1"/>
          </p:cNvSpPr>
          <p:nvPr/>
        </p:nvSpPr>
        <p:spPr>
          <a:xfrm>
            <a:off x="63912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沿用旧 SQL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正常执行、没有报错</a:t>
            </a:r>
          </a:p>
        </p:txBody>
      </p:sp>
      <p:sp>
        <p:nvSpPr>
          <p:cNvPr id="59" name="learn-3">
            <a:extLst>
              <a:ext uri="{FF2B5EF4-FFF2-40B4-BE49-F238E27FC236}">
                <a16:creationId xmlns:a16="http://schemas.microsoft.com/office/drawing/2014/main" id="{49B0874F-B6CE-4400-B813-91E21EA6C662}"/>
              </a:ext>
            </a:extLst>
          </p:cNvPr>
          <p:cNvSpPr>
            <a:spLocks noGrp="1"/>
          </p:cNvSpPr>
          <p:nvPr/>
        </p:nvSpPr>
        <p:spPr>
          <a:xfrm>
            <a:off x="9058275" y="2800350"/>
            <a:ext cx="2381250" cy="13049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learn-3-head">
            <a:extLst>
              <a:ext uri="{FF2B5EF4-FFF2-40B4-BE49-F238E27FC236}">
                <a16:creationId xmlns:a16="http://schemas.microsoft.com/office/drawing/2014/main" id="{FAC4E15A-0FB7-485C-B9E6-DD63F04A3C6B}"/>
              </a:ext>
            </a:extLst>
          </p:cNvPr>
          <p:cNvSpPr>
            <a:spLocks noGrp="1"/>
          </p:cNvSpPr>
          <p:nvPr/>
        </p:nvSpPr>
        <p:spPr>
          <a:xfrm>
            <a:off x="91535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出现问题</a:t>
            </a:r>
          </a:p>
        </p:txBody>
      </p:sp>
      <p:sp>
        <p:nvSpPr>
          <p:cNvPr id="61" name="learn-3-body">
            <a:extLst>
              <a:ext uri="{FF2B5EF4-FFF2-40B4-BE49-F238E27FC236}">
                <a16:creationId xmlns:a16="http://schemas.microsoft.com/office/drawing/2014/main" id="{C23BB019-CA27-46FD-8EA4-7685EA2642CA}"/>
              </a:ext>
            </a:extLst>
          </p:cNvPr>
          <p:cNvSpPr>
            <a:spLocks noGrp="1"/>
          </p:cNvSpPr>
          <p:nvPr/>
        </p:nvSpPr>
        <p:spPr>
          <a:xfrm>
            <a:off x="91725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同一笔金额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被重复计算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D070865-B7CA-4AA9-A7A6-E31DE058FC85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0956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981CC6F-5EFE-45F9-A82E-D1500E58F853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58769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E0BD43A-3E9E-4B42-839A-38CB3E150BAD}"/>
              </a:ext>
            </a:extLst>
          </p:cNvPr>
          <p:cNvCxnSpPr>
            <a:stCxn id="56" idx="3"/>
            <a:endCxn id="59" idx="1"/>
          </p:cNvCxnSpPr>
          <p:nvPr/>
        </p:nvCxnSpPr>
        <p:spPr>
          <a:xfrm>
            <a:off x="86582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5" name="takeaway-band">
            <a:extLst>
              <a:ext uri="{FF2B5EF4-FFF2-40B4-BE49-F238E27FC236}">
                <a16:creationId xmlns:a16="http://schemas.microsoft.com/office/drawing/2014/main" id="{D60AD59F-A1CD-4672-A664-AEF478A2D0BC}"/>
              </a:ext>
            </a:extLst>
          </p:cNvPr>
          <p:cNvSpPr>
            <a:spLocks noGrp="1"/>
          </p:cNvSpPr>
          <p:nvPr/>
        </p:nvSpPr>
        <p:spPr>
          <a:xfrm>
            <a:off x="714375" y="51054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akeaway">
            <a:extLst>
              <a:ext uri="{FF2B5EF4-FFF2-40B4-BE49-F238E27FC236}">
                <a16:creationId xmlns:a16="http://schemas.microsoft.com/office/drawing/2014/main" id="{D1B292BB-5E06-4B2F-AA3B-E23CAE8BA48B}"/>
              </a:ext>
            </a:extLst>
          </p:cNvPr>
          <p:cNvSpPr>
            <a:spLocks noGrp="1"/>
          </p:cNvSpPr>
          <p:nvPr/>
        </p:nvSpPr>
        <p:spPr>
          <a:xfrm>
            <a:off x="866775" y="51625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MAVRA：下次使用时先检查，发现问题再尝试修复</a:t>
            </a:r>
          </a:p>
        </p:txBody>
      </p:sp>
      <p:sp>
        <p:nvSpPr>
          <p:cNvPr id="67" name="source-note">
            <a:extLst>
              <a:ext uri="{FF2B5EF4-FFF2-40B4-BE49-F238E27FC236}">
                <a16:creationId xmlns:a16="http://schemas.microsoft.com/office/drawing/2014/main" id="{C24F1BAC-1C5F-4498-9C2E-87D971ECFD8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下面用三笔退货，看这一问题怎样发生。</a:t>
            </a:r>
          </a:p>
        </p:txBody>
      </p:sp>
      <p:sp>
        <p:nvSpPr>
          <p:cNvPr id="68" name="MAVRA-footer">
            <a:extLst>
              <a:ext uri="{FF2B5EF4-FFF2-40B4-BE49-F238E27FC236}">
                <a16:creationId xmlns:a16="http://schemas.microsoft.com/office/drawing/2014/main" id="{7D9D91D7-678F-4A82-A0CB-D2F4D9FBC809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60B22209-3506-4FD0-B169-E92E03046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用户请求：9 月门店退货金额是多少？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FD6AB9A-5F9E-5F59-51AB-3C8734130965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-19050" y="14302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request">
            <a:extLst>
              <a:ext uri="{FF2B5EF4-FFF2-40B4-BE49-F238E27FC236}">
                <a16:creationId xmlns:a16="http://schemas.microsoft.com/office/drawing/2014/main" id="{11865C83-6D42-4068-862A-F5FA054A1202}"/>
              </a:ext>
            </a:extLst>
          </p:cNvPr>
          <p:cNvSpPr>
            <a:spLocks noGrp="1"/>
          </p:cNvSpPr>
          <p:nvPr/>
        </p:nvSpPr>
        <p:spPr>
          <a:xfrm>
            <a:off x="742950" y="1895475"/>
            <a:ext cx="58102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625" b="1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请统计</a:t>
            </a:r>
            <a:r>
              <a:rPr sz="2625" b="1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9 </a:t>
            </a:r>
            <a:r>
              <a:rPr sz="2625" b="1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月门店退货金额</a:t>
            </a:r>
            <a:r>
              <a:rPr sz="2625" b="1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只计已完成的退货</a:t>
            </a:r>
            <a:r>
              <a:rPr sz="2625" b="1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月份按退货日期计算</a:t>
            </a:r>
            <a:r>
              <a:rPr sz="2625" b="1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。”</a:t>
            </a:r>
          </a:p>
        </p:txBody>
      </p:sp>
      <p:sp>
        <p:nvSpPr>
          <p:cNvPr id="50" name="target-label">
            <a:extLst>
              <a:ext uri="{FF2B5EF4-FFF2-40B4-BE49-F238E27FC236}">
                <a16:creationId xmlns:a16="http://schemas.microsoft.com/office/drawing/2014/main" id="{F9FB115B-393C-46E6-B79A-8A2722FBBD3B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用户需要的结果</a:t>
            </a:r>
          </a:p>
        </p:txBody>
      </p:sp>
      <p:sp>
        <p:nvSpPr>
          <p:cNvPr id="51" name="target">
            <a:extLst>
              <a:ext uri="{FF2B5EF4-FFF2-40B4-BE49-F238E27FC236}">
                <a16:creationId xmlns:a16="http://schemas.microsoft.com/office/drawing/2014/main" id="{B2FE55E2-A738-4E3C-B59E-D082B23A5DAD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4762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graphicFrame>
        <p:nvGraphicFramePr>
          <p:cNvPr id="52" name="learning-data">
            <a:extLst>
              <a:ext uri="{FF2B5EF4-FFF2-40B4-BE49-F238E27FC236}">
                <a16:creationId xmlns:a16="http://schemas.microsoft.com/office/drawing/2014/main" id="{66DC3332-7839-43D4-8BA3-AEF09DAC277A}"/>
              </a:ext>
            </a:extLst>
          </p:cNvPr>
          <p:cNvGraphicFramePr/>
          <p:nvPr/>
        </p:nvGraphicFramePr>
        <p:xfrm>
          <a:off x="7010400" y="2047875"/>
          <a:ext cx="4438650" cy="29718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退货编号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 err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  <a:endParaRPr sz="1875" b="0" dirty="0">
                        <a:solidFill>
                          <a:srgbClr val="20212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able-caption">
            <a:extLst>
              <a:ext uri="{FF2B5EF4-FFF2-40B4-BE49-F238E27FC236}">
                <a16:creationId xmlns:a16="http://schemas.microsoft.com/office/drawing/2014/main" id="{13E01189-0290-4278-9792-F4A094E61105}"/>
              </a:ext>
            </a:extLst>
          </p:cNvPr>
          <p:cNvSpPr>
            <a:spLocks noGrp="1"/>
          </p:cNvSpPr>
          <p:nvPr/>
        </p:nvSpPr>
        <p:spPr>
          <a:xfrm>
            <a:off x="7010400" y="5238750"/>
            <a:ext cx="44386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三笔退货均发生在 9 月</a:t>
            </a:r>
          </a:p>
        </p:txBody>
      </p:sp>
      <p:sp>
        <p:nvSpPr>
          <p:cNvPr id="54" name="source-caveat">
            <a:extLst>
              <a:ext uri="{FF2B5EF4-FFF2-40B4-BE49-F238E27FC236}">
                <a16:creationId xmlns:a16="http://schemas.microsoft.com/office/drawing/2014/main" id="{2CEC15E8-2858-4D1E-9521-B8F520B0B514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讲解例子：用“小票号 / 商品号”标识一笔退货。金额仅用于说明。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599A54FD-E45B-49A4-B787-A8F83A8CE50D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1C1CB689-733F-48A1-91FD-65D6F8C6B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Agent 怎样得到 600 元？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E5B3003-2C54-13C6-9832-7637201064D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setup">
            <a:extLst>
              <a:ext uri="{FF2B5EF4-FFF2-40B4-BE49-F238E27FC236}">
                <a16:creationId xmlns:a16="http://schemas.microsoft.com/office/drawing/2014/main" id="{BA644F19-B964-4EE1-8E05-7CA59F251A6E}"/>
              </a:ext>
            </a:extLst>
          </p:cNvPr>
          <p:cNvSpPr>
            <a:spLocks noGrp="1"/>
          </p:cNvSpPr>
          <p:nvPr/>
        </p:nvSpPr>
        <p:spPr>
          <a:xfrm>
            <a:off x="742950" y="1724025"/>
            <a:ext cx="107061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按照用户说明的规则，一步步写出查询</a:t>
            </a:r>
          </a:p>
        </p:txBody>
      </p:sp>
      <p:sp>
        <p:nvSpPr>
          <p:cNvPr id="50" name="learn-0">
            <a:extLst>
              <a:ext uri="{FF2B5EF4-FFF2-40B4-BE49-F238E27FC236}">
                <a16:creationId xmlns:a16="http://schemas.microsoft.com/office/drawing/2014/main" id="{52AF9FB7-4689-4AC2-8F91-CBB92D302457}"/>
              </a:ext>
            </a:extLst>
          </p:cNvPr>
          <p:cNvSpPr>
            <a:spLocks noGrp="1"/>
          </p:cNvSpPr>
          <p:nvPr/>
        </p:nvSpPr>
        <p:spPr>
          <a:xfrm>
            <a:off x="7143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learn-0-head">
            <a:extLst>
              <a:ext uri="{FF2B5EF4-FFF2-40B4-BE49-F238E27FC236}">
                <a16:creationId xmlns:a16="http://schemas.microsoft.com/office/drawing/2014/main" id="{2932657C-9A31-4E9A-811B-D3F112FDFE46}"/>
              </a:ext>
            </a:extLst>
          </p:cNvPr>
          <p:cNvSpPr>
            <a:spLocks noGrp="1"/>
          </p:cNvSpPr>
          <p:nvPr/>
        </p:nvSpPr>
        <p:spPr>
          <a:xfrm>
            <a:off x="8096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找数据</a:t>
            </a:r>
          </a:p>
        </p:txBody>
      </p:sp>
      <p:sp>
        <p:nvSpPr>
          <p:cNvPr id="52" name="learn-0-body">
            <a:extLst>
              <a:ext uri="{FF2B5EF4-FFF2-40B4-BE49-F238E27FC236}">
                <a16:creationId xmlns:a16="http://schemas.microsoft.com/office/drawing/2014/main" id="{4CAE77B4-4951-4184-982C-70E924303CE6}"/>
              </a:ext>
            </a:extLst>
          </p:cNvPr>
          <p:cNvSpPr>
            <a:spLocks noGrp="1"/>
          </p:cNvSpPr>
          <p:nvPr/>
        </p:nvSpPr>
        <p:spPr>
          <a:xfrm>
            <a:off x="8286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退货金额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状态与日期字段</a:t>
            </a:r>
          </a:p>
        </p:txBody>
      </p:sp>
      <p:sp>
        <p:nvSpPr>
          <p:cNvPr id="53" name="learn-1">
            <a:extLst>
              <a:ext uri="{FF2B5EF4-FFF2-40B4-BE49-F238E27FC236}">
                <a16:creationId xmlns:a16="http://schemas.microsoft.com/office/drawing/2014/main" id="{4175C286-7E5C-4D5F-868C-AD7EEECF4849}"/>
              </a:ext>
            </a:extLst>
          </p:cNvPr>
          <p:cNvSpPr>
            <a:spLocks noGrp="1"/>
          </p:cNvSpPr>
          <p:nvPr/>
        </p:nvSpPr>
        <p:spPr>
          <a:xfrm>
            <a:off x="34956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learn-1-head">
            <a:extLst>
              <a:ext uri="{FF2B5EF4-FFF2-40B4-BE49-F238E27FC236}">
                <a16:creationId xmlns:a16="http://schemas.microsoft.com/office/drawing/2014/main" id="{E04AF2CF-4049-4189-A488-D4B82FF0E67C}"/>
              </a:ext>
            </a:extLst>
          </p:cNvPr>
          <p:cNvSpPr>
            <a:spLocks noGrp="1"/>
          </p:cNvSpPr>
          <p:nvPr/>
        </p:nvSpPr>
        <p:spPr>
          <a:xfrm>
            <a:off x="35909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确认规则</a:t>
            </a:r>
          </a:p>
        </p:txBody>
      </p:sp>
      <p:sp>
        <p:nvSpPr>
          <p:cNvPr id="55" name="learn-1-body">
            <a:extLst>
              <a:ext uri="{FF2B5EF4-FFF2-40B4-BE49-F238E27FC236}">
                <a16:creationId xmlns:a16="http://schemas.microsoft.com/office/drawing/2014/main" id="{E5CB33CE-611C-40AF-83CB-15EEADC6F671}"/>
              </a:ext>
            </a:extLst>
          </p:cNvPr>
          <p:cNvSpPr>
            <a:spLocks noGrp="1"/>
          </p:cNvSpPr>
          <p:nvPr/>
        </p:nvSpPr>
        <p:spPr>
          <a:xfrm>
            <a:off x="36099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按退货日期分月</a:t>
            </a:r>
          </a:p>
        </p:txBody>
      </p:sp>
      <p:sp>
        <p:nvSpPr>
          <p:cNvPr id="56" name="learn-2">
            <a:extLst>
              <a:ext uri="{FF2B5EF4-FFF2-40B4-BE49-F238E27FC236}">
                <a16:creationId xmlns:a16="http://schemas.microsoft.com/office/drawing/2014/main" id="{E7F37E94-7AA5-4EAD-8BF9-16DA0032549D}"/>
              </a:ext>
            </a:extLst>
          </p:cNvPr>
          <p:cNvSpPr>
            <a:spLocks noGrp="1"/>
          </p:cNvSpPr>
          <p:nvPr/>
        </p:nvSpPr>
        <p:spPr>
          <a:xfrm>
            <a:off x="62769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learn-2-head">
            <a:extLst>
              <a:ext uri="{FF2B5EF4-FFF2-40B4-BE49-F238E27FC236}">
                <a16:creationId xmlns:a16="http://schemas.microsoft.com/office/drawing/2014/main" id="{5C925E57-99DA-4A6B-989D-A39F1217F6FD}"/>
              </a:ext>
            </a:extLst>
          </p:cNvPr>
          <p:cNvSpPr>
            <a:spLocks noGrp="1"/>
          </p:cNvSpPr>
          <p:nvPr/>
        </p:nvSpPr>
        <p:spPr>
          <a:xfrm>
            <a:off x="63722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生成查询</a:t>
            </a:r>
          </a:p>
        </p:txBody>
      </p:sp>
      <p:sp>
        <p:nvSpPr>
          <p:cNvPr id="58" name="learn-2-body">
            <a:extLst>
              <a:ext uri="{FF2B5EF4-FFF2-40B4-BE49-F238E27FC236}">
                <a16:creationId xmlns:a16="http://schemas.microsoft.com/office/drawing/2014/main" id="{FB4E67CC-B5D7-48D0-9CEB-B86FE02F41B5}"/>
              </a:ext>
            </a:extLst>
          </p:cNvPr>
          <p:cNvSpPr>
            <a:spLocks noGrp="1"/>
          </p:cNvSpPr>
          <p:nvPr/>
        </p:nvSpPr>
        <p:spPr>
          <a:xfrm>
            <a:off x="63912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筛选 9 月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再对退货金额求和</a:t>
            </a:r>
          </a:p>
        </p:txBody>
      </p:sp>
      <p:sp>
        <p:nvSpPr>
          <p:cNvPr id="59" name="learn-3">
            <a:extLst>
              <a:ext uri="{FF2B5EF4-FFF2-40B4-BE49-F238E27FC236}">
                <a16:creationId xmlns:a16="http://schemas.microsoft.com/office/drawing/2014/main" id="{49B0874F-B6CE-4400-B813-91E21EA6C662}"/>
              </a:ext>
            </a:extLst>
          </p:cNvPr>
          <p:cNvSpPr>
            <a:spLocks noGrp="1"/>
          </p:cNvSpPr>
          <p:nvPr/>
        </p:nvSpPr>
        <p:spPr>
          <a:xfrm>
            <a:off x="9058275" y="2800350"/>
            <a:ext cx="2381250" cy="13049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learn-3-head">
            <a:extLst>
              <a:ext uri="{FF2B5EF4-FFF2-40B4-BE49-F238E27FC236}">
                <a16:creationId xmlns:a16="http://schemas.microsoft.com/office/drawing/2014/main" id="{FAC4E15A-0FB7-485C-B9E6-DD63F04A3C6B}"/>
              </a:ext>
            </a:extLst>
          </p:cNvPr>
          <p:cNvSpPr>
            <a:spLocks noGrp="1"/>
          </p:cNvSpPr>
          <p:nvPr/>
        </p:nvSpPr>
        <p:spPr>
          <a:xfrm>
            <a:off x="91535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得到结果</a:t>
            </a:r>
          </a:p>
        </p:txBody>
      </p:sp>
      <p:sp>
        <p:nvSpPr>
          <p:cNvPr id="61" name="learn-3-body">
            <a:extLst>
              <a:ext uri="{FF2B5EF4-FFF2-40B4-BE49-F238E27FC236}">
                <a16:creationId xmlns:a16="http://schemas.microsoft.com/office/drawing/2014/main" id="{C23BB019-CA27-46FD-8EA4-7685EA2642CA}"/>
              </a:ext>
            </a:extLst>
          </p:cNvPr>
          <p:cNvSpPr>
            <a:spLocks noGrp="1"/>
          </p:cNvSpPr>
          <p:nvPr/>
        </p:nvSpPr>
        <p:spPr>
          <a:xfrm>
            <a:off x="91725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100＋200＋300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D070865-B7CA-4AA9-A7A6-E31DE058FC85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0956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981CC6F-5EFE-45F9-A82E-D1500E58F853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58769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E0BD43A-3E9E-4B42-839A-38CB3E150BAD}"/>
              </a:ext>
            </a:extLst>
          </p:cNvPr>
          <p:cNvCxnSpPr>
            <a:stCxn id="56" idx="3"/>
            <a:endCxn id="59" idx="1"/>
          </p:cNvCxnSpPr>
          <p:nvPr/>
        </p:nvCxnSpPr>
        <p:spPr>
          <a:xfrm>
            <a:off x="86582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5" name="takeaway-band">
            <a:extLst>
              <a:ext uri="{FF2B5EF4-FFF2-40B4-BE49-F238E27FC236}">
                <a16:creationId xmlns:a16="http://schemas.microsoft.com/office/drawing/2014/main" id="{D60AD59F-A1CD-4672-A664-AEF478A2D0BC}"/>
              </a:ext>
            </a:extLst>
          </p:cNvPr>
          <p:cNvSpPr>
            <a:spLocks noGrp="1"/>
          </p:cNvSpPr>
          <p:nvPr/>
        </p:nvSpPr>
        <p:spPr>
          <a:xfrm>
            <a:off x="714375" y="51054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akeaway">
            <a:extLst>
              <a:ext uri="{FF2B5EF4-FFF2-40B4-BE49-F238E27FC236}">
                <a16:creationId xmlns:a16="http://schemas.microsoft.com/office/drawing/2014/main" id="{D1B292BB-5E06-4B2F-AA3B-E23CAE8BA48B}"/>
              </a:ext>
            </a:extLst>
          </p:cNvPr>
          <p:cNvSpPr>
            <a:spLocks noGrp="1"/>
          </p:cNvSpPr>
          <p:nvPr/>
        </p:nvSpPr>
        <p:spPr>
          <a:xfrm>
            <a:off x="866775" y="51625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本次学到的知识：哪些记录该算，以及怎样计算</a:t>
            </a:r>
          </a:p>
        </p:txBody>
      </p:sp>
      <p:sp>
        <p:nvSpPr>
          <p:cNvPr id="67" name="source-note">
            <a:extLst>
              <a:ext uri="{FF2B5EF4-FFF2-40B4-BE49-F238E27FC236}">
                <a16:creationId xmlns:a16="http://schemas.microsoft.com/office/drawing/2014/main" id="{C24F1BAC-1C5F-4498-9C2E-87D971ECFD8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这里用退货例子说明过程，下一页看门店营业额的真实运行记录。</a:t>
            </a:r>
          </a:p>
        </p:txBody>
      </p:sp>
      <p:sp>
        <p:nvSpPr>
          <p:cNvPr id="68" name="MAVRA-footer">
            <a:extLst>
              <a:ext uri="{FF2B5EF4-FFF2-40B4-BE49-F238E27FC236}">
                <a16:creationId xmlns:a16="http://schemas.microsoft.com/office/drawing/2014/main" id="{7D9D91D7-678F-4A82-A0CB-D2F4D9FBC809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38AD3EA5-F76D-48F0-9C7F-65D542F0F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真实运行：Agent 的 7 次工具调用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8C630A04-5A25-9E0C-9436-126091DB86B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real-question">
            <a:extLst>
              <a:ext uri="{FF2B5EF4-FFF2-40B4-BE49-F238E27FC236}">
                <a16:creationId xmlns:a16="http://schemas.microsoft.com/office/drawing/2014/main" id="{F544FB8E-9CE6-484A-B6D7-9D5C768C3660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10706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学习题：3 月门店营业额是多少？</a:t>
            </a:r>
          </a:p>
        </p:txBody>
      </p:sp>
      <p:sp>
        <p:nvSpPr>
          <p:cNvPr id="50" name="call-num-0">
            <a:extLst>
              <a:ext uri="{FF2B5EF4-FFF2-40B4-BE49-F238E27FC236}">
                <a16:creationId xmlns:a16="http://schemas.microsoft.com/office/drawing/2014/main" id="{E18111C8-9C33-4442-80B9-C6CAEA90CE59}"/>
              </a:ext>
            </a:extLst>
          </p:cNvPr>
          <p:cNvSpPr>
            <a:spLocks noGrp="1"/>
          </p:cNvSpPr>
          <p:nvPr/>
        </p:nvSpPr>
        <p:spPr>
          <a:xfrm>
            <a:off x="752475" y="219075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call-name-0">
            <a:extLst>
              <a:ext uri="{FF2B5EF4-FFF2-40B4-BE49-F238E27FC236}">
                <a16:creationId xmlns:a16="http://schemas.microsoft.com/office/drawing/2014/main" id="{E1740B59-8992-4BB5-929D-0C6CD9482E6B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list_tables()</a:t>
            </a:r>
          </a:p>
        </p:txBody>
      </p:sp>
      <p:sp>
        <p:nvSpPr>
          <p:cNvPr id="52" name="call-result-0">
            <a:extLst>
              <a:ext uri="{FF2B5EF4-FFF2-40B4-BE49-F238E27FC236}">
                <a16:creationId xmlns:a16="http://schemas.microsoft.com/office/drawing/2014/main" id="{A56865C7-62FA-40F2-99EA-E3D759FCA95A}"/>
              </a:ext>
            </a:extLst>
          </p:cNvPr>
          <p:cNvSpPr>
            <a:spLocks noGrp="1"/>
          </p:cNvSpPr>
          <p:nvPr/>
        </p:nvSpPr>
        <p:spPr>
          <a:xfrm>
            <a:off x="5572125" y="21907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张表及说明</a:t>
            </a:r>
          </a:p>
        </p:txBody>
      </p:sp>
      <p:sp>
        <p:nvSpPr>
          <p:cNvPr id="53" name="call-num-1">
            <a:extLst>
              <a:ext uri="{FF2B5EF4-FFF2-40B4-BE49-F238E27FC236}">
                <a16:creationId xmlns:a16="http://schemas.microsoft.com/office/drawing/2014/main" id="{629B77B1-AC54-4ED2-9336-128869BD4917}"/>
              </a:ext>
            </a:extLst>
          </p:cNvPr>
          <p:cNvSpPr>
            <a:spLocks noGrp="1"/>
          </p:cNvSpPr>
          <p:nvPr/>
        </p:nvSpPr>
        <p:spPr>
          <a:xfrm>
            <a:off x="752475" y="2600325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4" name="call-name-1">
            <a:extLst>
              <a:ext uri="{FF2B5EF4-FFF2-40B4-BE49-F238E27FC236}">
                <a16:creationId xmlns:a16="http://schemas.microsoft.com/office/drawing/2014/main" id="{73E21980-C28C-4AE7-8E9B-09B0DE544DB0}"/>
              </a:ext>
            </a:extLst>
          </p:cNvPr>
          <p:cNvSpPr>
            <a:spLocks noGrp="1"/>
          </p:cNvSpPr>
          <p:nvPr/>
        </p:nvSpPr>
        <p:spPr>
          <a:xfrm>
            <a:off x="1123950" y="260032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find_metric("门店营业额")</a:t>
            </a:r>
          </a:p>
        </p:txBody>
      </p:sp>
      <p:sp>
        <p:nvSpPr>
          <p:cNvPr id="55" name="call-result-1">
            <a:extLst>
              <a:ext uri="{FF2B5EF4-FFF2-40B4-BE49-F238E27FC236}">
                <a16:creationId xmlns:a16="http://schemas.microsoft.com/office/drawing/2014/main" id="{B9BC3628-C6BB-4104-AB2C-4219A2369C25}"/>
              </a:ext>
            </a:extLst>
          </p:cNvPr>
          <p:cNvSpPr>
            <a:spLocks noGrp="1"/>
          </p:cNvSpPr>
          <p:nvPr/>
        </p:nvSpPr>
        <p:spPr>
          <a:xfrm>
            <a:off x="5572125" y="260032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没有已检查的规则</a:t>
            </a:r>
          </a:p>
        </p:txBody>
      </p:sp>
      <p:sp>
        <p:nvSpPr>
          <p:cNvPr id="56" name="call-num-2">
            <a:extLst>
              <a:ext uri="{FF2B5EF4-FFF2-40B4-BE49-F238E27FC236}">
                <a16:creationId xmlns:a16="http://schemas.microsoft.com/office/drawing/2014/main" id="{680FFBA0-1E76-43C4-8F81-A7E57F3D3F5A}"/>
              </a:ext>
            </a:extLst>
          </p:cNvPr>
          <p:cNvSpPr>
            <a:spLocks noGrp="1"/>
          </p:cNvSpPr>
          <p:nvPr/>
        </p:nvSpPr>
        <p:spPr>
          <a:xfrm>
            <a:off x="752475" y="300990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7" name="call-name-2">
            <a:extLst>
              <a:ext uri="{FF2B5EF4-FFF2-40B4-BE49-F238E27FC236}">
                <a16:creationId xmlns:a16="http://schemas.microsoft.com/office/drawing/2014/main" id="{D3776485-6634-400C-946B-73AC2819083D}"/>
              </a:ext>
            </a:extLst>
          </p:cNvPr>
          <p:cNvSpPr>
            <a:spLocks noGrp="1"/>
          </p:cNvSpPr>
          <p:nvPr/>
        </p:nvSpPr>
        <p:spPr>
          <a:xfrm>
            <a:off x="1123950" y="300990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describe_table(store_sales)</a:t>
            </a:r>
          </a:p>
        </p:txBody>
      </p:sp>
      <p:sp>
        <p:nvSpPr>
          <p:cNvPr id="58" name="call-result-2">
            <a:extLst>
              <a:ext uri="{FF2B5EF4-FFF2-40B4-BE49-F238E27FC236}">
                <a16:creationId xmlns:a16="http://schemas.microsoft.com/office/drawing/2014/main" id="{1ADD6881-F7A0-4860-86F3-9471E0A06A66}"/>
              </a:ext>
            </a:extLst>
          </p:cNvPr>
          <p:cNvSpPr>
            <a:spLocks noGrp="1"/>
          </p:cNvSpPr>
          <p:nvPr/>
        </p:nvSpPr>
        <p:spPr>
          <a:xfrm>
            <a:off x="5572125" y="30099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金额、日期等字段</a:t>
            </a:r>
          </a:p>
        </p:txBody>
      </p:sp>
      <p:sp>
        <p:nvSpPr>
          <p:cNvPr id="59" name="call-num-3">
            <a:extLst>
              <a:ext uri="{FF2B5EF4-FFF2-40B4-BE49-F238E27FC236}">
                <a16:creationId xmlns:a16="http://schemas.microsoft.com/office/drawing/2014/main" id="{CBDB39E4-1105-4EDB-ABC5-57F74B19FCB2}"/>
              </a:ext>
            </a:extLst>
          </p:cNvPr>
          <p:cNvSpPr>
            <a:spLocks noGrp="1"/>
          </p:cNvSpPr>
          <p:nvPr/>
        </p:nvSpPr>
        <p:spPr>
          <a:xfrm>
            <a:off x="752475" y="3419475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0" name="call-name-3">
            <a:extLst>
              <a:ext uri="{FF2B5EF4-FFF2-40B4-BE49-F238E27FC236}">
                <a16:creationId xmlns:a16="http://schemas.microsoft.com/office/drawing/2014/main" id="{FAC7295E-C20A-460B-A740-90174FD895E0}"/>
              </a:ext>
            </a:extLst>
          </p:cNvPr>
          <p:cNvSpPr>
            <a:spLocks noGrp="1"/>
          </p:cNvSpPr>
          <p:nvPr/>
        </p:nvSpPr>
        <p:spPr>
          <a:xfrm>
            <a:off x="1123950" y="341947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describe_table</a:t>
            </a:r>
            <a:r>
              <a:rPr sz="16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6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date_dim</a:t>
            </a:r>
            <a:r>
              <a:rPr sz="16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sp>
        <p:nvSpPr>
          <p:cNvPr id="61" name="call-result-3">
            <a:extLst>
              <a:ext uri="{FF2B5EF4-FFF2-40B4-BE49-F238E27FC236}">
                <a16:creationId xmlns:a16="http://schemas.microsoft.com/office/drawing/2014/main" id="{12C74DE6-1E9F-4ECE-8934-2C71E8F08A99}"/>
              </a:ext>
            </a:extLst>
          </p:cNvPr>
          <p:cNvSpPr>
            <a:spLocks noGrp="1"/>
          </p:cNvSpPr>
          <p:nvPr/>
        </p:nvSpPr>
        <p:spPr>
          <a:xfrm>
            <a:off x="5572125" y="341947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日期字段与类型</a:t>
            </a:r>
          </a:p>
        </p:txBody>
      </p:sp>
      <p:sp>
        <p:nvSpPr>
          <p:cNvPr id="62" name="call-num-4">
            <a:extLst>
              <a:ext uri="{FF2B5EF4-FFF2-40B4-BE49-F238E27FC236}">
                <a16:creationId xmlns:a16="http://schemas.microsoft.com/office/drawing/2014/main" id="{B183426D-8257-48F9-BDE1-24CECA80CD4F}"/>
              </a:ext>
            </a:extLst>
          </p:cNvPr>
          <p:cNvSpPr>
            <a:spLocks noGrp="1"/>
          </p:cNvSpPr>
          <p:nvPr/>
        </p:nvSpPr>
        <p:spPr>
          <a:xfrm>
            <a:off x="752475" y="382905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3" name="call-name-4">
            <a:extLst>
              <a:ext uri="{FF2B5EF4-FFF2-40B4-BE49-F238E27FC236}">
                <a16:creationId xmlns:a16="http://schemas.microsoft.com/office/drawing/2014/main" id="{86118D9B-6F32-4DB1-A88F-1B8EE3D71F76}"/>
              </a:ext>
            </a:extLst>
          </p:cNvPr>
          <p:cNvSpPr>
            <a:spLocks noGrp="1"/>
          </p:cNvSpPr>
          <p:nvPr/>
        </p:nvSpPr>
        <p:spPr>
          <a:xfrm>
            <a:off x="1123950" y="382905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join_path</a:t>
            </a:r>
            <a:r>
              <a:rPr sz="16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6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store_sales</a:t>
            </a:r>
            <a:r>
              <a:rPr sz="16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6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date_dim</a:t>
            </a:r>
            <a:r>
              <a:rPr sz="16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sp>
        <p:nvSpPr>
          <p:cNvPr id="64" name="call-result-4">
            <a:extLst>
              <a:ext uri="{FF2B5EF4-FFF2-40B4-BE49-F238E27FC236}">
                <a16:creationId xmlns:a16="http://schemas.microsoft.com/office/drawing/2014/main" id="{5D9C4BC9-550A-440F-ABAD-5C92AA469252}"/>
              </a:ext>
            </a:extLst>
          </p:cNvPr>
          <p:cNvSpPr>
            <a:spLocks noGrp="1"/>
          </p:cNvSpPr>
          <p:nvPr/>
        </p:nvSpPr>
        <p:spPr>
          <a:xfrm>
            <a:off x="5572125" y="38290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98.97% 能找到日期</a:t>
            </a:r>
          </a:p>
        </p:txBody>
      </p:sp>
      <p:sp>
        <p:nvSpPr>
          <p:cNvPr id="65" name="call-num-5">
            <a:extLst>
              <a:ext uri="{FF2B5EF4-FFF2-40B4-BE49-F238E27FC236}">
                <a16:creationId xmlns:a16="http://schemas.microsoft.com/office/drawing/2014/main" id="{DBAF91E5-9712-4562-9BF4-E01ED17157BC}"/>
              </a:ext>
            </a:extLst>
          </p:cNvPr>
          <p:cNvSpPr>
            <a:spLocks noGrp="1"/>
          </p:cNvSpPr>
          <p:nvPr/>
        </p:nvSpPr>
        <p:spPr>
          <a:xfrm>
            <a:off x="752475" y="4238625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66" name="call-name-5">
            <a:extLst>
              <a:ext uri="{FF2B5EF4-FFF2-40B4-BE49-F238E27FC236}">
                <a16:creationId xmlns:a16="http://schemas.microsoft.com/office/drawing/2014/main" id="{E55B7AB5-3FCC-4C80-8A5C-E1BD9CF5F895}"/>
              </a:ext>
            </a:extLst>
          </p:cNvPr>
          <p:cNvSpPr>
            <a:spLocks noGrp="1"/>
          </p:cNvSpPr>
          <p:nvPr/>
        </p:nvSpPr>
        <p:spPr>
          <a:xfrm>
            <a:off x="1123950" y="423862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run_sql(...)</a:t>
            </a:r>
          </a:p>
        </p:txBody>
      </p:sp>
      <p:sp>
        <p:nvSpPr>
          <p:cNvPr id="67" name="call-result-5">
            <a:extLst>
              <a:ext uri="{FF2B5EF4-FFF2-40B4-BE49-F238E27FC236}">
                <a16:creationId xmlns:a16="http://schemas.microsoft.com/office/drawing/2014/main" id="{6EBFFC3B-C16C-4531-853C-F421AF445C16}"/>
              </a:ext>
            </a:extLst>
          </p:cNvPr>
          <p:cNvSpPr>
            <a:spLocks noGrp="1"/>
          </p:cNvSpPr>
          <p:nvPr/>
        </p:nvSpPr>
        <p:spPr>
          <a:xfrm>
            <a:off x="5572125" y="423862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68" name="call-num-6">
            <a:extLst>
              <a:ext uri="{FF2B5EF4-FFF2-40B4-BE49-F238E27FC236}">
                <a16:creationId xmlns:a16="http://schemas.microsoft.com/office/drawing/2014/main" id="{32B98D49-5A19-4FAB-B7BF-8DDE3FCEBAEF}"/>
              </a:ext>
            </a:extLst>
          </p:cNvPr>
          <p:cNvSpPr>
            <a:spLocks noGrp="1"/>
          </p:cNvSpPr>
          <p:nvPr/>
        </p:nvSpPr>
        <p:spPr>
          <a:xfrm>
            <a:off x="752475" y="464820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69" name="call-name-6">
            <a:extLst>
              <a:ext uri="{FF2B5EF4-FFF2-40B4-BE49-F238E27FC236}">
                <a16:creationId xmlns:a16="http://schemas.microsoft.com/office/drawing/2014/main" id="{D5F66E99-0BA3-4AF6-B7F4-3E3D910C926E}"/>
              </a:ext>
            </a:extLst>
          </p:cNvPr>
          <p:cNvSpPr>
            <a:spLocks noGrp="1"/>
          </p:cNvSpPr>
          <p:nvPr/>
        </p:nvSpPr>
        <p:spPr>
          <a:xfrm>
            <a:off x="1123950" y="464820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final_answer</a:t>
            </a:r>
            <a:r>
              <a:rPr sz="16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(...)</a:t>
            </a:r>
          </a:p>
        </p:txBody>
      </p:sp>
      <p:sp>
        <p:nvSpPr>
          <p:cNvPr id="70" name="call-result-6">
            <a:extLst>
              <a:ext uri="{FF2B5EF4-FFF2-40B4-BE49-F238E27FC236}">
                <a16:creationId xmlns:a16="http://schemas.microsoft.com/office/drawing/2014/main" id="{97F54D9C-E1BC-4985-9FE5-B7A1F7A7EB17}"/>
              </a:ext>
            </a:extLst>
          </p:cNvPr>
          <p:cNvSpPr>
            <a:spLocks noGrp="1"/>
          </p:cNvSpPr>
          <p:nvPr/>
        </p:nvSpPr>
        <p:spPr>
          <a:xfrm>
            <a:off x="5572125" y="46482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答案正确</a:t>
            </a:r>
          </a:p>
        </p:txBody>
      </p:sp>
      <p:sp>
        <p:nvSpPr>
          <p:cNvPr id="71" name="query-label">
            <a:extLst>
              <a:ext uri="{FF2B5EF4-FFF2-40B4-BE49-F238E27FC236}">
                <a16:creationId xmlns:a16="http://schemas.microsoft.com/office/drawing/2014/main" id="{32AD7FA8-0D78-4EEA-BCA3-A794843F4B66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347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第 6 次调用的 SQL</a:t>
            </a:r>
          </a:p>
        </p:txBody>
      </p:sp>
      <p:sp>
        <p:nvSpPr>
          <p:cNvPr id="72" name="learning-sql-back">
            <a:extLst>
              <a:ext uri="{FF2B5EF4-FFF2-40B4-BE49-F238E27FC236}">
                <a16:creationId xmlns:a16="http://schemas.microsoft.com/office/drawing/2014/main" id="{C1CB1D24-0AE1-4489-96A7-B0525849690B}"/>
              </a:ext>
            </a:extLst>
          </p:cNvPr>
          <p:cNvSpPr>
            <a:spLocks noGrp="1"/>
          </p:cNvSpPr>
          <p:nvPr/>
        </p:nvSpPr>
        <p:spPr>
          <a:xfrm>
            <a:off x="7886700" y="2571750"/>
            <a:ext cx="3590925" cy="2600325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learning-sql">
            <a:extLst>
              <a:ext uri="{FF2B5EF4-FFF2-40B4-BE49-F238E27FC236}">
                <a16:creationId xmlns:a16="http://schemas.microsoft.com/office/drawing/2014/main" id="{1A7BC719-55E4-4AA7-A958-3077B95B74EC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3362325" cy="2447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SELECT ROUND(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SUM(ss.ss_net_paid), 2)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FROM store_sales ss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JOIN date_dim d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ON ss.ss_sold_date_sk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   = d.d_date_sk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WHERE d.d_year = :年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d.d_moy = 3</a:t>
            </a:r>
          </a:p>
        </p:txBody>
      </p:sp>
      <p:sp>
        <p:nvSpPr>
          <p:cNvPr id="74" name="takeaway-band">
            <a:extLst>
              <a:ext uri="{FF2B5EF4-FFF2-40B4-BE49-F238E27FC236}">
                <a16:creationId xmlns:a16="http://schemas.microsoft.com/office/drawing/2014/main" id="{047744DB-5189-40C9-AF5D-F10504BE53AE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akeaway">
            <a:extLst>
              <a:ext uri="{FF2B5EF4-FFF2-40B4-BE49-F238E27FC236}">
                <a16:creationId xmlns:a16="http://schemas.microsoft.com/office/drawing/2014/main" id="{CEDFDA78-08B6-4140-8B70-BA6DA90615BA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 5 轮、7 </a:t>
            </a:r>
            <a:r>
              <a:rPr sz="2175" b="1" dirty="0" err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次工具调用，工具执行共用时</a:t>
            </a:r>
            <a:r>
              <a:rPr sz="2175" b="1" dirty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 0.3 秒</a:t>
            </a:r>
          </a:p>
        </p:txBody>
      </p:sp>
      <p:sp>
        <p:nvSpPr>
          <p:cNvPr id="76" name="source-note">
            <a:extLst>
              <a:ext uri="{FF2B5EF4-FFF2-40B4-BE49-F238E27FC236}">
                <a16:creationId xmlns:a16="http://schemas.microsoft.com/office/drawing/2014/main" id="{E1C5AF65-3A2E-4952-A9EA-1B0C9BAF9CC1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 M1-L1，金额单位为元。年份用参数表示；0.3 秒不含模型思考时间。</a:t>
            </a:r>
          </a:p>
        </p:txBody>
      </p:sp>
      <p:sp>
        <p:nvSpPr>
          <p:cNvPr id="77" name="MAVRA-footer">
            <a:extLst>
              <a:ext uri="{FF2B5EF4-FFF2-40B4-BE49-F238E27FC236}">
                <a16:creationId xmlns:a16="http://schemas.microsoft.com/office/drawing/2014/main" id="{D7263969-8BD6-4108-864B-EA53F2C0722E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341924C9-128A-4088-B8F1-E02F8832E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下一位 Agent 怎样使用已有的计算规则？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3D7D1C8-AE23-AA48-DF65-C742588DBE4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reuse-request">
            <a:extLst>
              <a:ext uri="{FF2B5EF4-FFF2-40B4-BE49-F238E27FC236}">
                <a16:creationId xmlns:a16="http://schemas.microsoft.com/office/drawing/2014/main" id="{90B08EE4-E5BF-4B28-A16C-480F638DB3AE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新的请求：统计 10 月退货金额</a:t>
            </a:r>
          </a:p>
        </p:txBody>
      </p:sp>
      <p:sp>
        <p:nvSpPr>
          <p:cNvPr id="50" name="new-user">
            <a:extLst>
              <a:ext uri="{FF2B5EF4-FFF2-40B4-BE49-F238E27FC236}">
                <a16:creationId xmlns:a16="http://schemas.microsoft.com/office/drawing/2014/main" id="{1B0C3EEB-DF0B-4C9F-A343-FA5FD7BC9434}"/>
              </a:ext>
            </a:extLst>
          </p:cNvPr>
          <p:cNvSpPr>
            <a:spLocks noGrp="1"/>
          </p:cNvSpPr>
          <p:nvPr/>
        </p:nvSpPr>
        <p:spPr>
          <a:xfrm>
            <a:off x="714375" y="2762250"/>
            <a:ext cx="2362200" cy="12192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new-user-head">
            <a:extLst>
              <a:ext uri="{FF2B5EF4-FFF2-40B4-BE49-F238E27FC236}">
                <a16:creationId xmlns:a16="http://schemas.microsoft.com/office/drawing/2014/main" id="{9EE89E6B-3B67-4FB3-9417-E23EC40C0835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21717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用户 Agent</a:t>
            </a:r>
          </a:p>
        </p:txBody>
      </p:sp>
      <p:sp>
        <p:nvSpPr>
          <p:cNvPr id="52" name="new-user-body">
            <a:extLst>
              <a:ext uri="{FF2B5EF4-FFF2-40B4-BE49-F238E27FC236}">
                <a16:creationId xmlns:a16="http://schemas.microsoft.com/office/drawing/2014/main" id="{D5E6E6FC-4334-49E1-ACB4-FA664D68D300}"/>
              </a:ext>
            </a:extLst>
          </p:cNvPr>
          <p:cNvSpPr>
            <a:spLocks noGrp="1"/>
          </p:cNvSpPr>
          <p:nvPr/>
        </p:nvSpPr>
        <p:spPr>
          <a:xfrm>
            <a:off x="828675" y="3209925"/>
            <a:ext cx="21336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接到</a:t>
            </a:r>
            <a:r>
              <a:rPr sz="18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10 </a:t>
            </a:r>
            <a:r>
              <a:rPr sz="18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月请求</a:t>
            </a:r>
            <a:endParaRPr sz="1875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find-def">
            <a:extLst>
              <a:ext uri="{FF2B5EF4-FFF2-40B4-BE49-F238E27FC236}">
                <a16:creationId xmlns:a16="http://schemas.microsoft.com/office/drawing/2014/main" id="{441559E4-52ED-40F8-B785-1483F81D52AD}"/>
              </a:ext>
            </a:extLst>
          </p:cNvPr>
          <p:cNvSpPr>
            <a:spLocks noGrp="1"/>
          </p:cNvSpPr>
          <p:nvPr/>
        </p:nvSpPr>
        <p:spPr>
          <a:xfrm>
            <a:off x="3543300" y="2762250"/>
            <a:ext cx="2952750" cy="1219200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find-def-head">
            <a:extLst>
              <a:ext uri="{FF2B5EF4-FFF2-40B4-BE49-F238E27FC236}">
                <a16:creationId xmlns:a16="http://schemas.microsoft.com/office/drawing/2014/main" id="{80346831-D8C5-4873-A97D-B4B8D53872F7}"/>
              </a:ext>
            </a:extLst>
          </p:cNvPr>
          <p:cNvSpPr>
            <a:spLocks noGrp="1"/>
          </p:cNvSpPr>
          <p:nvPr/>
        </p:nvSpPr>
        <p:spPr>
          <a:xfrm>
            <a:off x="3638550" y="2847975"/>
            <a:ext cx="2762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获取已有规则</a:t>
            </a:r>
          </a:p>
        </p:txBody>
      </p:sp>
      <p:sp>
        <p:nvSpPr>
          <p:cNvPr id="55" name="find-def-body">
            <a:extLst>
              <a:ext uri="{FF2B5EF4-FFF2-40B4-BE49-F238E27FC236}">
                <a16:creationId xmlns:a16="http://schemas.microsoft.com/office/drawing/2014/main" id="{3499629E-889F-46B4-B861-B21C8FB0A891}"/>
              </a:ext>
            </a:extLst>
          </p:cNvPr>
          <p:cNvSpPr>
            <a:spLocks noGrp="1"/>
          </p:cNvSpPr>
          <p:nvPr/>
        </p:nvSpPr>
        <p:spPr>
          <a:xfrm>
            <a:off x="3657600" y="3209925"/>
            <a:ext cx="27241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计算规则＋查询示例</a:t>
            </a:r>
            <a:endParaRPr sz="1800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current-exec">
            <a:extLst>
              <a:ext uri="{FF2B5EF4-FFF2-40B4-BE49-F238E27FC236}">
                <a16:creationId xmlns:a16="http://schemas.microsoft.com/office/drawing/2014/main" id="{5A1719B8-D11F-4D98-B9B4-F6AC70475BD6}"/>
              </a:ext>
            </a:extLst>
          </p:cNvPr>
          <p:cNvSpPr>
            <a:spLocks noGrp="1"/>
          </p:cNvSpPr>
          <p:nvPr/>
        </p:nvSpPr>
        <p:spPr>
          <a:xfrm>
            <a:off x="7086600" y="2762250"/>
            <a:ext cx="4381500" cy="12192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current-exec-head">
            <a:extLst>
              <a:ext uri="{FF2B5EF4-FFF2-40B4-BE49-F238E27FC236}">
                <a16:creationId xmlns:a16="http://schemas.microsoft.com/office/drawing/2014/main" id="{DA5AEB61-B0CE-4532-B8F3-5C3F0D9CBDDA}"/>
              </a:ext>
            </a:extLst>
          </p:cNvPr>
          <p:cNvSpPr>
            <a:spLocks noGrp="1"/>
          </p:cNvSpPr>
          <p:nvPr/>
        </p:nvSpPr>
        <p:spPr>
          <a:xfrm>
            <a:off x="7181850" y="2847975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查询当前数据</a:t>
            </a:r>
          </a:p>
        </p:txBody>
      </p:sp>
      <p:sp>
        <p:nvSpPr>
          <p:cNvPr id="58" name="current-exec-body">
            <a:extLst>
              <a:ext uri="{FF2B5EF4-FFF2-40B4-BE49-F238E27FC236}">
                <a16:creationId xmlns:a16="http://schemas.microsoft.com/office/drawing/2014/main" id="{EDB18A2C-4BD1-4DB8-88FE-998A6F99B34C}"/>
              </a:ext>
            </a:extLst>
          </p:cNvPr>
          <p:cNvSpPr>
            <a:spLocks noGrp="1"/>
          </p:cNvSpPr>
          <p:nvPr/>
        </p:nvSpPr>
        <p:spPr>
          <a:xfrm>
            <a:off x="7200900" y="3209925"/>
            <a:ext cx="4152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把月份改成 10 月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DCADF6D-B772-445C-9C41-42BACF119A4B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076575" y="3371850"/>
            <a:ext cx="46672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B3EED47-433A-4EF5-A9D6-43A8F2AF91D9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6496050" y="3371850"/>
            <a:ext cx="5905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1" name="takeaway-band">
            <a:extLst>
              <a:ext uri="{FF2B5EF4-FFF2-40B4-BE49-F238E27FC236}">
                <a16:creationId xmlns:a16="http://schemas.microsoft.com/office/drawing/2014/main" id="{0061E89D-8E4B-44B2-8052-353FD2D2C69E}"/>
              </a:ext>
            </a:extLst>
          </p:cNvPr>
          <p:cNvSpPr>
            <a:spLocks noGrp="1"/>
          </p:cNvSpPr>
          <p:nvPr/>
        </p:nvSpPr>
        <p:spPr>
          <a:xfrm>
            <a:off x="714375" y="51339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akeaway">
            <a:extLst>
              <a:ext uri="{FF2B5EF4-FFF2-40B4-BE49-F238E27FC236}">
                <a16:creationId xmlns:a16="http://schemas.microsoft.com/office/drawing/2014/main" id="{EA6D2577-4969-4976-BE87-6951BF418B0F}"/>
              </a:ext>
            </a:extLst>
          </p:cNvPr>
          <p:cNvSpPr>
            <a:spLocks noGrp="1"/>
          </p:cNvSpPr>
          <p:nvPr/>
        </p:nvSpPr>
        <p:spPr>
          <a:xfrm>
            <a:off x="866775" y="51911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计算规则可以共用，每次都用当前数据重新计算</a:t>
            </a:r>
          </a:p>
        </p:txBody>
      </p:sp>
      <p:sp>
        <p:nvSpPr>
          <p:cNvPr id="63" name="source-note">
            <a:extLst>
              <a:ext uri="{FF2B5EF4-FFF2-40B4-BE49-F238E27FC236}">
                <a16:creationId xmlns:a16="http://schemas.microsoft.com/office/drawing/2014/main" id="{FBF36534-44B3-409A-8791-B37A6006933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退货例子：使用时说明采用哪个版本，并检查该版本的使用条件。</a:t>
            </a:r>
          </a:p>
        </p:txBody>
      </p:sp>
      <p:sp>
        <p:nvSpPr>
          <p:cNvPr id="64" name="MAVRA-footer">
            <a:extLst>
              <a:ext uri="{FF2B5EF4-FFF2-40B4-BE49-F238E27FC236}">
                <a16:creationId xmlns:a16="http://schemas.microsoft.com/office/drawing/2014/main" id="{D90FFF55-28CE-4684-ACDD-3CA3442560F5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564C44A8-E9F9-4229-9EDC-7FD37BD6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数据变化：同一笔退货出现了两种状态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A58DA2A-B818-18A9-29C1-B697728D5BC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49" name="after-update">
            <a:extLst>
              <a:ext uri="{FF2B5EF4-FFF2-40B4-BE49-F238E27FC236}">
                <a16:creationId xmlns:a16="http://schemas.microsoft.com/office/drawing/2014/main" id="{773AA98B-2436-4512-96A2-7C5DB2C4844A}"/>
              </a:ext>
            </a:extLst>
          </p:cNvPr>
          <p:cNvGraphicFramePr/>
          <p:nvPr/>
        </p:nvGraphicFramePr>
        <p:xfrm>
          <a:off x="685800" y="1876425"/>
          <a:ext cx="6191250" cy="3524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退货编号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" name="bad-label">
            <a:extLst>
              <a:ext uri="{FF2B5EF4-FFF2-40B4-BE49-F238E27FC236}">
                <a16:creationId xmlns:a16="http://schemas.microsoft.com/office/drawing/2014/main" id="{59CAA58B-C4C1-4A31-B017-39FD674239D1}"/>
              </a:ext>
            </a:extLst>
          </p:cNvPr>
          <p:cNvSpPr>
            <a:spLocks noGrp="1"/>
          </p:cNvSpPr>
          <p:nvPr/>
        </p:nvSpPr>
        <p:spPr>
          <a:xfrm>
            <a:off x="7543800" y="2085975"/>
            <a:ext cx="3943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继续使用原 SQL</a:t>
            </a:r>
          </a:p>
        </p:txBody>
      </p:sp>
      <p:sp>
        <p:nvSpPr>
          <p:cNvPr id="51" name="bad-value">
            <a:extLst>
              <a:ext uri="{FF2B5EF4-FFF2-40B4-BE49-F238E27FC236}">
                <a16:creationId xmlns:a16="http://schemas.microsoft.com/office/drawing/2014/main" id="{7A40DFB2-5FDD-41CC-8C7C-315BBBAB60C2}"/>
              </a:ext>
            </a:extLst>
          </p:cNvPr>
          <p:cNvSpPr>
            <a:spLocks noGrp="1"/>
          </p:cNvSpPr>
          <p:nvPr/>
        </p:nvSpPr>
        <p:spPr>
          <a:xfrm>
            <a:off x="7543800" y="2638425"/>
            <a:ext cx="3943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900 元</a:t>
            </a:r>
          </a:p>
        </p:txBody>
      </p:sp>
      <p:sp>
        <p:nvSpPr>
          <p:cNvPr id="52" name="good-result">
            <a:extLst>
              <a:ext uri="{FF2B5EF4-FFF2-40B4-BE49-F238E27FC236}">
                <a16:creationId xmlns:a16="http://schemas.microsoft.com/office/drawing/2014/main" id="{F023951A-42E5-435C-990C-24A2E22CA4D8}"/>
              </a:ext>
            </a:extLst>
          </p:cNvPr>
          <p:cNvSpPr>
            <a:spLocks noGrp="1"/>
          </p:cNvSpPr>
          <p:nvPr/>
        </p:nvSpPr>
        <p:spPr>
          <a:xfrm>
            <a:off x="7543800" y="381000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正确结果仍为 600 元</a:t>
            </a:r>
          </a:p>
        </p:txBody>
      </p:sp>
      <p:sp>
        <p:nvSpPr>
          <p:cNvPr id="53" name="reason">
            <a:extLst>
              <a:ext uri="{FF2B5EF4-FFF2-40B4-BE49-F238E27FC236}">
                <a16:creationId xmlns:a16="http://schemas.microsoft.com/office/drawing/2014/main" id="{00E9DD5C-3096-4F9A-8EA3-45B2A3CE89A0}"/>
              </a:ext>
            </a:extLst>
          </p:cNvPr>
          <p:cNvSpPr>
            <a:spLocks noGrp="1"/>
          </p:cNvSpPr>
          <p:nvPr/>
        </p:nvSpPr>
        <p:spPr>
          <a:xfrm>
            <a:off x="7543800" y="4629150"/>
            <a:ext cx="39433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“申请中”的记录也被算了进去</a:t>
            </a:r>
          </a:p>
          <a:p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表结构和 SQL 都没有报错</a:t>
            </a:r>
          </a:p>
        </p:txBody>
      </p:sp>
      <p:sp>
        <p:nvSpPr>
          <p:cNvPr id="54" name="source-caveat">
            <a:extLst>
              <a:ext uri="{FF2B5EF4-FFF2-40B4-BE49-F238E27FC236}">
                <a16:creationId xmlns:a16="http://schemas.microsoft.com/office/drawing/2014/main" id="{8B49016E-3EED-4EE8-BBF9-26913D5A3D93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讲解示例：新增了两条“申请中”记录，已完成的三笔退货没有变化。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8A126AD6-C2D8-47CA-8DA8-383C3FC43567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A839079E-5EB7-433B-9DD1-2E1A8AEB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发布：学会计算方法，检查后供大家使用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88657AE-30A1-5A7A-6A7F-315D84436430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MAVRA-footer">
            <a:extLst>
              <a:ext uri="{FF2B5EF4-FFF2-40B4-BE49-F238E27FC236}">
                <a16:creationId xmlns:a16="http://schemas.microsoft.com/office/drawing/2014/main" id="{B5286698-8773-4CFD-860B-2E1FF2DE92A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4E3E235D-2689-475B-8F45-72B8678BF4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07"/>
          <a:stretch/>
        </p:blipFill>
        <p:spPr>
          <a:xfrm>
            <a:off x="428625" y="1419225"/>
            <a:ext cx="11334750" cy="4672706"/>
          </a:xfrm>
          <a:prstGeom prst="rect">
            <a:avLst/>
          </a:prstGeom>
        </p:spPr>
      </p:pic>
      <p:sp>
        <p:nvSpPr>
          <p:cNvPr id="91" name="original-figure-caption">
            <a:extLst>
              <a:ext uri="{FF2B5EF4-FFF2-40B4-BE49-F238E27FC236}">
                <a16:creationId xmlns:a16="http://schemas.microsoft.com/office/drawing/2014/main" id="{3CE1CA71-7707-4DDE-8A76-87D3215EC3CB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图中“定义”是计算规则，“前提”是使用条件。r1 是查询结果编号，v1 是规则版本。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986246C7-6F03-4A21-B0D0-7A0B775E4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共享记忆：保存哪些计算规则和使用条件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B7BEEEC-A170-5376-2B6E-CB54687B0CB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3" name="MAVRA-footer">
            <a:extLst>
              <a:ext uri="{FF2B5EF4-FFF2-40B4-BE49-F238E27FC236}">
                <a16:creationId xmlns:a16="http://schemas.microsoft.com/office/drawing/2014/main" id="{9511920B-8F21-4241-B133-0010B56BB3C8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graphicFrame>
        <p:nvGraphicFramePr>
          <p:cNvPr id="54" name="revenue-definition-record">
            <a:extLst>
              <a:ext uri="{FF2B5EF4-FFF2-40B4-BE49-F238E27FC236}">
                <a16:creationId xmlns:a16="http://schemas.microsoft.com/office/drawing/2014/main" id="{A90FEB61-6BDB-4B05-90EE-ECB168F64E74}"/>
              </a:ext>
            </a:extLst>
          </p:cNvPr>
          <p:cNvGraphicFramePr/>
          <p:nvPr/>
        </p:nvGraphicFramePr>
        <p:xfrm>
          <a:off x="714375" y="1914525"/>
          <a:ext cx="10763250" cy="3268980"/>
        </p:xfrm>
        <a:graphic>
          <a:graphicData uri="http://schemas.openxmlformats.org/drawingml/2006/table">
            <a:tbl>
              <a:tblPr/>
              <a:tblGrid>
                <a:gridCol w="351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保存的内容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门店营业额的例子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计算规则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净支付额相加，按销售日期分到各个月份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SUM(ss_net_paid)，年、月按问题填写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怎样识别一笔销售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日期号＋小票号＋商品号；检查是否重复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版本和记录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首次发布 v1，优化后 v2，修复后 v3；保留记录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model-takeaway">
            <a:extLst>
              <a:ext uri="{FF2B5EF4-FFF2-40B4-BE49-F238E27FC236}">
                <a16:creationId xmlns:a16="http://schemas.microsoft.com/office/drawing/2014/main" id="{E76AD212-270D-45BD-AB80-1AA8EBB0D31B}"/>
              </a:ext>
            </a:extLst>
          </p:cNvPr>
          <p:cNvSpPr>
            <a:spLocks noGrp="1"/>
          </p:cNvSpPr>
          <p:nvPr/>
        </p:nvSpPr>
        <p:spPr>
          <a:xfrm>
            <a:off x="771525" y="5438775"/>
            <a:ext cx="10648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计算规则和使用条件一起保存，由 MAVRA 检查</a:t>
            </a:r>
          </a:p>
        </p:txBody>
      </p:sp>
      <p:sp>
        <p:nvSpPr>
          <p:cNvPr id="56" name="model-footnote">
            <a:extLst>
              <a:ext uri="{FF2B5EF4-FFF2-40B4-BE49-F238E27FC236}">
                <a16:creationId xmlns:a16="http://schemas.microsoft.com/office/drawing/2014/main" id="{639E19FD-D129-4926-980D-0CE354800A85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4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用户 Agent 获取计算规则和注意事项；MAVRA 保存完整的条件、检查结果和学习记录。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8DDB191C-7370-4734-AE33-47C8DE56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真实运行：发布 v1 前要做 7 项检查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0394428-F1DC-E5F6-DB0C-7DE31F3D8A2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gate-row-0">
            <a:extLst>
              <a:ext uri="{FF2B5EF4-FFF2-40B4-BE49-F238E27FC236}">
                <a16:creationId xmlns:a16="http://schemas.microsoft.com/office/drawing/2014/main" id="{3C0A543F-7EA5-486E-9E13-C6CCFC3E6CFD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gate-n-0">
            <a:extLst>
              <a:ext uri="{FF2B5EF4-FFF2-40B4-BE49-F238E27FC236}">
                <a16:creationId xmlns:a16="http://schemas.microsoft.com/office/drawing/2014/main" id="{1AF8F643-981F-45D4-A884-350CD32DD1D1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gate-name-0">
            <a:extLst>
              <a:ext uri="{FF2B5EF4-FFF2-40B4-BE49-F238E27FC236}">
                <a16:creationId xmlns:a16="http://schemas.microsoft.com/office/drawing/2014/main" id="{C0877110-823A-4712-9B75-0DD2C5C17F3C}"/>
              </a:ext>
            </a:extLst>
          </p:cNvPr>
          <p:cNvSpPr>
            <a:spLocks noGrp="1"/>
          </p:cNvSpPr>
          <p:nvPr/>
        </p:nvSpPr>
        <p:spPr>
          <a:xfrm>
            <a:off x="1438275" y="175260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规则有依据</a:t>
            </a:r>
          </a:p>
        </p:txBody>
      </p:sp>
      <p:sp>
        <p:nvSpPr>
          <p:cNvPr id="52" name="gate-detail-0">
            <a:extLst>
              <a:ext uri="{FF2B5EF4-FFF2-40B4-BE49-F238E27FC236}">
                <a16:creationId xmlns:a16="http://schemas.microsoft.com/office/drawing/2014/main" id="{DF32877C-A25A-4378-9014-FB995C2D4374}"/>
              </a:ext>
            </a:extLst>
          </p:cNvPr>
          <p:cNvSpPr>
            <a:spLocks noGrp="1"/>
          </p:cNvSpPr>
          <p:nvPr/>
        </p:nvSpPr>
        <p:spPr>
          <a:xfrm>
            <a:off x="4886325" y="175260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题目说清了营业额怎么算</a:t>
            </a:r>
          </a:p>
        </p:txBody>
      </p:sp>
      <p:sp>
        <p:nvSpPr>
          <p:cNvPr id="53" name="gate-ok-0">
            <a:extLst>
              <a:ext uri="{FF2B5EF4-FFF2-40B4-BE49-F238E27FC236}">
                <a16:creationId xmlns:a16="http://schemas.microsoft.com/office/drawing/2014/main" id="{900BA097-7777-45F2-90E9-58CAE69BF691}"/>
              </a:ext>
            </a:extLst>
          </p:cNvPr>
          <p:cNvSpPr>
            <a:spLocks noGrp="1"/>
          </p:cNvSpPr>
          <p:nvPr/>
        </p:nvSpPr>
        <p:spPr>
          <a:xfrm>
            <a:off x="11077575" y="175260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4" name="gate-n-1">
            <a:extLst>
              <a:ext uri="{FF2B5EF4-FFF2-40B4-BE49-F238E27FC236}">
                <a16:creationId xmlns:a16="http://schemas.microsoft.com/office/drawing/2014/main" id="{5D5EB545-BB9F-4797-86CD-3BA9B896A0D0}"/>
              </a:ext>
            </a:extLst>
          </p:cNvPr>
          <p:cNvSpPr>
            <a:spLocks noGrp="1"/>
          </p:cNvSpPr>
          <p:nvPr/>
        </p:nvSpPr>
        <p:spPr>
          <a:xfrm>
            <a:off x="847725" y="2257425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5" name="gate-name-1">
            <a:extLst>
              <a:ext uri="{FF2B5EF4-FFF2-40B4-BE49-F238E27FC236}">
                <a16:creationId xmlns:a16="http://schemas.microsoft.com/office/drawing/2014/main" id="{685B9494-ED1C-4501-B4FF-8F0D5A92329E}"/>
              </a:ext>
            </a:extLst>
          </p:cNvPr>
          <p:cNvSpPr>
            <a:spLocks noGrp="1"/>
          </p:cNvSpPr>
          <p:nvPr/>
        </p:nvSpPr>
        <p:spPr>
          <a:xfrm>
            <a:off x="1438275" y="2257425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答案正确且能重算</a:t>
            </a:r>
          </a:p>
        </p:txBody>
      </p:sp>
      <p:sp>
        <p:nvSpPr>
          <p:cNvPr id="56" name="gate-detail-1">
            <a:extLst>
              <a:ext uri="{FF2B5EF4-FFF2-40B4-BE49-F238E27FC236}">
                <a16:creationId xmlns:a16="http://schemas.microsoft.com/office/drawing/2014/main" id="{BBD6D507-044B-41F8-A721-79282D6446AF}"/>
              </a:ext>
            </a:extLst>
          </p:cNvPr>
          <p:cNvSpPr>
            <a:spLocks noGrp="1"/>
          </p:cNvSpPr>
          <p:nvPr/>
        </p:nvSpPr>
        <p:spPr>
          <a:xfrm>
            <a:off x="4886325" y="225742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答案通过独立检查，计算过程能重复</a:t>
            </a:r>
          </a:p>
        </p:txBody>
      </p:sp>
      <p:sp>
        <p:nvSpPr>
          <p:cNvPr id="57" name="gate-ok-1">
            <a:extLst>
              <a:ext uri="{FF2B5EF4-FFF2-40B4-BE49-F238E27FC236}">
                <a16:creationId xmlns:a16="http://schemas.microsoft.com/office/drawing/2014/main" id="{EA57FE4E-9128-47D7-83E9-CE48A7276708}"/>
              </a:ext>
            </a:extLst>
          </p:cNvPr>
          <p:cNvSpPr>
            <a:spLocks noGrp="1"/>
          </p:cNvSpPr>
          <p:nvPr/>
        </p:nvSpPr>
        <p:spPr>
          <a:xfrm>
            <a:off x="11077575" y="2257425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8" name="gate-row-2">
            <a:extLst>
              <a:ext uri="{FF2B5EF4-FFF2-40B4-BE49-F238E27FC236}">
                <a16:creationId xmlns:a16="http://schemas.microsoft.com/office/drawing/2014/main" id="{2E12C9E6-3BFB-4080-842E-A7427975B2CA}"/>
              </a:ext>
            </a:extLst>
          </p:cNvPr>
          <p:cNvSpPr>
            <a:spLocks noGrp="1"/>
          </p:cNvSpPr>
          <p:nvPr/>
        </p:nvSpPr>
        <p:spPr>
          <a:xfrm>
            <a:off x="714375" y="272415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gate-n-2">
            <a:extLst>
              <a:ext uri="{FF2B5EF4-FFF2-40B4-BE49-F238E27FC236}">
                <a16:creationId xmlns:a16="http://schemas.microsoft.com/office/drawing/2014/main" id="{FD805328-37B3-41B9-8253-7F49A3FBF987}"/>
              </a:ext>
            </a:extLst>
          </p:cNvPr>
          <p:cNvSpPr>
            <a:spLocks noGrp="1"/>
          </p:cNvSpPr>
          <p:nvPr/>
        </p:nvSpPr>
        <p:spPr>
          <a:xfrm>
            <a:off x="847725" y="276225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0" name="gate-name-2">
            <a:extLst>
              <a:ext uri="{FF2B5EF4-FFF2-40B4-BE49-F238E27FC236}">
                <a16:creationId xmlns:a16="http://schemas.microsoft.com/office/drawing/2014/main" id="{35D6B3BB-74B7-41EB-A9AE-915075C42663}"/>
              </a:ext>
            </a:extLst>
          </p:cNvPr>
          <p:cNvSpPr>
            <a:spLocks noGrp="1"/>
          </p:cNvSpPr>
          <p:nvPr/>
        </p:nvSpPr>
        <p:spPr>
          <a:xfrm>
            <a:off x="1438275" y="276225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检查表和 SQL</a:t>
            </a:r>
          </a:p>
        </p:txBody>
      </p:sp>
      <p:sp>
        <p:nvSpPr>
          <p:cNvPr id="61" name="gate-detail-2">
            <a:extLst>
              <a:ext uri="{FF2B5EF4-FFF2-40B4-BE49-F238E27FC236}">
                <a16:creationId xmlns:a16="http://schemas.microsoft.com/office/drawing/2014/main" id="{C9C1239D-FA84-42D6-8E1F-AAAFF53A999E}"/>
              </a:ext>
            </a:extLst>
          </p:cNvPr>
          <p:cNvSpPr>
            <a:spLocks noGrp="1"/>
          </p:cNvSpPr>
          <p:nvPr/>
        </p:nvSpPr>
        <p:spPr>
          <a:xfrm>
            <a:off x="4886325" y="276225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表和列存在，连接正确，固定条件不含题目参数</a:t>
            </a:r>
          </a:p>
        </p:txBody>
      </p:sp>
      <p:sp>
        <p:nvSpPr>
          <p:cNvPr id="62" name="gate-ok-2">
            <a:extLst>
              <a:ext uri="{FF2B5EF4-FFF2-40B4-BE49-F238E27FC236}">
                <a16:creationId xmlns:a16="http://schemas.microsoft.com/office/drawing/2014/main" id="{FC3BD430-1C4C-400A-862B-8493C10D0A07}"/>
              </a:ext>
            </a:extLst>
          </p:cNvPr>
          <p:cNvSpPr>
            <a:spLocks noGrp="1"/>
          </p:cNvSpPr>
          <p:nvPr/>
        </p:nvSpPr>
        <p:spPr>
          <a:xfrm>
            <a:off x="11077575" y="276225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3" name="gate-n-3">
            <a:extLst>
              <a:ext uri="{FF2B5EF4-FFF2-40B4-BE49-F238E27FC236}">
                <a16:creationId xmlns:a16="http://schemas.microsoft.com/office/drawing/2014/main" id="{484818D3-9929-4675-BD05-447B7C2142F6}"/>
              </a:ext>
            </a:extLst>
          </p:cNvPr>
          <p:cNvSpPr>
            <a:spLocks noGrp="1"/>
          </p:cNvSpPr>
          <p:nvPr/>
        </p:nvSpPr>
        <p:spPr>
          <a:xfrm>
            <a:off x="847725" y="3267075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4" name="gate-name-3">
            <a:extLst>
              <a:ext uri="{FF2B5EF4-FFF2-40B4-BE49-F238E27FC236}">
                <a16:creationId xmlns:a16="http://schemas.microsoft.com/office/drawing/2014/main" id="{AD1D432E-D167-44A9-8874-F0C14535CEDF}"/>
              </a:ext>
            </a:extLst>
          </p:cNvPr>
          <p:cNvSpPr>
            <a:spLocks noGrp="1"/>
          </p:cNvSpPr>
          <p:nvPr/>
        </p:nvSpPr>
        <p:spPr>
          <a:xfrm>
            <a:off x="1438275" y="3267075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主键唯一：同一笔销售一行</a:t>
            </a:r>
          </a:p>
        </p:txBody>
      </p:sp>
      <p:sp>
        <p:nvSpPr>
          <p:cNvPr id="65" name="gate-detail-3">
            <a:extLst>
              <a:ext uri="{FF2B5EF4-FFF2-40B4-BE49-F238E27FC236}">
                <a16:creationId xmlns:a16="http://schemas.microsoft.com/office/drawing/2014/main" id="{44E07479-DB74-476C-B464-3BA35AF84869}"/>
              </a:ext>
            </a:extLst>
          </p:cNvPr>
          <p:cNvSpPr>
            <a:spLocks noGrp="1"/>
          </p:cNvSpPr>
          <p:nvPr/>
        </p:nvSpPr>
        <p:spPr>
          <a:xfrm>
            <a:off x="4886325" y="326707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989,695 行＝989,695 个键</a:t>
            </a:r>
          </a:p>
        </p:txBody>
      </p:sp>
      <p:sp>
        <p:nvSpPr>
          <p:cNvPr id="66" name="gate-ok-3">
            <a:extLst>
              <a:ext uri="{FF2B5EF4-FFF2-40B4-BE49-F238E27FC236}">
                <a16:creationId xmlns:a16="http://schemas.microsoft.com/office/drawing/2014/main" id="{FBB6EDA2-25A2-4BF5-B366-7F248F081620}"/>
              </a:ext>
            </a:extLst>
          </p:cNvPr>
          <p:cNvSpPr>
            <a:spLocks noGrp="1"/>
          </p:cNvSpPr>
          <p:nvPr/>
        </p:nvSpPr>
        <p:spPr>
          <a:xfrm>
            <a:off x="11077575" y="3267075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7" name="gate-row-4">
            <a:extLst>
              <a:ext uri="{FF2B5EF4-FFF2-40B4-BE49-F238E27FC236}">
                <a16:creationId xmlns:a16="http://schemas.microsoft.com/office/drawing/2014/main" id="{CD296655-E19D-4AD2-B220-29E17C125817}"/>
              </a:ext>
            </a:extLst>
          </p:cNvPr>
          <p:cNvSpPr>
            <a:spLocks noGrp="1"/>
          </p:cNvSpPr>
          <p:nvPr/>
        </p:nvSpPr>
        <p:spPr>
          <a:xfrm>
            <a:off x="714375" y="373380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gate-n-4">
            <a:extLst>
              <a:ext uri="{FF2B5EF4-FFF2-40B4-BE49-F238E27FC236}">
                <a16:creationId xmlns:a16="http://schemas.microsoft.com/office/drawing/2014/main" id="{445156E6-08CF-40F7-814B-5648EAF5D318}"/>
              </a:ext>
            </a:extLst>
          </p:cNvPr>
          <p:cNvSpPr>
            <a:spLocks noGrp="1"/>
          </p:cNvSpPr>
          <p:nvPr/>
        </p:nvSpPr>
        <p:spPr>
          <a:xfrm>
            <a:off x="847725" y="377190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9" name="gate-name-4">
            <a:extLst>
              <a:ext uri="{FF2B5EF4-FFF2-40B4-BE49-F238E27FC236}">
                <a16:creationId xmlns:a16="http://schemas.microsoft.com/office/drawing/2014/main" id="{2202EEA3-3ECC-4DBA-9653-9B528C28FC9C}"/>
              </a:ext>
            </a:extLst>
          </p:cNvPr>
          <p:cNvSpPr>
            <a:spLocks noGrp="1"/>
          </p:cNvSpPr>
          <p:nvPr/>
        </p:nvSpPr>
        <p:spPr>
          <a:xfrm>
            <a:off x="1438275" y="377190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检查查询是否安全</a:t>
            </a:r>
          </a:p>
        </p:txBody>
      </p:sp>
      <p:sp>
        <p:nvSpPr>
          <p:cNvPr id="70" name="gate-detail-4">
            <a:extLst>
              <a:ext uri="{FF2B5EF4-FFF2-40B4-BE49-F238E27FC236}">
                <a16:creationId xmlns:a16="http://schemas.microsoft.com/office/drawing/2014/main" id="{201F9816-451D-4D63-8942-F7BC2B4476A9}"/>
              </a:ext>
            </a:extLst>
          </p:cNvPr>
          <p:cNvSpPr>
            <a:spLocks noGrp="1"/>
          </p:cNvSpPr>
          <p:nvPr/>
        </p:nvSpPr>
        <p:spPr>
          <a:xfrm>
            <a:off x="4886325" y="377190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只有一条查询，不修改数据</a:t>
            </a:r>
          </a:p>
        </p:txBody>
      </p:sp>
      <p:sp>
        <p:nvSpPr>
          <p:cNvPr id="71" name="gate-ok-4">
            <a:extLst>
              <a:ext uri="{FF2B5EF4-FFF2-40B4-BE49-F238E27FC236}">
                <a16:creationId xmlns:a16="http://schemas.microsoft.com/office/drawing/2014/main" id="{87C04F82-F43E-41ED-962A-B7A6DBF4B00B}"/>
              </a:ext>
            </a:extLst>
          </p:cNvPr>
          <p:cNvSpPr>
            <a:spLocks noGrp="1"/>
          </p:cNvSpPr>
          <p:nvPr/>
        </p:nvSpPr>
        <p:spPr>
          <a:xfrm>
            <a:off x="11077575" y="377190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2" name="gate-n-5">
            <a:extLst>
              <a:ext uri="{FF2B5EF4-FFF2-40B4-BE49-F238E27FC236}">
                <a16:creationId xmlns:a16="http://schemas.microsoft.com/office/drawing/2014/main" id="{4F0B631F-4136-46E3-BAD3-26F3EE76FF72}"/>
              </a:ext>
            </a:extLst>
          </p:cNvPr>
          <p:cNvSpPr>
            <a:spLocks noGrp="1"/>
          </p:cNvSpPr>
          <p:nvPr/>
        </p:nvSpPr>
        <p:spPr>
          <a:xfrm>
            <a:off x="847725" y="4276725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3" name="gate-name-5">
            <a:extLst>
              <a:ext uri="{FF2B5EF4-FFF2-40B4-BE49-F238E27FC236}">
                <a16:creationId xmlns:a16="http://schemas.microsoft.com/office/drawing/2014/main" id="{9B8B10C9-B57E-41C7-9C74-75EB25ED33AB}"/>
              </a:ext>
            </a:extLst>
          </p:cNvPr>
          <p:cNvSpPr>
            <a:spLocks noGrp="1"/>
          </p:cNvSpPr>
          <p:nvPr/>
        </p:nvSpPr>
        <p:spPr>
          <a:xfrm>
            <a:off x="1438275" y="4276725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再运行示例 SQL</a:t>
            </a:r>
          </a:p>
        </p:txBody>
      </p:sp>
      <p:sp>
        <p:nvSpPr>
          <p:cNvPr id="74" name="gate-detail-5">
            <a:extLst>
              <a:ext uri="{FF2B5EF4-FFF2-40B4-BE49-F238E27FC236}">
                <a16:creationId xmlns:a16="http://schemas.microsoft.com/office/drawing/2014/main" id="{0394B571-8F59-4621-8ACC-BACFC20094A9}"/>
              </a:ext>
            </a:extLst>
          </p:cNvPr>
          <p:cNvSpPr>
            <a:spLocks noGrp="1"/>
          </p:cNvSpPr>
          <p:nvPr/>
        </p:nvSpPr>
        <p:spPr>
          <a:xfrm>
            <a:off x="4886325" y="427672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75" name="gate-ok-5">
            <a:extLst>
              <a:ext uri="{FF2B5EF4-FFF2-40B4-BE49-F238E27FC236}">
                <a16:creationId xmlns:a16="http://schemas.microsoft.com/office/drawing/2014/main" id="{7DB24065-69C9-4ED3-99D1-F36097C5BA24}"/>
              </a:ext>
            </a:extLst>
          </p:cNvPr>
          <p:cNvSpPr>
            <a:spLocks noGrp="1"/>
          </p:cNvSpPr>
          <p:nvPr/>
        </p:nvSpPr>
        <p:spPr>
          <a:xfrm>
            <a:off x="11077575" y="4276725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6" name="gate-row-6">
            <a:extLst>
              <a:ext uri="{FF2B5EF4-FFF2-40B4-BE49-F238E27FC236}">
                <a16:creationId xmlns:a16="http://schemas.microsoft.com/office/drawing/2014/main" id="{F08AF084-F4B7-4B72-AFB3-A65F9E4991CA}"/>
              </a:ext>
            </a:extLst>
          </p:cNvPr>
          <p:cNvSpPr>
            <a:spLocks noGrp="1"/>
          </p:cNvSpPr>
          <p:nvPr/>
        </p:nvSpPr>
        <p:spPr>
          <a:xfrm>
            <a:off x="714375" y="474345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gate-n-6">
            <a:extLst>
              <a:ext uri="{FF2B5EF4-FFF2-40B4-BE49-F238E27FC236}">
                <a16:creationId xmlns:a16="http://schemas.microsoft.com/office/drawing/2014/main" id="{6A0B5CC5-0871-49D2-BE2A-4B69603FE8F6}"/>
              </a:ext>
            </a:extLst>
          </p:cNvPr>
          <p:cNvSpPr>
            <a:spLocks noGrp="1"/>
          </p:cNvSpPr>
          <p:nvPr/>
        </p:nvSpPr>
        <p:spPr>
          <a:xfrm>
            <a:off x="847725" y="478155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8" name="gate-name-6">
            <a:extLst>
              <a:ext uri="{FF2B5EF4-FFF2-40B4-BE49-F238E27FC236}">
                <a16:creationId xmlns:a16="http://schemas.microsoft.com/office/drawing/2014/main" id="{606C1A61-23ED-43C3-ABF2-6383BC6F9FA2}"/>
              </a:ext>
            </a:extLst>
          </p:cNvPr>
          <p:cNvSpPr>
            <a:spLocks noGrp="1"/>
          </p:cNvSpPr>
          <p:nvPr/>
        </p:nvSpPr>
        <p:spPr>
          <a:xfrm>
            <a:off x="1438275" y="478155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再运行系统生成的 SQL</a:t>
            </a:r>
          </a:p>
        </p:txBody>
      </p:sp>
      <p:sp>
        <p:nvSpPr>
          <p:cNvPr id="79" name="gate-detail-6">
            <a:extLst>
              <a:ext uri="{FF2B5EF4-FFF2-40B4-BE49-F238E27FC236}">
                <a16:creationId xmlns:a16="http://schemas.microsoft.com/office/drawing/2014/main" id="{2E5B2F11-A542-4013-9A9B-1BE6EA85BBC8}"/>
              </a:ext>
            </a:extLst>
          </p:cNvPr>
          <p:cNvSpPr>
            <a:spLocks noGrp="1"/>
          </p:cNvSpPr>
          <p:nvPr/>
        </p:nvSpPr>
        <p:spPr>
          <a:xfrm>
            <a:off x="4886325" y="478155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80" name="gate-ok-6">
            <a:extLst>
              <a:ext uri="{FF2B5EF4-FFF2-40B4-BE49-F238E27FC236}">
                <a16:creationId xmlns:a16="http://schemas.microsoft.com/office/drawing/2014/main" id="{D6CDD96C-E2F0-4347-8C30-B43036CD3ED9}"/>
              </a:ext>
            </a:extLst>
          </p:cNvPr>
          <p:cNvSpPr>
            <a:spLocks noGrp="1"/>
          </p:cNvSpPr>
          <p:nvPr/>
        </p:nvSpPr>
        <p:spPr>
          <a:xfrm>
            <a:off x="11077575" y="478155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1" name="takeaway-band">
            <a:extLst>
              <a:ext uri="{FF2B5EF4-FFF2-40B4-BE49-F238E27FC236}">
                <a16:creationId xmlns:a16="http://schemas.microsoft.com/office/drawing/2014/main" id="{785823B9-F804-4EC1-B0A0-8B339BEB4256}"/>
              </a:ext>
            </a:extLst>
          </p:cNvPr>
          <p:cNvSpPr>
            <a:spLocks noGrp="1"/>
          </p:cNvSpPr>
          <p:nvPr/>
        </p:nvSpPr>
        <p:spPr>
          <a:xfrm>
            <a:off x="714375" y="546735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akeaway">
            <a:extLst>
              <a:ext uri="{FF2B5EF4-FFF2-40B4-BE49-F238E27FC236}">
                <a16:creationId xmlns:a16="http://schemas.microsoft.com/office/drawing/2014/main" id="{CB19C053-B0EB-4EA6-B69B-CD8A077A9C63}"/>
              </a:ext>
            </a:extLst>
          </p:cNvPr>
          <p:cNvSpPr>
            <a:spLocks noGrp="1"/>
          </p:cNvSpPr>
          <p:nvPr/>
        </p:nvSpPr>
        <p:spPr>
          <a:xfrm>
            <a:off x="866775" y="552450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 项全部通过才发布 v1；共执行 5 条查询，用时 5.6 秒</a:t>
            </a:r>
          </a:p>
        </p:txBody>
      </p:sp>
      <p:sp>
        <p:nvSpPr>
          <p:cNvPr id="83" name="source-note">
            <a:extLst>
              <a:ext uri="{FF2B5EF4-FFF2-40B4-BE49-F238E27FC236}">
                <a16:creationId xmlns:a16="http://schemas.microsoft.com/office/drawing/2014/main" id="{194854B0-31DC-440D-AC9F-015B6B040FFA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 M1-L1。系统根据保存的规则生成 SQL，再运行一次，检查共享的规则是否正确。</a:t>
            </a:r>
          </a:p>
        </p:txBody>
      </p:sp>
      <p:sp>
        <p:nvSpPr>
          <p:cNvPr id="84" name="MAVRA-footer">
            <a:extLst>
              <a:ext uri="{FF2B5EF4-FFF2-40B4-BE49-F238E27FC236}">
                <a16:creationId xmlns:a16="http://schemas.microsoft.com/office/drawing/2014/main" id="{3A187079-AC94-4E96-B955-0B8ED53A7CD5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5E62FED1-3A93-4C9D-9730-7C2D79B75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真实运行：换一种查询写法，结果相同、用时更少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DB16885-0D3F-A391-B669-3211DB3B26E8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original-query">
            <a:extLst>
              <a:ext uri="{FF2B5EF4-FFF2-40B4-BE49-F238E27FC236}">
                <a16:creationId xmlns:a16="http://schemas.microsoft.com/office/drawing/2014/main" id="{E3B95795-3809-4661-9178-1965B8EE8B3D}"/>
              </a:ext>
            </a:extLst>
          </p:cNvPr>
          <p:cNvSpPr>
            <a:spLocks noGrp="1"/>
          </p:cNvSpPr>
          <p:nvPr/>
        </p:nvSpPr>
        <p:spPr>
          <a:xfrm>
            <a:off x="723900" y="1838325"/>
            <a:ext cx="4133850" cy="9620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original-query-head">
            <a:extLst>
              <a:ext uri="{FF2B5EF4-FFF2-40B4-BE49-F238E27FC236}">
                <a16:creationId xmlns:a16="http://schemas.microsoft.com/office/drawing/2014/main" id="{6585FFF8-30CD-4B5B-A6DB-9CD98DE0BA1F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v1：连接日期表</a:t>
            </a:r>
          </a:p>
        </p:txBody>
      </p:sp>
      <p:sp>
        <p:nvSpPr>
          <p:cNvPr id="51" name="original-query-body">
            <a:extLst>
              <a:ext uri="{FF2B5EF4-FFF2-40B4-BE49-F238E27FC236}">
                <a16:creationId xmlns:a16="http://schemas.microsoft.com/office/drawing/2014/main" id="{91D628D5-0875-4134-BC34-A30FD9BBD120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按年、月筛选销售</a:t>
            </a:r>
          </a:p>
        </p:txBody>
      </p:sp>
      <p:sp>
        <p:nvSpPr>
          <p:cNvPr id="52" name="range-query">
            <a:extLst>
              <a:ext uri="{FF2B5EF4-FFF2-40B4-BE49-F238E27FC236}">
                <a16:creationId xmlns:a16="http://schemas.microsoft.com/office/drawing/2014/main" id="{19D66E76-B909-449D-BF08-DF39EDCF438D}"/>
              </a:ext>
            </a:extLst>
          </p:cNvPr>
          <p:cNvSpPr>
            <a:spLocks noGrp="1"/>
          </p:cNvSpPr>
          <p:nvPr/>
        </p:nvSpPr>
        <p:spPr>
          <a:xfrm>
            <a:off x="7343775" y="1838325"/>
            <a:ext cx="4133850" cy="9620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ange-query-head">
            <a:extLst>
              <a:ext uri="{FF2B5EF4-FFF2-40B4-BE49-F238E27FC236}">
                <a16:creationId xmlns:a16="http://schemas.microsoft.com/office/drawing/2014/main" id="{DED214F9-0D12-4C81-ADAD-DE925291DA75}"/>
              </a:ext>
            </a:extLst>
          </p:cNvPr>
          <p:cNvSpPr>
            <a:spLocks noGrp="1"/>
          </p:cNvSpPr>
          <p:nvPr/>
        </p:nvSpPr>
        <p:spPr>
          <a:xfrm>
            <a:off x="7439025" y="1924050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v2：按日期编号筛选</a:t>
            </a:r>
          </a:p>
        </p:txBody>
      </p:sp>
      <p:sp>
        <p:nvSpPr>
          <p:cNvPr id="54" name="range-query-body">
            <a:extLst>
              <a:ext uri="{FF2B5EF4-FFF2-40B4-BE49-F238E27FC236}">
                <a16:creationId xmlns:a16="http://schemas.microsoft.com/office/drawing/2014/main" id="{CEBD165C-BD7B-4974-9672-749A649D0D20}"/>
              </a:ext>
            </a:extLst>
          </p:cNvPr>
          <p:cNvSpPr>
            <a:spLocks noGrp="1"/>
          </p:cNvSpPr>
          <p:nvPr/>
        </p:nvSpPr>
        <p:spPr>
          <a:xfrm>
            <a:off x="745807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用该月最小、最大的日期编号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E8C812A-EEE2-42F6-9FD0-14390D741844}"/>
              </a:ext>
            </a:extLst>
          </p:cNvPr>
          <p:cNvCxnSpPr>
            <a:stCxn id="49" idx="3"/>
            <a:endCxn id="52" idx="1"/>
          </p:cNvCxnSpPr>
          <p:nvPr/>
        </p:nvCxnSpPr>
        <p:spPr>
          <a:xfrm>
            <a:off x="4857750" y="2319338"/>
            <a:ext cx="248602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56" name="rewrite-rule">
            <a:extLst>
              <a:ext uri="{FF2B5EF4-FFF2-40B4-BE49-F238E27FC236}">
                <a16:creationId xmlns:a16="http://schemas.microsoft.com/office/drawing/2014/main" id="{798C8482-7D36-40B4-9DE2-E10636622B51}"/>
              </a:ext>
            </a:extLst>
          </p:cNvPr>
          <p:cNvSpPr>
            <a:spLocks noGrp="1"/>
          </p:cNvSpPr>
          <p:nvPr/>
        </p:nvSpPr>
        <p:spPr>
          <a:xfrm>
            <a:off x="5314950" y="1924050"/>
            <a:ext cx="1571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更换写法</a:t>
            </a:r>
          </a:p>
        </p:txBody>
      </p:sp>
      <p:sp>
        <p:nvSpPr>
          <p:cNvPr id="57" name="equal-number">
            <a:extLst>
              <a:ext uri="{FF2B5EF4-FFF2-40B4-BE49-F238E27FC236}">
                <a16:creationId xmlns:a16="http://schemas.microsoft.com/office/drawing/2014/main" id="{B99C59C6-8CF7-45E0-87D5-253397C4CB39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385762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  <p:sp>
        <p:nvSpPr>
          <p:cNvPr id="58" name="equal-label">
            <a:extLst>
              <a:ext uri="{FF2B5EF4-FFF2-40B4-BE49-F238E27FC236}">
                <a16:creationId xmlns:a16="http://schemas.microsoft.com/office/drawing/2014/main" id="{C147F44A-5F9F-4895-95D1-A74B8A630305}"/>
              </a:ext>
            </a:extLst>
          </p:cNvPr>
          <p:cNvSpPr>
            <a:spLocks noGrp="1"/>
          </p:cNvSpPr>
          <p:nvPr/>
        </p:nvSpPr>
        <p:spPr>
          <a:xfrm>
            <a:off x="952500" y="418147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14 组结果全部相同</a:t>
            </a:r>
          </a:p>
        </p:txBody>
      </p:sp>
      <p:sp>
        <p:nvSpPr>
          <p:cNvPr id="59" name="equal-detail">
            <a:extLst>
              <a:ext uri="{FF2B5EF4-FFF2-40B4-BE49-F238E27FC236}">
                <a16:creationId xmlns:a16="http://schemas.microsoft.com/office/drawing/2014/main" id="{5C664BBB-EC44-452C-92A1-02C435CE8DA2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4229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12 个月、一个季度、一次差值计算</a:t>
            </a:r>
          </a:p>
        </p:txBody>
      </p:sp>
      <p:sp>
        <p:nvSpPr>
          <p:cNvPr id="60" name="timing">
            <a:extLst>
              <a:ext uri="{FF2B5EF4-FFF2-40B4-BE49-F238E27FC236}">
                <a16:creationId xmlns:a16="http://schemas.microsoft.com/office/drawing/2014/main" id="{9222E8E0-D9E6-469B-AAB4-39B3975AA59C}"/>
              </a:ext>
            </a:extLst>
          </p:cNvPr>
          <p:cNvSpPr>
            <a:spLocks noGrp="1"/>
          </p:cNvSpPr>
          <p:nvPr/>
        </p:nvSpPr>
        <p:spPr>
          <a:xfrm>
            <a:off x="5667375" y="3305175"/>
            <a:ext cx="58102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39.7 ms  →  33.3 ms</a:t>
            </a:r>
          </a:p>
        </p:txBody>
      </p:sp>
      <p:sp>
        <p:nvSpPr>
          <p:cNvPr id="61" name="saving">
            <a:extLst>
              <a:ext uri="{FF2B5EF4-FFF2-40B4-BE49-F238E27FC236}">
                <a16:creationId xmlns:a16="http://schemas.microsoft.com/office/drawing/2014/main" id="{3E3D65B6-CC51-4F10-8E2B-CEE72150A89A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57531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执行时间减少 16.1%</a:t>
            </a:r>
          </a:p>
        </p:txBody>
      </p:sp>
      <p:sp>
        <p:nvSpPr>
          <p:cNvPr id="62" name="added-premise">
            <a:extLst>
              <a:ext uri="{FF2B5EF4-FFF2-40B4-BE49-F238E27FC236}">
                <a16:creationId xmlns:a16="http://schemas.microsoft.com/office/drawing/2014/main" id="{C5B5A9A2-0A64-4916-ABC8-A2E1AE646E58}"/>
              </a:ext>
            </a:extLst>
          </p:cNvPr>
          <p:cNvSpPr>
            <a:spLocks noGrp="1"/>
          </p:cNvSpPr>
          <p:nvPr/>
        </p:nvSpPr>
        <p:spPr>
          <a:xfrm>
            <a:off x="5705475" y="4714875"/>
            <a:ext cx="5781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新增条件：每月日期编号连续</a:t>
            </a:r>
          </a:p>
        </p:txBody>
      </p:sp>
      <p:sp>
        <p:nvSpPr>
          <p:cNvPr id="63" name="takeaway-band">
            <a:extLst>
              <a:ext uri="{FF2B5EF4-FFF2-40B4-BE49-F238E27FC236}">
                <a16:creationId xmlns:a16="http://schemas.microsoft.com/office/drawing/2014/main" id="{D4D9ECD0-9E0A-4C6C-9DEF-BCC5F24BAF77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akeaway">
            <a:extLst>
              <a:ext uri="{FF2B5EF4-FFF2-40B4-BE49-F238E27FC236}">
                <a16:creationId xmlns:a16="http://schemas.microsoft.com/office/drawing/2014/main" id="{7A0061AB-7916-45D4-B1D3-E1C45B206538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用学习时的数据重算，结果也相同；新条件不满足就恢复原写法</a:t>
            </a:r>
          </a:p>
        </p:txBody>
      </p:sp>
      <p:sp>
        <p:nvSpPr>
          <p:cNvPr id="65" name="source-note">
            <a:extLst>
              <a:ext uri="{FF2B5EF4-FFF2-40B4-BE49-F238E27FC236}">
                <a16:creationId xmlns:a16="http://schemas.microsoft.com/office/drawing/2014/main" id="{AF19A977-645F-4CAB-B5AC-63226878F0FE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真实优化记录：14 对查询交替计时；耗时差的 95% 置信区间为 [−12.2, −0.5] ms。</a:t>
            </a:r>
          </a:p>
        </p:txBody>
      </p:sp>
      <p:sp>
        <p:nvSpPr>
          <p:cNvPr id="66" name="MAVRA-footer">
            <a:extLst>
              <a:ext uri="{FF2B5EF4-FFF2-40B4-BE49-F238E27FC236}">
                <a16:creationId xmlns:a16="http://schemas.microsoft.com/office/drawing/2014/main" id="{840D544A-5F67-420C-8D17-C4A6A030B2CA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51416DBE-E779-48A2-A7FC-2B6B0D9BE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使用：只问营业额，Agent 就能找到计算规则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2DD23107-4986-8758-3A93-3D74F35908C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8" name="MAVRA-footer">
            <a:extLst>
              <a:ext uri="{FF2B5EF4-FFF2-40B4-BE49-F238E27FC236}">
                <a16:creationId xmlns:a16="http://schemas.microsoft.com/office/drawing/2014/main" id="{551BC53E-44F6-4455-915F-9943254A5D10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53565DBD-8E19-4943-B67D-F0148602B8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07"/>
          <a:stretch/>
        </p:blipFill>
        <p:spPr>
          <a:xfrm>
            <a:off x="428625" y="1419225"/>
            <a:ext cx="11334750" cy="4672706"/>
          </a:xfrm>
          <a:prstGeom prst="rect">
            <a:avLst/>
          </a:prstGeom>
        </p:spPr>
      </p:pic>
      <p:sp>
        <p:nvSpPr>
          <p:cNvPr id="90" name="original-figure-caption">
            <a:extLst>
              <a:ext uri="{FF2B5EF4-FFF2-40B4-BE49-F238E27FC236}">
                <a16:creationId xmlns:a16="http://schemas.microsoft.com/office/drawing/2014/main" id="{E5DFB244-5AD9-4E2B-BD4A-E87319D12D56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本次用时 7.4 秒（4 轮、6 次调用）；未开启同一快照检查，第 19 页解释。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1ED201BC-804F-484B-942B-2C6047CD9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维护：数据改了，下次使用时再检查和修复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27921A4-25C4-3DB4-06B1-32693CEE224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2" name="write-transition">
            <a:extLst>
              <a:ext uri="{FF2B5EF4-FFF2-40B4-BE49-F238E27FC236}">
                <a16:creationId xmlns:a16="http://schemas.microsoft.com/office/drawing/2014/main" id="{2B6CC203-F5B5-42C7-B895-6A01A33B595A}"/>
              </a:ext>
            </a:extLst>
          </p:cNvPr>
          <p:cNvSpPr>
            <a:spLocks noGrp="1"/>
          </p:cNvSpPr>
          <p:nvPr/>
        </p:nvSpPr>
        <p:spPr>
          <a:xfrm>
            <a:off x="2800350" y="1543050"/>
            <a:ext cx="923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</p:txBody>
      </p:sp>
      <p:sp>
        <p:nvSpPr>
          <p:cNvPr id="88" name="MAVRA-footer">
            <a:extLst>
              <a:ext uri="{FF2B5EF4-FFF2-40B4-BE49-F238E27FC236}">
                <a16:creationId xmlns:a16="http://schemas.microsoft.com/office/drawing/2014/main" id="{B0F8F1D1-93F8-4564-AF16-0F1286BD83C2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B7D85A1F-B769-4DB6-9437-5140660C4A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07"/>
          <a:stretch/>
        </p:blipFill>
        <p:spPr>
          <a:xfrm>
            <a:off x="428625" y="1419225"/>
            <a:ext cx="11334750" cy="4672706"/>
          </a:xfrm>
          <a:prstGeom prst="rect">
            <a:avLst/>
          </a:prstGeom>
        </p:spPr>
      </p:pic>
      <p:sp>
        <p:nvSpPr>
          <p:cNvPr id="90" name="original-figure-caption">
            <a:extLst>
              <a:ext uri="{FF2B5EF4-FFF2-40B4-BE49-F238E27FC236}">
                <a16:creationId xmlns:a16="http://schemas.microsoft.com/office/drawing/2014/main" id="{72DE1563-1E58-4279-8B8B-960ED1888AD9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“回归测试”就是用学习时的数据再算一次。检查和修复共用时 31.6 秒，之后大家共用 v3。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987EE883-5984-41CD-B154-F8BF2ED3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真实运行：数据更正后，同一笔销售出现多行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A83FA91-883A-0168-8075-96CEB9DCA3C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trigger">
            <a:extLst>
              <a:ext uri="{FF2B5EF4-FFF2-40B4-BE49-F238E27FC236}">
                <a16:creationId xmlns:a16="http://schemas.microsoft.com/office/drawing/2014/main" id="{712CE2DB-D336-4B1C-A11E-FAA9ED45B202}"/>
              </a:ext>
            </a:extLst>
          </p:cNvPr>
          <p:cNvSpPr>
            <a:spLocks noGrp="1"/>
          </p:cNvSpPr>
          <p:nvPr/>
        </p:nvSpPr>
        <p:spPr>
          <a:xfrm>
            <a:off x="723900" y="16859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下次调用 find_metric("门店营业额") 时，发现表版本变了</a:t>
            </a:r>
          </a:p>
        </p:txBody>
      </p:sp>
      <p:sp>
        <p:nvSpPr>
          <p:cNvPr id="50" name="check-sql-title">
            <a:extLst>
              <a:ext uri="{FF2B5EF4-FFF2-40B4-BE49-F238E27FC236}">
                <a16:creationId xmlns:a16="http://schemas.microsoft.com/office/drawing/2014/main" id="{83250D89-76ED-4DFC-8982-914BBAC5FFAA}"/>
              </a:ext>
            </a:extLst>
          </p:cNvPr>
          <p:cNvSpPr>
            <a:spLocks noGrp="1"/>
          </p:cNvSpPr>
          <p:nvPr/>
        </p:nvSpPr>
        <p:spPr>
          <a:xfrm>
            <a:off x="733425" y="2276475"/>
            <a:ext cx="5429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检查是否重复的 SQL</a:t>
            </a:r>
          </a:p>
        </p:txBody>
      </p:sp>
      <p:sp>
        <p:nvSpPr>
          <p:cNvPr id="51" name="check-sql-back">
            <a:extLst>
              <a:ext uri="{FF2B5EF4-FFF2-40B4-BE49-F238E27FC236}">
                <a16:creationId xmlns:a16="http://schemas.microsoft.com/office/drawing/2014/main" id="{CACF0DFA-6086-4A12-9933-1A2291F5EE57}"/>
              </a:ext>
            </a:extLst>
          </p:cNvPr>
          <p:cNvSpPr>
            <a:spLocks noGrp="1"/>
          </p:cNvSpPr>
          <p:nvPr/>
        </p:nvSpPr>
        <p:spPr>
          <a:xfrm>
            <a:off x="733425" y="2695575"/>
            <a:ext cx="6229350" cy="247650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check-sql">
            <a:extLst>
              <a:ext uri="{FF2B5EF4-FFF2-40B4-BE49-F238E27FC236}">
                <a16:creationId xmlns:a16="http://schemas.microsoft.com/office/drawing/2014/main" id="{7D181CF7-4FBE-468F-B071-DBEF33C07495}"/>
              </a:ext>
            </a:extLst>
          </p:cNvPr>
          <p:cNvSpPr>
            <a:spLocks noGrp="1"/>
          </p:cNvSpPr>
          <p:nvPr/>
        </p:nvSpPr>
        <p:spPr>
          <a:xfrm>
            <a:off x="847725" y="2771775"/>
            <a:ext cx="6000750" cy="2324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SELECT COUNT(*) AS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n_rows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,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COUNT(DISTINCT (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ss_item_sk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,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ss_sold_date_sk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ss_ticket_number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)) AS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n_keys</a:t>
            </a:r>
            <a:endParaRPr sz="1575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FROM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store_sales</a:t>
            </a:r>
            <a:endParaRPr sz="1575" b="0" dirty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WHERE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ss_item_sk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IS NOT NULL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ss_sold_date_sk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IS NOT NULL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</a:t>
            </a:r>
            <a:r>
              <a:rPr sz="1575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ss_ticket_number</a:t>
            </a:r>
            <a:r>
              <a:rPr sz="1575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IS NOT NULL;</a:t>
            </a:r>
          </a:p>
        </p:txBody>
      </p:sp>
      <p:sp>
        <p:nvSpPr>
          <p:cNvPr id="53" name="nrows">
            <a:extLst>
              <a:ext uri="{FF2B5EF4-FFF2-40B4-BE49-F238E27FC236}">
                <a16:creationId xmlns:a16="http://schemas.microsoft.com/office/drawing/2014/main" id="{6538842E-8EB2-43FF-B0DE-8B0CF828E7B4}"/>
              </a:ext>
            </a:extLst>
          </p:cNvPr>
          <p:cNvSpPr>
            <a:spLocks noGrp="1"/>
          </p:cNvSpPr>
          <p:nvPr/>
        </p:nvSpPr>
        <p:spPr>
          <a:xfrm>
            <a:off x="7448550" y="2390775"/>
            <a:ext cx="4038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1,055,610 行</a:t>
            </a:r>
          </a:p>
        </p:txBody>
      </p:sp>
      <p:sp>
        <p:nvSpPr>
          <p:cNvPr id="54" name="nkeys">
            <a:extLst>
              <a:ext uri="{FF2B5EF4-FFF2-40B4-BE49-F238E27FC236}">
                <a16:creationId xmlns:a16="http://schemas.microsoft.com/office/drawing/2014/main" id="{70483AA1-859B-4E7E-9F30-C217A2BD6C98}"/>
              </a:ext>
            </a:extLst>
          </p:cNvPr>
          <p:cNvSpPr>
            <a:spLocks noGrp="1"/>
          </p:cNvSpPr>
          <p:nvPr/>
        </p:nvSpPr>
        <p:spPr>
          <a:xfrm>
            <a:off x="7448550" y="3171825"/>
            <a:ext cx="4038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989,695 个键</a:t>
            </a:r>
          </a:p>
        </p:txBody>
      </p:sp>
      <p:sp>
        <p:nvSpPr>
          <p:cNvPr id="55" name="time">
            <a:extLst>
              <a:ext uri="{FF2B5EF4-FFF2-40B4-BE49-F238E27FC236}">
                <a16:creationId xmlns:a16="http://schemas.microsoft.com/office/drawing/2014/main" id="{3DA48F88-C3A0-467C-8E6E-CDB27EA5947A}"/>
              </a:ext>
            </a:extLst>
          </p:cNvPr>
          <p:cNvSpPr>
            <a:spLocks noGrp="1"/>
          </p:cNvSpPr>
          <p:nvPr/>
        </p:nvSpPr>
        <p:spPr>
          <a:xfrm>
            <a:off x="7505700" y="4067175"/>
            <a:ext cx="3905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主键唯一检查用时 6.0 秒</a:t>
            </a:r>
          </a:p>
        </p:txBody>
      </p:sp>
      <p:sp>
        <p:nvSpPr>
          <p:cNvPr id="56" name="cause">
            <a:extLst>
              <a:ext uri="{FF2B5EF4-FFF2-40B4-BE49-F238E27FC236}">
                <a16:creationId xmlns:a16="http://schemas.microsoft.com/office/drawing/2014/main" id="{0A4D8C49-DEBB-45D4-8E1A-77B8FC238E84}"/>
              </a:ext>
            </a:extLst>
          </p:cNvPr>
          <p:cNvSpPr>
            <a:spLocks noGrp="1"/>
          </p:cNvSpPr>
          <p:nvPr/>
        </p:nvSpPr>
        <p:spPr>
          <a:xfrm>
            <a:off x="7362825" y="4619625"/>
            <a:ext cx="4191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旧记录和更正后的记录都在</a:t>
            </a:r>
          </a:p>
        </p:txBody>
      </p:sp>
      <p:sp>
        <p:nvSpPr>
          <p:cNvPr id="57" name="takeaway-band">
            <a:extLst>
              <a:ext uri="{FF2B5EF4-FFF2-40B4-BE49-F238E27FC236}">
                <a16:creationId xmlns:a16="http://schemas.microsoft.com/office/drawing/2014/main" id="{1C55AF10-109B-4257-B7D9-1E0CE2B15384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akeaway">
            <a:extLst>
              <a:ext uri="{FF2B5EF4-FFF2-40B4-BE49-F238E27FC236}">
                <a16:creationId xmlns:a16="http://schemas.microsoft.com/office/drawing/2014/main" id="{712EBED1-CE72-4709-9E2D-8194C9634F8E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旧 SQL 仍能执行，却会把旧金额一起加进去</a:t>
            </a:r>
          </a:p>
        </p:txBody>
      </p:sp>
      <p:sp>
        <p:nvSpPr>
          <p:cNvPr id="59" name="source-note">
            <a:extLst>
              <a:ext uri="{FF2B5EF4-FFF2-40B4-BE49-F238E27FC236}">
                <a16:creationId xmlns:a16="http://schemas.microsoft.com/office/drawing/2014/main" id="{ED1ACAFF-087A-4DD7-A506-CE56FF63F6E2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只统计日期号、小票号和商品号都非空的记录。日期表未变，不重查；关联检查用时 0.2 秒。</a:t>
            </a:r>
          </a:p>
        </p:txBody>
      </p:sp>
      <p:sp>
        <p:nvSpPr>
          <p:cNvPr id="60" name="MAVRA-footer">
            <a:extLst>
              <a:ext uri="{FF2B5EF4-FFF2-40B4-BE49-F238E27FC236}">
                <a16:creationId xmlns:a16="http://schemas.microsoft.com/office/drawing/2014/main" id="{70418B38-CB9F-4674-B8CB-53C77122D5B5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3D4A9980-C29B-4878-A207-E23C43E6C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退货例子：每笔只留一行，也不能漏掉任何一笔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C9C7607-4BA3-B4DC-A00F-2E67A9FCFF7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49" name="repair-candidates">
            <a:extLst>
              <a:ext uri="{FF2B5EF4-FFF2-40B4-BE49-F238E27FC236}">
                <a16:creationId xmlns:a16="http://schemas.microsoft.com/office/drawing/2014/main" id="{449241E6-608E-4307-88D6-16A3895A2F1D}"/>
              </a:ext>
            </a:extLst>
          </p:cNvPr>
          <p:cNvGraphicFramePr/>
          <p:nvPr/>
        </p:nvGraphicFramePr>
        <p:xfrm>
          <a:off x="685800" y="1943100"/>
          <a:ext cx="10829925" cy="2181225"/>
        </p:xfrm>
        <a:graphic>
          <a:graphicData uri="http://schemas.openxmlformats.org/drawingml/2006/table">
            <a:tbl>
              <a:tblPr/>
              <a:tblGrid>
                <a:gridCol w="35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尝试的筛选条件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保留的退货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状态＝申请中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漏掉 R03，不能用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状态＝已完成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R01、R02、R03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每笔一行，没有遗漏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regression">
            <a:extLst>
              <a:ext uri="{FF2B5EF4-FFF2-40B4-BE49-F238E27FC236}">
                <a16:creationId xmlns:a16="http://schemas.microsoft.com/office/drawing/2014/main" id="{8DE38A9F-839C-4F97-8417-D2C7DD8D06DE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用学习时的数据再算一次，修复后的 SQL 仍得到 600 元</a:t>
            </a:r>
          </a:p>
        </p:txBody>
      </p:sp>
      <p:sp>
        <p:nvSpPr>
          <p:cNvPr id="51" name="publish">
            <a:extLst>
              <a:ext uri="{FF2B5EF4-FFF2-40B4-BE49-F238E27FC236}">
                <a16:creationId xmlns:a16="http://schemas.microsoft.com/office/drawing/2014/main" id="{5321F9B8-3150-48CE-9D29-153F47B392A2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保存新规则：只算“已完成”，当前结果也是 600 元</a:t>
            </a:r>
          </a:p>
        </p:txBody>
      </p:sp>
      <p:sp>
        <p:nvSpPr>
          <p:cNvPr id="52" name="source-caveat">
            <a:extLst>
              <a:ext uri="{FF2B5EF4-FFF2-40B4-BE49-F238E27FC236}">
                <a16:creationId xmlns:a16="http://schemas.microsoft.com/office/drawing/2014/main" id="{8F71928A-91C7-499E-91EB-C24C30225A12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只有一个方案通过，且用学习时的数据重算结果相同，才发布新版本；否则暂停使用。</a:t>
            </a:r>
          </a:p>
        </p:txBody>
      </p:sp>
      <p:sp>
        <p:nvSpPr>
          <p:cNvPr id="53" name="MAVRA-footer">
            <a:extLst>
              <a:ext uri="{FF2B5EF4-FFF2-40B4-BE49-F238E27FC236}">
                <a16:creationId xmlns:a16="http://schemas.microsoft.com/office/drawing/2014/main" id="{78C39B6C-09C0-4140-80E5-537B88EFB671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CBAD631F-2264-47B8-B536-352CDA44E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真实运行：只有一个修复方案通过全部检查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90F7333B-44AC-F7E9-D49D-FE92F45E047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49" name="repair-candidates">
            <a:extLst>
              <a:ext uri="{FF2B5EF4-FFF2-40B4-BE49-F238E27FC236}">
                <a16:creationId xmlns:a16="http://schemas.microsoft.com/office/drawing/2014/main" id="{BD83AECE-1F4F-416D-8FC0-011A2C1D92D3}"/>
              </a:ext>
            </a:extLst>
          </p:cNvPr>
          <p:cNvGraphicFramePr/>
          <p:nvPr/>
        </p:nvGraphicFramePr>
        <p:xfrm>
          <a:off x="714375" y="1771650"/>
          <a:ext cx="10763250" cy="2295524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尝试的筛选条件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每笔一行，且没有遗漏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ss_is_current = '1'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通过：每笔销售都保留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ss_is_current = '0'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不通过：只剩被更正的销售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ss_quantity = 1 … 9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不通过：每种取值都只留下部分销售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unique-filter">
            <a:extLst>
              <a:ext uri="{FF2B5EF4-FFF2-40B4-BE49-F238E27FC236}">
                <a16:creationId xmlns:a16="http://schemas.microsoft.com/office/drawing/2014/main" id="{1D9FB81A-EEAB-49EE-81A4-814386502213}"/>
              </a:ext>
            </a:extLst>
          </p:cNvPr>
          <p:cNvSpPr>
            <a:spLocks noGrp="1"/>
          </p:cNvSpPr>
          <p:nvPr/>
        </p:nvSpPr>
        <p:spPr>
          <a:xfrm>
            <a:off x="714375" y="4410075"/>
            <a:ext cx="3238500" cy="8858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unique-filter-head">
            <a:extLst>
              <a:ext uri="{FF2B5EF4-FFF2-40B4-BE49-F238E27FC236}">
                <a16:creationId xmlns:a16="http://schemas.microsoft.com/office/drawing/2014/main" id="{AD106DFE-D794-4661-9CF2-36879469E56B}"/>
              </a:ext>
            </a:extLst>
          </p:cNvPr>
          <p:cNvSpPr>
            <a:spLocks noGrp="1"/>
          </p:cNvSpPr>
          <p:nvPr/>
        </p:nvSpPr>
        <p:spPr>
          <a:xfrm>
            <a:off x="809625" y="44958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唯一可用的条件</a:t>
            </a:r>
          </a:p>
        </p:txBody>
      </p:sp>
      <p:sp>
        <p:nvSpPr>
          <p:cNvPr id="52" name="unique-filter-body">
            <a:extLst>
              <a:ext uri="{FF2B5EF4-FFF2-40B4-BE49-F238E27FC236}">
                <a16:creationId xmlns:a16="http://schemas.microsoft.com/office/drawing/2014/main" id="{3006D788-649F-4D25-B7D8-3D672B05A569}"/>
              </a:ext>
            </a:extLst>
          </p:cNvPr>
          <p:cNvSpPr>
            <a:spLocks noGrp="1"/>
          </p:cNvSpPr>
          <p:nvPr/>
        </p:nvSpPr>
        <p:spPr>
          <a:xfrm>
            <a:off x="828675" y="4857750"/>
            <a:ext cx="3009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ss_is_current = '1'</a:t>
            </a:r>
          </a:p>
        </p:txBody>
      </p:sp>
      <p:sp>
        <p:nvSpPr>
          <p:cNvPr id="53" name="regression">
            <a:extLst>
              <a:ext uri="{FF2B5EF4-FFF2-40B4-BE49-F238E27FC236}">
                <a16:creationId xmlns:a16="http://schemas.microsoft.com/office/drawing/2014/main" id="{BBF7F528-145E-4AAE-8856-44D5133B1B2B}"/>
              </a:ext>
            </a:extLst>
          </p:cNvPr>
          <p:cNvSpPr>
            <a:spLocks noGrp="1"/>
          </p:cNvSpPr>
          <p:nvPr/>
        </p:nvSpPr>
        <p:spPr>
          <a:xfrm>
            <a:off x="4514850" y="4410075"/>
            <a:ext cx="4314825" cy="8858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gression-head">
            <a:extLst>
              <a:ext uri="{FF2B5EF4-FFF2-40B4-BE49-F238E27FC236}">
                <a16:creationId xmlns:a16="http://schemas.microsoft.com/office/drawing/2014/main" id="{76488379-91A9-450F-9CD5-16D33BF76CDB}"/>
              </a:ext>
            </a:extLst>
          </p:cNvPr>
          <p:cNvSpPr>
            <a:spLocks noGrp="1"/>
          </p:cNvSpPr>
          <p:nvPr/>
        </p:nvSpPr>
        <p:spPr>
          <a:xfrm>
            <a:off x="4610100" y="4495800"/>
            <a:ext cx="4124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用学习时的数据重算</a:t>
            </a:r>
          </a:p>
        </p:txBody>
      </p:sp>
      <p:sp>
        <p:nvSpPr>
          <p:cNvPr id="55" name="regression-body">
            <a:extLst>
              <a:ext uri="{FF2B5EF4-FFF2-40B4-BE49-F238E27FC236}">
                <a16:creationId xmlns:a16="http://schemas.microsoft.com/office/drawing/2014/main" id="{08E87236-A983-4684-845A-F73CA7B9A43A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40862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13,570,368.70 ＝ 13,570,368.70</a:t>
            </a:r>
          </a:p>
        </p:txBody>
      </p:sp>
      <p:sp>
        <p:nvSpPr>
          <p:cNvPr id="56" name="publish-v3">
            <a:extLst>
              <a:ext uri="{FF2B5EF4-FFF2-40B4-BE49-F238E27FC236}">
                <a16:creationId xmlns:a16="http://schemas.microsoft.com/office/drawing/2014/main" id="{28F4C186-DB12-41AD-ACE3-BC188011F57E}"/>
              </a:ext>
            </a:extLst>
          </p:cNvPr>
          <p:cNvSpPr>
            <a:spLocks noGrp="1"/>
          </p:cNvSpPr>
          <p:nvPr/>
        </p:nvSpPr>
        <p:spPr>
          <a:xfrm>
            <a:off x="9401175" y="4410075"/>
            <a:ext cx="2076450" cy="885825"/>
          </a:xfrm>
          <a:prstGeom prst="rect">
            <a:avLst/>
          </a:prstGeom>
          <a:solidFill>
            <a:srgbClr val="A23838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publish-v3-head">
            <a:extLst>
              <a:ext uri="{FF2B5EF4-FFF2-40B4-BE49-F238E27FC236}">
                <a16:creationId xmlns:a16="http://schemas.microsoft.com/office/drawing/2014/main" id="{0F5657B1-D890-4C11-A771-9B56DDD8952A}"/>
              </a:ext>
            </a:extLst>
          </p:cNvPr>
          <p:cNvSpPr>
            <a:spLocks noGrp="1"/>
          </p:cNvSpPr>
          <p:nvPr/>
        </p:nvSpPr>
        <p:spPr>
          <a:xfrm>
            <a:off x="9496425" y="4495800"/>
            <a:ext cx="1885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 v3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22C8EFF-FC12-464B-A81C-03404E1F78B4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952875" y="4852988"/>
            <a:ext cx="56197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9AEBECB-C9EC-494E-BD64-F338C913E891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8829675" y="4852988"/>
            <a:ext cx="57150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0" name="takeaway-band">
            <a:extLst>
              <a:ext uri="{FF2B5EF4-FFF2-40B4-BE49-F238E27FC236}">
                <a16:creationId xmlns:a16="http://schemas.microsoft.com/office/drawing/2014/main" id="{13CD7855-09F0-4EE5-ADEB-FB86CC15411E}"/>
              </a:ext>
            </a:extLst>
          </p:cNvPr>
          <p:cNvSpPr>
            <a:spLocks noGrp="1"/>
          </p:cNvSpPr>
          <p:nvPr/>
        </p:nvSpPr>
        <p:spPr>
          <a:xfrm>
            <a:off x="714375" y="55245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keaway">
            <a:extLst>
              <a:ext uri="{FF2B5EF4-FFF2-40B4-BE49-F238E27FC236}">
                <a16:creationId xmlns:a16="http://schemas.microsoft.com/office/drawing/2014/main" id="{F8E2EA68-5475-43B1-BDCA-B7373F15F09F}"/>
              </a:ext>
            </a:extLst>
          </p:cNvPr>
          <p:cNvSpPr>
            <a:spLocks noGrp="1"/>
          </p:cNvSpPr>
          <p:nvPr/>
        </p:nvSpPr>
        <p:spPr>
          <a:xfrm>
            <a:off x="866775" y="55816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这条规则检查和修复共用时 31.6 秒，之后大家共用新版本</a:t>
            </a:r>
          </a:p>
        </p:txBody>
      </p:sp>
      <p:sp>
        <p:nvSpPr>
          <p:cNvPr id="62" name="source-note">
            <a:extLst>
              <a:ext uri="{FF2B5EF4-FFF2-40B4-BE49-F238E27FC236}">
                <a16:creationId xmlns:a16="http://schemas.microsoft.com/office/drawing/2014/main" id="{12D3F592-1A4B-4AD5-80D0-87F3499C09C6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真实运行记录：先确认只有一个方案通过检查，再用学习时的数据重算。</a:t>
            </a:r>
          </a:p>
        </p:txBody>
      </p:sp>
      <p:sp>
        <p:nvSpPr>
          <p:cNvPr id="63" name="MAVRA-footer">
            <a:extLst>
              <a:ext uri="{FF2B5EF4-FFF2-40B4-BE49-F238E27FC236}">
                <a16:creationId xmlns:a16="http://schemas.microsoft.com/office/drawing/2014/main" id="{9E2E2B7B-CAB5-4EF6-8257-FE48CFF3228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E0278610-AB62-40B8-B349-9E03E8B46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真实运行：修复后 9 月营业额是 1293.3 万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1C6C81E-38B9-7560-621D-5A151A79DF9B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same-question">
            <a:extLst>
              <a:ext uri="{FF2B5EF4-FFF2-40B4-BE49-F238E27FC236}">
                <a16:creationId xmlns:a16="http://schemas.microsoft.com/office/drawing/2014/main" id="{F63BC88C-CA6E-40BF-BC1D-AD805603AC26}"/>
              </a:ext>
            </a:extLst>
          </p:cNvPr>
          <p:cNvSpPr>
            <a:spLocks noGrp="1"/>
          </p:cNvSpPr>
          <p:nvPr/>
        </p:nvSpPr>
        <p:spPr>
          <a:xfrm>
            <a:off x="723900" y="1724025"/>
            <a:ext cx="10763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同一个问题：数据更正后，9 月门店营业额是多少？</a:t>
            </a:r>
          </a:p>
        </p:txBody>
      </p:sp>
      <p:graphicFrame>
        <p:nvGraphicFramePr>
          <p:cNvPr id="50" name="answer-comparison">
            <a:extLst>
              <a:ext uri="{FF2B5EF4-FFF2-40B4-BE49-F238E27FC236}">
                <a16:creationId xmlns:a16="http://schemas.microsoft.com/office/drawing/2014/main" id="{7DC3836C-79FB-4073-BF47-CD49B58130CF}"/>
              </a:ext>
            </a:extLst>
          </p:cNvPr>
          <p:cNvGraphicFramePr/>
          <p:nvPr/>
        </p:nvGraphicFramePr>
        <p:xfrm>
          <a:off x="714375" y="2476500"/>
          <a:ext cx="10763250" cy="2076450"/>
        </p:xfrm>
        <a:graphic>
          <a:graphicData uri="http://schemas.openxmlformats.org/drawingml/2006/table">
            <a:tbl>
              <a:tblPr/>
              <a:tblGrid>
                <a:gridCol w="620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使用的计算规则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答案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是否正确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 v3：加 ss_is_current='1'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1293.3 万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正确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数据变了仍用旧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1430.1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actual-answer">
            <a:extLst>
              <a:ext uri="{FF2B5EF4-FFF2-40B4-BE49-F238E27FC236}">
                <a16:creationId xmlns:a16="http://schemas.microsoft.com/office/drawing/2014/main" id="{D0FD3EC8-474E-4BF6-B086-13666AC4E2D6}"/>
              </a:ext>
            </a:extLst>
          </p:cNvPr>
          <p:cNvSpPr>
            <a:spLocks noGrp="1"/>
          </p:cNvSpPr>
          <p:nvPr/>
        </p:nvSpPr>
        <p:spPr>
          <a:xfrm>
            <a:off x="762000" y="48196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v3 查询结果：12,932,888.04 元</a:t>
            </a:r>
          </a:p>
        </p:txBody>
      </p:sp>
      <p:sp>
        <p:nvSpPr>
          <p:cNvPr id="52" name="takeaway-band">
            <a:extLst>
              <a:ext uri="{FF2B5EF4-FFF2-40B4-BE49-F238E27FC236}">
                <a16:creationId xmlns:a16="http://schemas.microsoft.com/office/drawing/2014/main" id="{DD9277B7-C81E-4FBD-85D4-E8A948AE675B}"/>
              </a:ext>
            </a:extLst>
          </p:cNvPr>
          <p:cNvSpPr>
            <a:spLocks noGrp="1"/>
          </p:cNvSpPr>
          <p:nvPr/>
        </p:nvSpPr>
        <p:spPr>
          <a:xfrm>
            <a:off x="714375" y="55245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keaway">
            <a:extLst>
              <a:ext uri="{FF2B5EF4-FFF2-40B4-BE49-F238E27FC236}">
                <a16:creationId xmlns:a16="http://schemas.microsoft.com/office/drawing/2014/main" id="{1DCE17DB-2127-4669-BA9D-A8ED7348A8B7}"/>
              </a:ext>
            </a:extLst>
          </p:cNvPr>
          <p:cNvSpPr>
            <a:spLocks noGrp="1"/>
          </p:cNvSpPr>
          <p:nvPr/>
        </p:nvSpPr>
        <p:spPr>
          <a:xfrm>
            <a:off x="866775" y="55816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之后再调用 find_metric，只需 3 ms 就能取得 v3</a:t>
            </a:r>
          </a:p>
        </p:txBody>
      </p:sp>
      <p:sp>
        <p:nvSpPr>
          <p:cNvPr id="54" name="source-note">
            <a:extLst>
              <a:ext uri="{FF2B5EF4-FFF2-40B4-BE49-F238E27FC236}">
                <a16:creationId xmlns:a16="http://schemas.microsoft.com/office/drawing/2014/main" id="{37F917F9-DBB9-46B9-A47E-E39506024BF7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真实运行与对照结果。本次 Agent 共调用工具 9 次，全程用时 81 秒（包含检查和修复）。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8B20EF02-2557-444C-8206-8043775623C7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99955C29-9311-4DBD-8DA0-3666C7AB7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检查与执行必须看到同一份数据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CCF91274-D221-1BB4-3BF9-836E3AD31EB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9" name="separate-label">
            <a:extLst>
              <a:ext uri="{FF2B5EF4-FFF2-40B4-BE49-F238E27FC236}">
                <a16:creationId xmlns:a16="http://schemas.microsoft.com/office/drawing/2014/main" id="{4AAD086B-FBAE-4623-805A-ADFA820948B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先检查后执行</a:t>
            </a:r>
          </a:p>
        </p:txBody>
      </p:sp>
      <p:sp>
        <p:nvSpPr>
          <p:cNvPr id="50" name="check-old">
            <a:extLst>
              <a:ext uri="{FF2B5EF4-FFF2-40B4-BE49-F238E27FC236}">
                <a16:creationId xmlns:a16="http://schemas.microsoft.com/office/drawing/2014/main" id="{272B824B-A62D-41D4-8A1C-8A6BD58943AE}"/>
              </a:ext>
            </a:extLst>
          </p:cNvPr>
          <p:cNvSpPr>
            <a:spLocks noGrp="1"/>
          </p:cNvSpPr>
          <p:nvPr/>
        </p:nvSpPr>
        <p:spPr>
          <a:xfrm>
            <a:off x="714375" y="2276475"/>
            <a:ext cx="2714625" cy="8477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check-old-head">
            <a:extLst>
              <a:ext uri="{FF2B5EF4-FFF2-40B4-BE49-F238E27FC236}">
                <a16:creationId xmlns:a16="http://schemas.microsoft.com/office/drawing/2014/main" id="{EBF5722A-5B6F-4B90-92EA-0D49F69A7F48}"/>
              </a:ext>
            </a:extLst>
          </p:cNvPr>
          <p:cNvSpPr>
            <a:spLocks noGrp="1"/>
          </p:cNvSpPr>
          <p:nvPr/>
        </p:nvSpPr>
        <p:spPr>
          <a:xfrm>
            <a:off x="809625" y="2362200"/>
            <a:ext cx="2524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使用条件检查通过</a:t>
            </a:r>
          </a:p>
        </p:txBody>
      </p:sp>
      <p:sp>
        <p:nvSpPr>
          <p:cNvPr id="52" name="check-old-body">
            <a:extLst>
              <a:ext uri="{FF2B5EF4-FFF2-40B4-BE49-F238E27FC236}">
                <a16:creationId xmlns:a16="http://schemas.microsoft.com/office/drawing/2014/main" id="{504D6C54-C7AE-411B-877F-C198B947992C}"/>
              </a:ext>
            </a:extLst>
          </p:cNvPr>
          <p:cNvSpPr>
            <a:spLocks noGrp="1"/>
          </p:cNvSpPr>
          <p:nvPr/>
        </p:nvSpPr>
        <p:spPr>
          <a:xfrm>
            <a:off x="828675" y="2724150"/>
            <a:ext cx="2486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看到更新前的数据</a:t>
            </a:r>
          </a:p>
        </p:txBody>
      </p:sp>
      <p:sp>
        <p:nvSpPr>
          <p:cNvPr id="53" name="concurrent-write">
            <a:extLst>
              <a:ext uri="{FF2B5EF4-FFF2-40B4-BE49-F238E27FC236}">
                <a16:creationId xmlns:a16="http://schemas.microsoft.com/office/drawing/2014/main" id="{B6EB56E8-4C26-494B-9D4B-9C14B32D673F}"/>
              </a:ext>
            </a:extLst>
          </p:cNvPr>
          <p:cNvSpPr>
            <a:spLocks noGrp="1"/>
          </p:cNvSpPr>
          <p:nvPr/>
        </p:nvSpPr>
        <p:spPr>
          <a:xfrm>
            <a:off x="4457700" y="2276475"/>
            <a:ext cx="3038475" cy="8477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concurrent-write-head">
            <a:extLst>
              <a:ext uri="{FF2B5EF4-FFF2-40B4-BE49-F238E27FC236}">
                <a16:creationId xmlns:a16="http://schemas.microsoft.com/office/drawing/2014/main" id="{BC958AA8-D241-44DE-8FEC-C98F5F10E50E}"/>
              </a:ext>
            </a:extLst>
          </p:cNvPr>
          <p:cNvSpPr>
            <a:spLocks noGrp="1"/>
          </p:cNvSpPr>
          <p:nvPr/>
        </p:nvSpPr>
        <p:spPr>
          <a:xfrm>
            <a:off x="4552950" y="2362200"/>
            <a:ext cx="28479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检查后，数据更新了</a:t>
            </a:r>
          </a:p>
        </p:txBody>
      </p:sp>
      <p:sp>
        <p:nvSpPr>
          <p:cNvPr id="55" name="concurrent-write-body">
            <a:extLst>
              <a:ext uri="{FF2B5EF4-FFF2-40B4-BE49-F238E27FC236}">
                <a16:creationId xmlns:a16="http://schemas.microsoft.com/office/drawing/2014/main" id="{BDB12517-7DAD-443B-BC7A-B47EFDB9835B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280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重复记录进入数据库</a:t>
            </a:r>
          </a:p>
        </p:txBody>
      </p:sp>
      <p:sp>
        <p:nvSpPr>
          <p:cNvPr id="56" name="query-new">
            <a:extLst>
              <a:ext uri="{FF2B5EF4-FFF2-40B4-BE49-F238E27FC236}">
                <a16:creationId xmlns:a16="http://schemas.microsoft.com/office/drawing/2014/main" id="{8444E7EE-EF68-4AE9-9A7A-73E67492331B}"/>
              </a:ext>
            </a:extLst>
          </p:cNvPr>
          <p:cNvSpPr>
            <a:spLocks noGrp="1"/>
          </p:cNvSpPr>
          <p:nvPr/>
        </p:nvSpPr>
        <p:spPr>
          <a:xfrm>
            <a:off x="8524875" y="2276475"/>
            <a:ext cx="2952750" cy="8477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query-new-head">
            <a:extLst>
              <a:ext uri="{FF2B5EF4-FFF2-40B4-BE49-F238E27FC236}">
                <a16:creationId xmlns:a16="http://schemas.microsoft.com/office/drawing/2014/main" id="{AF692DD5-68C1-4946-9E90-8F16CE60FB5C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2762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查询读到更新后数据</a:t>
            </a:r>
          </a:p>
        </p:txBody>
      </p:sp>
      <p:sp>
        <p:nvSpPr>
          <p:cNvPr id="58" name="query-new-body">
            <a:extLst>
              <a:ext uri="{FF2B5EF4-FFF2-40B4-BE49-F238E27FC236}">
                <a16:creationId xmlns:a16="http://schemas.microsoft.com/office/drawing/2014/main" id="{1E3AB981-A735-4DD2-BC65-A48C9B249CF7}"/>
              </a:ext>
            </a:extLst>
          </p:cNvPr>
          <p:cNvSpPr>
            <a:spLocks noGrp="1"/>
          </p:cNvSpPr>
          <p:nvPr/>
        </p:nvSpPr>
        <p:spPr>
          <a:xfrm>
            <a:off x="8639175" y="2724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已不满足刚才的条件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32861B3-F728-4884-B9E3-C5BF78A50F57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429000" y="2700338"/>
            <a:ext cx="102870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EDECBE1-738B-4AC5-82DF-985F81E2F00A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7496175" y="2700338"/>
            <a:ext cx="102870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1" name="unsafe-number">
            <a:extLst>
              <a:ext uri="{FF2B5EF4-FFF2-40B4-BE49-F238E27FC236}">
                <a16:creationId xmlns:a16="http://schemas.microsoft.com/office/drawing/2014/main" id="{31238750-4A01-44FF-808B-601B1E2FC4AC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最多 4.6% 的已作答查询，使用了不满足条件的数据</a:t>
            </a:r>
          </a:p>
        </p:txBody>
      </p:sp>
      <p:sp>
        <p:nvSpPr>
          <p:cNvPr id="62" name="snapshot-area">
            <a:extLst>
              <a:ext uri="{FF2B5EF4-FFF2-40B4-BE49-F238E27FC236}">
                <a16:creationId xmlns:a16="http://schemas.microsoft.com/office/drawing/2014/main" id="{E80B63AA-2889-491F-A616-C34771D9F60F}"/>
              </a:ext>
            </a:extLst>
          </p:cNvPr>
          <p:cNvSpPr>
            <a:spLocks noGrp="1"/>
          </p:cNvSpPr>
          <p:nvPr/>
        </p:nvSpPr>
        <p:spPr>
          <a:xfrm>
            <a:off x="714375" y="4019550"/>
            <a:ext cx="10763250" cy="13335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napshot-label">
            <a:extLst>
              <a:ext uri="{FF2B5EF4-FFF2-40B4-BE49-F238E27FC236}">
                <a16:creationId xmlns:a16="http://schemas.microsoft.com/office/drawing/2014/main" id="{0D1430E5-2B74-413E-8804-3AA3B0AA36E3}"/>
              </a:ext>
            </a:extLst>
          </p:cNvPr>
          <p:cNvSpPr>
            <a:spLocks noGrp="1"/>
          </p:cNvSpPr>
          <p:nvPr/>
        </p:nvSpPr>
        <p:spPr>
          <a:xfrm>
            <a:off x="885825" y="4048125"/>
            <a:ext cx="1040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固定同一份数据（同一快照）</a:t>
            </a:r>
          </a:p>
        </p:txBody>
      </p:sp>
      <p:sp>
        <p:nvSpPr>
          <p:cNvPr id="64" name="read-snapshot">
            <a:extLst>
              <a:ext uri="{FF2B5EF4-FFF2-40B4-BE49-F238E27FC236}">
                <a16:creationId xmlns:a16="http://schemas.microsoft.com/office/drawing/2014/main" id="{82045389-D2EA-4D69-9D56-F73FF3775DB0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724150" cy="6477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ad-snapshot-head">
            <a:extLst>
              <a:ext uri="{FF2B5EF4-FFF2-40B4-BE49-F238E27FC236}">
                <a16:creationId xmlns:a16="http://schemas.microsoft.com/office/drawing/2014/main" id="{247693D8-C294-4AC5-89DB-7BF069ED8796}"/>
              </a:ext>
            </a:extLst>
          </p:cNvPr>
          <p:cNvSpPr>
            <a:spLocks noGrp="1"/>
          </p:cNvSpPr>
          <p:nvPr/>
        </p:nvSpPr>
        <p:spPr>
          <a:xfrm>
            <a:off x="1028700" y="45815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读取表版本</a:t>
            </a:r>
          </a:p>
        </p:txBody>
      </p:sp>
      <p:sp>
        <p:nvSpPr>
          <p:cNvPr id="66" name="check-snapshot">
            <a:extLst>
              <a:ext uri="{FF2B5EF4-FFF2-40B4-BE49-F238E27FC236}">
                <a16:creationId xmlns:a16="http://schemas.microsoft.com/office/drawing/2014/main" id="{5CC1E992-4D0C-47F7-8D89-AA9085FE7BBB}"/>
              </a:ext>
            </a:extLst>
          </p:cNvPr>
          <p:cNvSpPr>
            <a:spLocks noGrp="1"/>
          </p:cNvSpPr>
          <p:nvPr/>
        </p:nvSpPr>
        <p:spPr>
          <a:xfrm>
            <a:off x="4733925" y="4495800"/>
            <a:ext cx="2724150" cy="6477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check-snapshot-head">
            <a:extLst>
              <a:ext uri="{FF2B5EF4-FFF2-40B4-BE49-F238E27FC236}">
                <a16:creationId xmlns:a16="http://schemas.microsoft.com/office/drawing/2014/main" id="{1ADB2993-C31D-41BA-B6DD-97E5188F4531}"/>
              </a:ext>
            </a:extLst>
          </p:cNvPr>
          <p:cNvSpPr>
            <a:spLocks noGrp="1"/>
          </p:cNvSpPr>
          <p:nvPr/>
        </p:nvSpPr>
        <p:spPr>
          <a:xfrm>
            <a:off x="4829175" y="45815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检查使用条件</a:t>
            </a:r>
          </a:p>
        </p:txBody>
      </p:sp>
      <p:sp>
        <p:nvSpPr>
          <p:cNvPr id="68" name="execute-snapshot">
            <a:extLst>
              <a:ext uri="{FF2B5EF4-FFF2-40B4-BE49-F238E27FC236}">
                <a16:creationId xmlns:a16="http://schemas.microsoft.com/office/drawing/2014/main" id="{8624859A-CA4B-4119-A127-5E5EA68BF863}"/>
              </a:ext>
            </a:extLst>
          </p:cNvPr>
          <p:cNvSpPr>
            <a:spLocks noGrp="1"/>
          </p:cNvSpPr>
          <p:nvPr/>
        </p:nvSpPr>
        <p:spPr>
          <a:xfrm>
            <a:off x="8505825" y="4495800"/>
            <a:ext cx="2724150" cy="6477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execute-snapshot-head">
            <a:extLst>
              <a:ext uri="{FF2B5EF4-FFF2-40B4-BE49-F238E27FC236}">
                <a16:creationId xmlns:a16="http://schemas.microsoft.com/office/drawing/2014/main" id="{197961F6-78C4-4CF6-9023-368AD7348410}"/>
              </a:ext>
            </a:extLst>
          </p:cNvPr>
          <p:cNvSpPr>
            <a:spLocks noGrp="1"/>
          </p:cNvSpPr>
          <p:nvPr/>
        </p:nvSpPr>
        <p:spPr>
          <a:xfrm>
            <a:off x="8601075" y="45815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执行查询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DD440D0-7564-4BAC-BE42-25D964344CE9}"/>
              </a:ext>
            </a:extLst>
          </p:cNvPr>
          <p:cNvCxnSpPr>
            <a:stCxn id="64" idx="3"/>
            <a:endCxn id="66" idx="1"/>
          </p:cNvCxnSpPr>
          <p:nvPr/>
        </p:nvCxnSpPr>
        <p:spPr>
          <a:xfrm>
            <a:off x="3657600" y="4819650"/>
            <a:ext cx="107632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D7BB90A-6BE9-4523-A5A9-42569E9E5389}"/>
              </a:ext>
            </a:extLst>
          </p:cNvPr>
          <p:cNvCxnSpPr>
            <a:stCxn id="66" idx="3"/>
            <a:endCxn id="68" idx="1"/>
          </p:cNvCxnSpPr>
          <p:nvPr/>
        </p:nvCxnSpPr>
        <p:spPr>
          <a:xfrm>
            <a:off x="7458075" y="4819650"/>
            <a:ext cx="10477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72" name="safe-number">
            <a:extLst>
              <a:ext uri="{FF2B5EF4-FFF2-40B4-BE49-F238E27FC236}">
                <a16:creationId xmlns:a16="http://schemas.microsoft.com/office/drawing/2014/main" id="{7677B9C9-4E8F-4037-BB87-39F6547320C3}"/>
              </a:ext>
            </a:extLst>
          </p:cNvPr>
          <p:cNvSpPr>
            <a:spLocks noGrp="1"/>
          </p:cNvSpPr>
          <p:nvPr/>
        </p:nvSpPr>
        <p:spPr>
          <a:xfrm>
            <a:off x="762000" y="5534025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11,297 次已作答查询中，0 次使用不满足条件的数据</a:t>
            </a:r>
          </a:p>
        </p:txBody>
      </p:sp>
      <p:sp>
        <p:nvSpPr>
          <p:cNvPr id="73" name="source-note">
            <a:extLst>
              <a:ext uri="{FF2B5EF4-FFF2-40B4-BE49-F238E27FC236}">
                <a16:creationId xmlns:a16="http://schemas.microsoft.com/office/drawing/2014/main" id="{E354820A-D30A-4DB5-86B1-5A4518DCDC4E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论文 §7.3 表 3，查询和更新同时发生。0/11,297 为四组实验合计；4.6% 来自更新未提前通知的实验。</a:t>
            </a:r>
          </a:p>
        </p:txBody>
      </p:sp>
      <p:sp>
        <p:nvSpPr>
          <p:cNvPr id="74" name="MAVRA-footer">
            <a:extLst>
              <a:ext uri="{FF2B5EF4-FFF2-40B4-BE49-F238E27FC236}">
                <a16:creationId xmlns:a16="http://schemas.microsoft.com/office/drawing/2014/main" id="{8A739562-3DB0-4C0A-A36A-774A17051167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978F8DFD-804C-49E7-9F65-F561C7AD6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实验：共享计算规则，减少重复查找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844E025A-983C-6D44-79C6-4612AACD43F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49" name="sharing-results">
            <a:extLst>
              <a:ext uri="{FF2B5EF4-FFF2-40B4-BE49-F238E27FC236}">
                <a16:creationId xmlns:a16="http://schemas.microsoft.com/office/drawing/2014/main" id="{A0A62748-5BB8-421D-8471-BBEECD0AC0F4}"/>
              </a:ext>
            </a:extLst>
          </p:cNvPr>
          <p:cNvGraphicFramePr/>
          <p:nvPr/>
        </p:nvGraphicFramePr>
        <p:xfrm>
          <a:off x="714375" y="2162175"/>
          <a:ext cx="7239000" cy="2733675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没有学过的新问题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不共享规则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单题平均耗时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75.6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speedup">
            <a:extLst>
              <a:ext uri="{FF2B5EF4-FFF2-40B4-BE49-F238E27FC236}">
                <a16:creationId xmlns:a16="http://schemas.microsoft.com/office/drawing/2014/main" id="{FDFACE29-75CA-407D-9529-C5BCB1A32AAF}"/>
              </a:ext>
            </a:extLst>
          </p:cNvPr>
          <p:cNvSpPr>
            <a:spLocks noGrp="1"/>
          </p:cNvSpPr>
          <p:nvPr/>
        </p:nvSpPr>
        <p:spPr>
          <a:xfrm>
            <a:off x="8401050" y="2333625"/>
            <a:ext cx="3238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8.9 倍</a:t>
            </a:r>
          </a:p>
        </p:txBody>
      </p:sp>
      <p:sp>
        <p:nvSpPr>
          <p:cNvPr id="51" name="speedup-label">
            <a:extLst>
              <a:ext uri="{FF2B5EF4-FFF2-40B4-BE49-F238E27FC236}">
                <a16:creationId xmlns:a16="http://schemas.microsoft.com/office/drawing/2014/main" id="{FE003B5E-695D-48B6-8EDD-766DE4F6F02A}"/>
              </a:ext>
            </a:extLst>
          </p:cNvPr>
          <p:cNvSpPr>
            <a:spLocks noGrp="1"/>
          </p:cNvSpPr>
          <p:nvPr/>
        </p:nvSpPr>
        <p:spPr>
          <a:xfrm>
            <a:off x="8401050" y="3629025"/>
            <a:ext cx="323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完成查询更快</a:t>
            </a:r>
          </a:p>
        </p:txBody>
      </p:sp>
      <p:sp>
        <p:nvSpPr>
          <p:cNvPr id="52" name="control">
            <a:extLst>
              <a:ext uri="{FF2B5EF4-FFF2-40B4-BE49-F238E27FC236}">
                <a16:creationId xmlns:a16="http://schemas.microsoft.com/office/drawing/2014/main" id="{D0D32BD7-D1D4-462A-892C-CF8D5BCAF73D}"/>
              </a:ext>
            </a:extLst>
          </p:cNvPr>
          <p:cNvSpPr>
            <a:spLocks noGrp="1"/>
          </p:cNvSpPr>
          <p:nvPr/>
        </p:nvSpPr>
        <p:spPr>
          <a:xfrm>
            <a:off x="790575" y="52863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数据没变时，查找以前的成功示例也能达到 100% 准确率</a:t>
            </a:r>
          </a:p>
        </p:txBody>
      </p:sp>
      <p:sp>
        <p:nvSpPr>
          <p:cNvPr id="53" name="source-caveat">
            <a:extLst>
              <a:ext uri="{FF2B5EF4-FFF2-40B4-BE49-F238E27FC236}">
                <a16:creationId xmlns:a16="http://schemas.microsoft.com/office/drawing/2014/main" id="{5CE72BE8-E99D-4927-BC64-D7F0DAE5B6F0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论文 §7.6–7.7。数据未变，使用 DeepSeek V4.1 Flash，耗时包含整个任务。</a:t>
            </a:r>
          </a:p>
        </p:txBody>
      </p:sp>
      <p:sp>
        <p:nvSpPr>
          <p:cNvPr id="54" name="MAVRA-footer">
            <a:extLst>
              <a:ext uri="{FF2B5EF4-FFF2-40B4-BE49-F238E27FC236}">
                <a16:creationId xmlns:a16="http://schemas.microsoft.com/office/drawing/2014/main" id="{E05E61A1-EF74-4C6F-9F70-A6F6B84477E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85E965D2-826E-4EFA-A179-0B27F47F1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实验：数据更新后，检查和修复能提高准确率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F6DF2BE2-2DFA-1C03-677D-BDC2260D6D9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49" name="breaking-results">
            <a:extLst>
              <a:ext uri="{FF2B5EF4-FFF2-40B4-BE49-F238E27FC236}">
                <a16:creationId xmlns:a16="http://schemas.microsoft.com/office/drawing/2014/main" id="{F55262A8-8EB2-4366-B326-DD1AD82D35C9}"/>
              </a:ext>
            </a:extLst>
          </p:cNvPr>
          <p:cNvGraphicFramePr/>
          <p:nvPr/>
        </p:nvGraphicFramePr>
        <p:xfrm>
          <a:off x="714375" y="2009775"/>
          <a:ext cx="6762750" cy="3238500"/>
        </p:xfrm>
        <a:graphic>
          <a:graphicData uri="http://schemas.openxmlformats.org/drawingml/2006/table">
            <a:tbl>
              <a:tblPr/>
              <a:tblGrid>
                <a:gridCol w="493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不共享规则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查找历史示例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查找示例＋Agent 自己检查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benefit">
            <a:extLst>
              <a:ext uri="{FF2B5EF4-FFF2-40B4-BE49-F238E27FC236}">
                <a16:creationId xmlns:a16="http://schemas.microsoft.com/office/drawing/2014/main" id="{BB202A5D-415A-448E-A7EA-D07DC9F5B055}"/>
              </a:ext>
            </a:extLst>
          </p:cNvPr>
          <p:cNvSpPr>
            <a:spLocks noGrp="1"/>
          </p:cNvSpPr>
          <p:nvPr/>
        </p:nvSpPr>
        <p:spPr>
          <a:xfrm>
            <a:off x="8201025" y="2390775"/>
            <a:ext cx="3381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＋16</a:t>
            </a:r>
          </a:p>
        </p:txBody>
      </p:sp>
      <p:sp>
        <p:nvSpPr>
          <p:cNvPr id="51" name="benefit-unit">
            <a:extLst>
              <a:ext uri="{FF2B5EF4-FFF2-40B4-BE49-F238E27FC236}">
                <a16:creationId xmlns:a16="http://schemas.microsoft.com/office/drawing/2014/main" id="{2D1142FF-4777-48E1-BCA9-3F7CF747CBBE}"/>
              </a:ext>
            </a:extLst>
          </p:cNvPr>
          <p:cNvSpPr>
            <a:spLocks noGrp="1"/>
          </p:cNvSpPr>
          <p:nvPr/>
        </p:nvSpPr>
        <p:spPr>
          <a:xfrm>
            <a:off x="8201025" y="3476625"/>
            <a:ext cx="3381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个百分点</a:t>
            </a:r>
          </a:p>
        </p:txBody>
      </p:sp>
      <p:sp>
        <p:nvSpPr>
          <p:cNvPr id="52" name="benefit-caption">
            <a:extLst>
              <a:ext uri="{FF2B5EF4-FFF2-40B4-BE49-F238E27FC236}">
                <a16:creationId xmlns:a16="http://schemas.microsoft.com/office/drawing/2014/main" id="{3E5ABB3D-4FF8-43A3-8FEF-B8848FEFFE6B}"/>
              </a:ext>
            </a:extLst>
          </p:cNvPr>
          <p:cNvSpPr>
            <a:spLocks noGrp="1"/>
          </p:cNvSpPr>
          <p:nvPr/>
        </p:nvSpPr>
        <p:spPr>
          <a:xfrm>
            <a:off x="7839075" y="4238625"/>
            <a:ext cx="39052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相比查找历史示例</a:t>
            </a:r>
          </a:p>
        </p:txBody>
      </p:sp>
      <p:sp>
        <p:nvSpPr>
          <p:cNvPr id="53" name="result-scope">
            <a:extLst>
              <a:ext uri="{FF2B5EF4-FFF2-40B4-BE49-F238E27FC236}">
                <a16:creationId xmlns:a16="http://schemas.microsoft.com/office/drawing/2014/main" id="{2F6503C9-31DA-4224-91A1-BC1ABA8C6614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06108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73% 是最终回答准确率，也包括修复失败后 Agent 自己查找答案</a:t>
            </a:r>
          </a:p>
        </p:txBody>
      </p:sp>
      <p:sp>
        <p:nvSpPr>
          <p:cNvPr id="54" name="source-caveat">
            <a:extLst>
              <a:ext uri="{FF2B5EF4-FFF2-40B4-BE49-F238E27FC236}">
                <a16:creationId xmlns:a16="http://schemas.microsoft.com/office/drawing/2014/main" id="{82C0F399-2EC1-4DDB-B640-787A11BF5AFE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论文 §7.6。测试五类会破坏原有使用条件的数据更新，每种方法独立运行三次。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565E48BE-09DA-4DAD-B30E-48382E32C4D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05347BA7-147D-4F3A-89A9-5C6456D38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局限：有些业务变化，系统无法自动判断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0BB18BA8-60F4-C50D-CD9B-1BB87D3E8506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背景与例子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49" name="limits">
            <a:extLst>
              <a:ext uri="{FF2B5EF4-FFF2-40B4-BE49-F238E27FC236}">
                <a16:creationId xmlns:a16="http://schemas.microsoft.com/office/drawing/2014/main" id="{2706A5F5-6AF7-4831-A835-5C0C23A84662}"/>
              </a:ext>
            </a:extLst>
          </p:cNvPr>
          <p:cNvGraphicFramePr/>
          <p:nvPr/>
        </p:nvGraphicFramePr>
        <p:xfrm>
          <a:off x="714375" y="2076450"/>
          <a:ext cx="10763250" cy="2743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系统能检查什么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系统如何处理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金额单位变了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600 元改写成 60000 分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行数、编号和关联都没变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无法判断金额单位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需要新的业务说明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这些检查发现不了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两份完整的数据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每份都是一笔一行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能发现重复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但两种筛选方法都能通过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不自动选择其中一份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暂停使用这条规则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takeaway-band">
            <a:extLst>
              <a:ext uri="{FF2B5EF4-FFF2-40B4-BE49-F238E27FC236}">
                <a16:creationId xmlns:a16="http://schemas.microsoft.com/office/drawing/2014/main" id="{8C6468D4-3E7A-40FC-96F5-83F36ED2C7A2}"/>
              </a:ext>
            </a:extLst>
          </p:cNvPr>
          <p:cNvSpPr>
            <a:spLocks noGrp="1"/>
          </p:cNvSpPr>
          <p:nvPr/>
        </p:nvSpPr>
        <p:spPr>
          <a:xfrm>
            <a:off x="714375" y="54006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keaway">
            <a:extLst>
              <a:ext uri="{FF2B5EF4-FFF2-40B4-BE49-F238E27FC236}">
                <a16:creationId xmlns:a16="http://schemas.microsoft.com/office/drawing/2014/main" id="{AA603F0D-24D2-47EE-A2D5-B5155152617D}"/>
              </a:ext>
            </a:extLst>
          </p:cNvPr>
          <p:cNvSpPr>
            <a:spLocks noGrp="1"/>
          </p:cNvSpPr>
          <p:nvPr/>
        </p:nvSpPr>
        <p:spPr>
          <a:xfrm>
            <a:off x="866775" y="54578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检查不通过，又无法确定唯一修复方法时，暂停使用并等待重新学习</a:t>
            </a:r>
          </a:p>
        </p:txBody>
      </p:sp>
      <p:sp>
        <p:nvSpPr>
          <p:cNvPr id="52" name="source-note">
            <a:extLst>
              <a:ext uri="{FF2B5EF4-FFF2-40B4-BE49-F238E27FC236}">
                <a16:creationId xmlns:a16="http://schemas.microsoft.com/office/drawing/2014/main" id="{0D068EF5-BAF1-49AC-9FD1-E5A28EE0A76C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还需要正确的业务说明、明确的规则版本，以及在同一份数据上检查和查询。</a:t>
            </a:r>
          </a:p>
        </p:txBody>
      </p:sp>
      <p:sp>
        <p:nvSpPr>
          <p:cNvPr id="53" name="MAVRA-footer">
            <a:extLst>
              <a:ext uri="{FF2B5EF4-FFF2-40B4-BE49-F238E27FC236}">
                <a16:creationId xmlns:a16="http://schemas.microsoft.com/office/drawing/2014/main" id="{0113DFF3-CBB2-4592-8A3E-1DAEF1EF079F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08AD14A-26A1-4ED1-9BA0-707D35332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61" t="20535" r="8157" b="34135"/>
          <a:stretch>
            <a:fillRect/>
          </a:stretch>
        </p:blipFill>
        <p:spPr>
          <a:xfrm flipH="1">
            <a:off x="0" y="1485265"/>
            <a:ext cx="12192000" cy="3602355"/>
          </a:xfrm>
          <a:prstGeom prst="rect">
            <a:avLst/>
          </a:prstGeom>
        </p:spPr>
      </p:pic>
      <p:sp>
        <p:nvSpPr>
          <p:cNvPr id="12" name="淘宝-想搞设计PPT(倒卖必究)-24">
            <a:extLst>
              <a:ext uri="{FF2B5EF4-FFF2-40B4-BE49-F238E27FC236}">
                <a16:creationId xmlns:a16="http://schemas.microsoft.com/office/drawing/2014/main" id="{D17B7066-2A4F-406B-B6C6-9CEECF9A2537}"/>
              </a:ext>
            </a:extLst>
          </p:cNvPr>
          <p:cNvSpPr>
            <a:spLocks noGrp="1"/>
          </p:cNvSpPr>
          <p:nvPr/>
        </p:nvSpPr>
        <p:spPr>
          <a:xfrm>
            <a:off x="0" y="1485265"/>
            <a:ext cx="12192000" cy="3602355"/>
          </a:xfrm>
          <a:prstGeom prst="rect">
            <a:avLst/>
          </a:prstGeom>
          <a:solidFill>
            <a:srgbClr val="A2383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A98F4D-6DBD-4D93-8E43-06A1915D034E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>
              <a:ext uri="{FF2B5EF4-FFF2-40B4-BE49-F238E27FC236}">
                <a16:creationId xmlns:a16="http://schemas.microsoft.com/office/drawing/2014/main" id="{2E5F918B-39AD-4052-B5F6-9DB18AB94D85}"/>
              </a:ext>
            </a:extLst>
          </p:cNvPr>
          <p:cNvSpPr>
            <a:spLocks noGrp="1"/>
          </p:cNvSpPr>
          <p:nvPr/>
        </p:nvSpPr>
        <p:spPr>
          <a:xfrm>
            <a:off x="5530463" y="752088"/>
            <a:ext cx="1193304" cy="11933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8D4E6CD-34CC-41CE-ACED-4705A51E9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496" y="771121"/>
            <a:ext cx="1155238" cy="115523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835FAD2-ACC7-46CE-AB52-CFDF394D5896}"/>
              </a:ext>
            </a:extLst>
          </p:cNvPr>
          <p:cNvSpPr>
            <a:spLocks noGrp="1"/>
          </p:cNvSpPr>
          <p:nvPr/>
        </p:nvSpPr>
        <p:spPr>
          <a:xfrm>
            <a:off x="952500" y="5505450"/>
            <a:ext cx="10287000" cy="4892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退货例子说明过程，营业额记录展示真实运行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淘宝-想搞设计PPT(倒卖必究)-7">
            <a:extLst>
              <a:ext uri="{FF2B5EF4-FFF2-40B4-BE49-F238E27FC236}">
                <a16:creationId xmlns:a16="http://schemas.microsoft.com/office/drawing/2014/main" id="{8C0AD2EC-4FA7-4E1B-9043-A4113BBA6738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共享计算规则，使用时检查和修复</a:t>
            </a:r>
          </a:p>
        </p:txBody>
      </p:sp>
      <p:sp>
        <p:nvSpPr>
          <p:cNvPr id="15" name="淘宝-想搞设计PPT(倒卖必究)-8">
            <a:extLst>
              <a:ext uri="{FF2B5EF4-FFF2-40B4-BE49-F238E27FC236}">
                <a16:creationId xmlns:a16="http://schemas.microsoft.com/office/drawing/2014/main" id="{B1EA418B-C1C5-4375-BA2C-094965CCD89E}"/>
              </a:ext>
            </a:extLst>
          </p:cNvPr>
          <p:cNvSpPr>
            <a:spLocks noGrp="1"/>
          </p:cNvSpPr>
          <p:nvPr/>
        </p:nvSpPr>
        <p:spPr>
          <a:xfrm>
            <a:off x="952500" y="4114800"/>
            <a:ext cx="10287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学会怎么算以后，还要检查数据变了能不能继续用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3E0B4AC-1FA7-4608-982C-4A179FF22DE3}"/>
              </a:ext>
            </a:extLst>
          </p:cNvPr>
          <p:cNvSpPr>
            <a:spLocks noGrp="1"/>
          </p:cNvSpPr>
          <p:nvPr/>
        </p:nvSpPr>
        <p:spPr>
          <a:xfrm>
            <a:off x="2927668" y="3933190"/>
            <a:ext cx="6983730" cy="0"/>
          </a:xfrm>
          <a:prstGeom prst="line">
            <a:avLst/>
          </a:prstGeom>
          <a:ln w="28575">
            <a:solidFill>
              <a:srgbClr val="FEF9F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灯片编号占位符 45">
            <a:extLst>
              <a:ext uri="{FF2B5EF4-FFF2-40B4-BE49-F238E27FC236}">
                <a16:creationId xmlns:a16="http://schemas.microsoft.com/office/drawing/2014/main" id="{E4003A9B-F48A-4B4E-B4E3-8D17FC777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25200" y="6657975"/>
            <a:ext cx="800100" cy="171450"/>
          </a:xfrm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A4E99CEF-AF55-BA3C-ADF8-4E52E186DD8F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MAVRA-footer">
            <a:extLst>
              <a:ext uri="{FF2B5EF4-FFF2-40B4-BE49-F238E27FC236}">
                <a16:creationId xmlns:a16="http://schemas.microsoft.com/office/drawing/2014/main" id="{4AEEBF16-4C32-4E58-9959-6E0861E3A54E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663662246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3107</Words>
  <Application>Microsoft Office PowerPoint</Application>
  <DocSecurity>0</DocSecurity>
  <PresentationFormat>宽屏</PresentationFormat>
  <Paragraphs>595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Arial</vt:lpstr>
      <vt:lpstr>微软雅黑</vt:lpstr>
      <vt:lpstr>思源宋体 CN Light</vt:lpstr>
      <vt:lpstr>思源宋体 CN Medium</vt:lpstr>
      <vt:lpstr>主题2</vt:lpstr>
      <vt:lpstr>3_主题2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泰 明</cp:lastModifiedBy>
  <cp:revision>2</cp:revision>
  <dcterms:created xsi:type="dcterms:W3CDTF">2026-10-11T10:00:26Z</dcterms:created>
  <dcterms:modified xsi:type="dcterms:W3CDTF">2026-10-12T06:01:05Z</dcterms:modified>
</cp:coreProperties>
</file>