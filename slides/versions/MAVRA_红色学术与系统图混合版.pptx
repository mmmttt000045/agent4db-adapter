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d89b09b06e4e3b" /><Relationship Type="http://schemas.openxmlformats.org/officeDocument/2006/relationships/extended-properties" Target="/docProps/app.xml" Id="Rf0772f091fdc42ad" /><Relationship Type="http://schemas.openxmlformats.org/officeDocument/2006/relationships/officeDocument" Target="/ppt/presentation.xml" Id="R66e1d2e8b8154059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44109b6122e24a2d"/>
    <p:sldMasterId xmlns:r="http://schemas.openxmlformats.org/officeDocument/2006/relationships" id="2147483655" r:id="Ree10e90cbe5e494f"/>
  </p:sldMasterIdLst>
  <p:notesMasterIdLst>
    <p:notesMasterId xmlns:r="http://schemas.openxmlformats.org/officeDocument/2006/relationships" r:id="Rab2ca74972df4457"/>
  </p:notesMasterIdLst>
  <p:sldIdLst>
    <p:sldId xmlns:r="http://schemas.openxmlformats.org/officeDocument/2006/relationships" id="256" r:id="Rf8b2a3eda4dd45f0"/>
    <p:sldId xmlns:r="http://schemas.openxmlformats.org/officeDocument/2006/relationships" id="257" r:id="R071ccf89a5ee4d40"/>
    <p:sldId xmlns:r="http://schemas.openxmlformats.org/officeDocument/2006/relationships" id="258" r:id="Rc1a0ac070a734f78"/>
    <p:sldId xmlns:r="http://schemas.openxmlformats.org/officeDocument/2006/relationships" id="259" r:id="Rf0a2ed8a2bf04fe8"/>
    <p:sldId xmlns:r="http://schemas.openxmlformats.org/officeDocument/2006/relationships" id="260" r:id="Rd040a66b898741bb"/>
    <p:sldId xmlns:r="http://schemas.openxmlformats.org/officeDocument/2006/relationships" id="261" r:id="R7e54610209bb410e"/>
    <p:sldId xmlns:r="http://schemas.openxmlformats.org/officeDocument/2006/relationships" id="262" r:id="Rdba31f6e831646a1"/>
    <p:sldId xmlns:r="http://schemas.openxmlformats.org/officeDocument/2006/relationships" id="263" r:id="Rddfa8983d8364dd2"/>
    <p:sldId xmlns:r="http://schemas.openxmlformats.org/officeDocument/2006/relationships" id="264" r:id="R96ed5518edff4c27"/>
    <p:sldId xmlns:r="http://schemas.openxmlformats.org/officeDocument/2006/relationships" id="265" r:id="Rf851799ccabe41c9"/>
    <p:sldId xmlns:r="http://schemas.openxmlformats.org/officeDocument/2006/relationships" id="266" r:id="Rc263d95c0a094aa9"/>
    <p:sldId xmlns:r="http://schemas.openxmlformats.org/officeDocument/2006/relationships" id="267" r:id="Rd3bbe5bd84f34c4e"/>
    <p:sldId xmlns:r="http://schemas.openxmlformats.org/officeDocument/2006/relationships" id="268" r:id="Rb35753890bb54e7a"/>
    <p:sldId xmlns:r="http://schemas.openxmlformats.org/officeDocument/2006/relationships" id="269" r:id="Recf1f4549c4f48b1"/>
    <p:sldId xmlns:r="http://schemas.openxmlformats.org/officeDocument/2006/relationships" id="270" r:id="R50e549d59d7f4e29"/>
    <p:sldId xmlns:r="http://schemas.openxmlformats.org/officeDocument/2006/relationships" id="271" r:id="R0c7f61f1a0c64aa0"/>
  </p:sldIdLst>
  <p:sldSz cx="12192000" cy="6858000"/>
  <p:notesSz cx="6858000" cy="9144000"/>
  <p:embeddedFontLst>
    <p:embeddedFont>
      <p:font typeface="微软雅黑"/>
      <p:regular xmlns:r="http://schemas.openxmlformats.org/officeDocument/2006/relationships" r:id="Ra7c648119bf940dc"/>
      <p:bold xmlns:r="http://schemas.openxmlformats.org/officeDocument/2006/relationships" r:id="Rfb4d335b31634d95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authors.xml><?xml version="1.0" encoding="utf-8"?>
<p188:authorLst xmlns:p188="http://schemas.microsoft.com/office/powerpoint/2018/8/main">
  <p188:author id="{7265A9FE-0638-E1AD-55F9-8C6FFAC0F837}" name="梦阳 马" initials="梦马" userId="9fbde04e6393f71f" providerId="Windows Liv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45000" cy="45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2d5dc666684a95" /><Relationship Type="http://schemas.openxmlformats.org/officeDocument/2006/relationships/slideMaster" Target="/ppt/slideMasters/slideMaster1.xml" Id="R44109b6122e24a2d" /><Relationship Type="http://schemas.openxmlformats.org/officeDocument/2006/relationships/slideMaster" Target="/ppt/slideMasters/slideMaster2.xml" Id="Ree10e90cbe5e494f" /><Relationship Type="http://schemas.openxmlformats.org/officeDocument/2006/relationships/notesMaster" Target="/ppt/notesMasters/notesMaster1.xml" Id="Rab2ca74972df4457" /><Relationship Type="http://schemas.openxmlformats.org/officeDocument/2006/relationships/presProps" Target="/ppt/presProps.xml" Id="R2dcf036dcea64f26" /><Relationship Type="http://schemas.openxmlformats.org/officeDocument/2006/relationships/viewProps" Target="/ppt/viewProps.xml" Id="Rf100982030b647b5" /><Relationship Type="http://schemas.openxmlformats.org/officeDocument/2006/relationships/tableStyles" Target="/ppt/tableStyles.xml" Id="R6e65b11d174e4cd7" /><Relationship Type="http://schemas.openxmlformats.org/officeDocument/2006/relationships/font" Target="/ppt/fonts/font.dat" Id="Ra7c648119bf940dc" /><Relationship Type="http://schemas.openxmlformats.org/officeDocument/2006/relationships/font" Target="/ppt/fonts/font2.dat" Id="Rfb4d335b31634d95" /><Relationship Type="http://schemas.microsoft.com/office/2018/10/relationships/authors" Target="/ppt/authors.xml" Id="R076e3f426a5740b9" /><Relationship Type="http://schemas.openxmlformats.org/officeDocument/2006/relationships/slide" Target="/ppt/slides/slide1.xml" Id="Rf8b2a3eda4dd45f0" /><Relationship Type="http://schemas.openxmlformats.org/officeDocument/2006/relationships/slide" Target="/ppt/slides/slide2.xml" Id="R071ccf89a5ee4d40" /><Relationship Type="http://schemas.openxmlformats.org/officeDocument/2006/relationships/slide" Target="/ppt/slides/slide3.xml" Id="Rc1a0ac070a734f78" /><Relationship Type="http://schemas.openxmlformats.org/officeDocument/2006/relationships/slide" Target="/ppt/slides/slide4.xml" Id="Rf0a2ed8a2bf04fe8" /><Relationship Type="http://schemas.openxmlformats.org/officeDocument/2006/relationships/slide" Target="/ppt/slides/slide5.xml" Id="Rd040a66b898741bb" /><Relationship Type="http://schemas.openxmlformats.org/officeDocument/2006/relationships/slide" Target="/ppt/slides/slide6.xml" Id="R7e54610209bb410e" /><Relationship Type="http://schemas.openxmlformats.org/officeDocument/2006/relationships/slide" Target="/ppt/slides/slide7.xml" Id="Rdba31f6e831646a1" /><Relationship Type="http://schemas.openxmlformats.org/officeDocument/2006/relationships/slide" Target="/ppt/slides/slide8.xml" Id="Rddfa8983d8364dd2" /><Relationship Type="http://schemas.openxmlformats.org/officeDocument/2006/relationships/slide" Target="/ppt/slides/slide9.xml" Id="R96ed5518edff4c27" /><Relationship Type="http://schemas.openxmlformats.org/officeDocument/2006/relationships/slide" Target="/ppt/slides/slide10.xml" Id="Rf851799ccabe41c9" /><Relationship Type="http://schemas.openxmlformats.org/officeDocument/2006/relationships/slide" Target="/ppt/slides/slide11.xml" Id="Rc263d95c0a094aa9" /><Relationship Type="http://schemas.openxmlformats.org/officeDocument/2006/relationships/slide" Target="/ppt/slides/slide12.xml" Id="Rd3bbe5bd84f34c4e" /><Relationship Type="http://schemas.openxmlformats.org/officeDocument/2006/relationships/slide" Target="/ppt/slides/slide13.xml" Id="Rb35753890bb54e7a" /><Relationship Type="http://schemas.openxmlformats.org/officeDocument/2006/relationships/slide" Target="/ppt/slides/slide14.xml" Id="Recf1f4549c4f48b1" /><Relationship Type="http://schemas.openxmlformats.org/officeDocument/2006/relationships/slide" Target="/ppt/slides/slide15.xml" Id="R50e549d59d7f4e29" /><Relationship Type="http://schemas.openxmlformats.org/officeDocument/2006/relationships/slide" Target="/ppt/slides/slide16.xml" Id="R0c7f61f1a0c64a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e6e70eb83f841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5624830e814060" /><Relationship Type="http://schemas.openxmlformats.org/officeDocument/2006/relationships/notesMaster" Target="/ppt/notesMasters/notesMaster1.xml" Id="R95b86ead130f40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e25dc7c3b140b7" /><Relationship Type="http://schemas.openxmlformats.org/officeDocument/2006/relationships/notesMaster" Target="/ppt/notesMasters/notesMaster1.xml" Id="R2912e262e2d549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2c51c3da1040b5" /><Relationship Type="http://schemas.openxmlformats.org/officeDocument/2006/relationships/notesMaster" Target="/ppt/notesMasters/notesMaster1.xml" Id="Rffb85b5820c94e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431fae883e4c8f" /><Relationship Type="http://schemas.openxmlformats.org/officeDocument/2006/relationships/notesMaster" Target="/ppt/notesMasters/notesMaster1.xml" Id="R7cb65fe1e69f40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faba1347fb4771" /><Relationship Type="http://schemas.openxmlformats.org/officeDocument/2006/relationships/notesMaster" Target="/ppt/notesMasters/notesMaster1.xml" Id="R14d44c0e4dc143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3200540ea94430" /><Relationship Type="http://schemas.openxmlformats.org/officeDocument/2006/relationships/notesMaster" Target="/ppt/notesMasters/notesMaster1.xml" Id="R48f38e74ee0f46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cdd43886f041c1" /><Relationship Type="http://schemas.openxmlformats.org/officeDocument/2006/relationships/notesMaster" Target="/ppt/notesMasters/notesMaster1.xml" Id="R870780d7057047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31c494a6c9469d" /><Relationship Type="http://schemas.openxmlformats.org/officeDocument/2006/relationships/notesMaster" Target="/ppt/notesMasters/notesMaster1.xml" Id="Rdffda186bde343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de78e8fd474a43" /><Relationship Type="http://schemas.openxmlformats.org/officeDocument/2006/relationships/notesMaster" Target="/ppt/notesMasters/notesMaster1.xml" Id="R16d13cff959747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153af1e22f424c" /><Relationship Type="http://schemas.openxmlformats.org/officeDocument/2006/relationships/notesMaster" Target="/ppt/notesMasters/notesMaster1.xml" Id="R3d1a71c7cbc542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8ad99859fb4fd4" /><Relationship Type="http://schemas.openxmlformats.org/officeDocument/2006/relationships/notesMaster" Target="/ppt/notesMasters/notesMaster1.xml" Id="R81900a147cdc4f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5219d5b6e241d4" /><Relationship Type="http://schemas.openxmlformats.org/officeDocument/2006/relationships/notesMaster" Target="/ppt/notesMasters/notesMaster1.xml" Id="Rdb291659cf5f4a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de7feaeb014dfe" /><Relationship Type="http://schemas.openxmlformats.org/officeDocument/2006/relationships/notesMaster" Target="/ppt/notesMasters/notesMaster1.xml" Id="Rf6603d1dad0b46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371239527d4058" /><Relationship Type="http://schemas.openxmlformats.org/officeDocument/2006/relationships/notesMaster" Target="/ppt/notesMasters/notesMaster1.xml" Id="R11fb9b5874e145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3aab1998d04ab1" /><Relationship Type="http://schemas.openxmlformats.org/officeDocument/2006/relationships/notesMaster" Target="/ppt/notesMasters/notesMaster1.xml" Id="R10cfc77ebf8942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e8980731654abc" /><Relationship Type="http://schemas.openxmlformats.org/officeDocument/2006/relationships/notesMaster" Target="/ppt/notesMasters/notesMaster1.xml" Id="Re61707e0a46647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今天介绍 MAVRA。它处理一个具体问题：一个 Agent 已经学会了某个指标的计算口径，其他 Agent 怎样复用，以及数据更新以后如何继续信任这条知识。接下来先完整讲一次退货金额查询，再解释系统架构、数据模型和生命周期。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Agents。摘要与第 1 节。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这是学习阶段的一次请求。用户把业务口径一起说清楚：只统计已经完成的退货，月份按退货日期计算。屏幕右侧只有三笔业务事件，金额分别是 100、200 和 300 元，所以答案是 600 元。R01/A 表示一张小票中的一个商品，真正标识业务事件的是小票和商品的组合。后面所有页面都围绕这三笔退货展开。这里的金额和编号是解释机制的小例子，不是论文实验测量值。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1、3、4.1 节。该数值例子依据论文的退货状态变更场景构造。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数据 Agent 接到自然语言问题以后，需要查看表结构、探查样例和编写 SQL。它找到了 store_returns 中的退货金额列，通过退货日期键连接日期维表，再选择九月份并汇总。在学习时，这个表里的行都是完成态，每组小票加商品只有一行，因此即使 SQL 没有显式的状态过滤，结果也正好是 600 元。请记住这条隐藏前提：一笔退货等于一行。后面新增状态记录后，SQL 仍然能运行，隐藏前提却会失效。业务含义来自学习请求中的明确证据，不能只凭表结构猜出。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1、2.2、3 节。示意计算。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现在换一个从未见过这个指标的用户 Agent。用户只说指标名，不再重复业务口径。Agent 可以检索到前面学到的定义，知道应该看哪个金额列、使用哪个日期、怎样连接表。这省去了重复探索。共享的不是 600 元这个答案，而是能够生成计算 SQL 的知识。九月只是本次请求参数，换成十月仍然用同一条定义，但必须访问当前数据库重新计算。这也是 MAVRA 与按 SQL 文本缓存结果的区别。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2.1、3、4.1 节。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业务系统后来把退货流程中的申请态也写入同一张表。R01 和 R02 因而各有两行，R03 只有完成态。正确的业务结果仍然是三笔已经完成的退货，共 600 元。旧 SQL 不知道新增行只是状态流水，于是把 100 和 200 元各多算一次，得到 900 元。这里并没有新增字段，也没有语法错误，靠 SQL 是否执行成功无法发现问题。更严重的是，所有复用旧定义的 Agent 都会拿到同一种错误计算方法。论文的真实场景中也出现了退货金额被重复计算的情况，本页只用小数字展示成因。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1、2.2、7.6 节。示意数值，非论文原始结果。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先看左上角。学习 Agent 接到带有明确业务口径的请求，计算出 600 元。沿着①，学习记录被提取为候选定义，经过发布检查，规范 SQL 必须复现学习时的结果，才进入共享记忆。再看右上角，其他用户 Agent 只需要询问九月退货金额，它们读取定义，并随 SQL 声明自己依赖的指标版本。②和③表示使用路径：在同一份数据库快照中检查前提并执行查询。最后看下方，业务写入新增了申请态记录。MAVRA 在使用时发现相关前提失效，通过④完成统一的校验和修复，发布新版本。这里共享的是定义和校验结果，数据库仍然执行真正的查询。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 第 3–6 节、原演示文稿的三张系统图，以及 steps.py 中 position、premises、map、check、repair、invalid 的流程结构。图中 600 元、900 元及 r1/r2 是延续本演示的讲解示例。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数据模型回答的是：我们究竟共享什么。一条定义有业务含义、结构化实现、有效性条件、学习证据和版本号。对于退货金额，结构化实现记录退货表、金额表达式、小票加商品这个业务粒度、退货日期角色以及日期表连接。九月份不应该写死在定义里，因为其他月份也要复用。r1 学习时表里全部是完成态，所以没有额外状态过滤。MAVRA 从定义中的粒度和连接结构派生检查条件，并把学习时的 SQL 和数据快照保留下来，供未来回归验证。这样共享的是一份有适用前提和证据的知识。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4.1–4.5 节。r1 为讲解用版本编号。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张图按从左到右阅读。每一行说明，定义的一部分结构怎样产生一条可执行的前提。第一行，直接对退货表求和，默认一笔退货只出现一行，因此系统派生粒度唯一性检查。第二行，通过退货日期连接日期表，要求沿声明的日期角色匹配，并且不能把一条退货放大成多行。第三行，使用内连接会丢掉匹配不上的退货，因此需要约束漏配比例，防止结果悄悄少算。回到本例，新增申请中记录以后有五行但只有三个业务键，第一行的检查就失败了。注意业务含义仍然需要外部证据，结构条件不能判断金额单位是否变化，也不能识别所有合法但错误的日期键。日期键范围优化增加的连续性前提在第十二页单独说明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 第 3–6 节、原演示文稿的三张系统图，以及 steps.py 中 position、premises、map、check、repair、invalid 的流程结构。图中 600 元、900 元及 r1/r2 是延续本演示的讲解示例。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先沿上方主线读。r1 最初有效，退货表发生写入后相关检查结果过期，定义进入待校验状态。下次使用时检查前提。正常追加新退货时，检查仍然通过，r1 可以继续使用。本例新增了申请中记录，粒度唯一性失败，所以 r1 失效，沿图中向下的分支进入修复。系统搜索能保持每键一行且不丢键的等值过滤，只有一个候选才继续，并且必须在学习时的数据上通过回归。本例选择状态等于已完成，发布 r2 后返回 600 元，后面的 Agent 直接复用新版本。如果没有候选、有多个候选，或者回归失败，就走向保持失效并通知重新学习。左下是优化支线：只有等价且更快的改写才发布，如果它独有的新增前提失效，则回退到不需要该前提的形式。发布优化后旧版本只要自己的条件仍成立仍可使用，失效修复则替换原版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 第 3–6 节、原演示文稿的三张系统图，以及 steps.py 中 position、premises、map、check、repair、invalid 的流程结构。图中 600 元、900 元及 r1/r2 是延续本演示的讲解示例。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修复不能随便选择一个能去重的条件。MAVRA 在低基数列上搜索等值过滤，并要求筛选后每个业务键恰好一行，而且不丢掉任何原有业务键。对于这个表，申请中只保留 R01 和 R02，丢掉 R03，所以不合格。已完成保留三组键，每组一行。系统枚举完搜索空间，确认只有这个候选满足结构要求，再回到学习时的数据快照，比较修复后的规范 SQL 和当初判定正确的学习 SQL。两者都应返回 600 元。这里必须回到学习时，不能拿已经失效的旧 SQL 在当前数据上算出的 900 元当标准。通过后发布新版本 r2，之后的 Agent 都能复用这次修复。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5.3 节与算法 1。状态名称、键和金额为讲解示例。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即使有检查，如果检查和业务查询分开运行，中间仍然可能有并发写入。例如检查时只有三笔完成态，检查通过后其他事务写入申请态，随后旧查询读到五行并返回 900 元。MAVRA 的同快照模式在一个可重复读事务中读取事务性表版本、复用或执行条件检查，再运行业务 SQL。这样，如果快照在写入前，检查和查询都看到三行，结果是 600 元。如果快照已经包含申请态，检查失败，系统拒绝这次使用并交给维护流程。这个保证以 Agent 明确声明自己依赖的指标版本为前提，并不能约束所有没有声明的 SQL。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6.2、6.3 节，表 3。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维护除了修复错误，还可以把共享定义变得更便宜。仍然是九月退货金额：原 SQL 连接日期维表筛选月份，优化规则可以把它改成在事实表上按日期键区间过滤，区间上下界从日期维表读取。这个改写有额外前提，每个月的日期键必须连续，月份之间还要按顺序相接。系统在采用前检查前提、验证结果和测量成本。未来日期键重编号时，退货键唯一性和连接完整性可能仍然成立，但连续性失效，此时只撤销依赖连续性的优化，回到不需要这个前提的日期连接形式。已完成过滤仍保留。优化和修复都发布新版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5.4、7.8 节，命题 5.1。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前面解释了为什么共享值得做，这页看论文测量。对于没有参与学习的新问题，没有共享时准确率是 49%，使用 MAVRA 定义后达到 100%。从首次工具调用到最终答案，平均任务时间由 75.6 秒降到 8.5 秒，约快 8.9 倍。这个收益主要来自复用业务知识，不能全部归因于维护机制。公平的对照是检索历史成功示例，它在数据不变时同样能达到 100%。因此真正区分 MAVRA 的场景在下一页：数据变化之后，记忆怎样继续保持可用。这里所有数字是论文的全量任务实验，不是前面三笔退货的小数据。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7.6、7.7 节。建库成本另计，约 181k tokens、283 秒/库。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数据发生会破坏已有前提的写入后，MAVRA 的最终回答准确率为 73%，检索历史示例为 57%，提升 16 个百分点。即使要求检索 Agent 自行检查粒度、连接和日期键，也只有 63%。原因对应前面的例子：历史示例可以告诉 Agent 曾经怎么求和，却不会自动判断这条 SQL 是否已经过时，而受维护的定义可以附带检查结果和共享的修复。必须区分系统保证和端到端准确率，73% 并不是所有请求都能自动修好。某些场景只能让定义失效，后续仍由 Agent 自行探索。实验共覆盖五类破坏性写入，论文报告 MAVRA 的三次运行区间为 69%–76%。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7.6 节，图 4；19% 与用户原 PPT 第 7 页一致。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这里说明两类边界。第一类是不可从结构条件识别的语义变化。假如金额单位由元变成分，600 变成 60000，但每笔退货仍然一行，连接也完全正常，MAVRA 的这些条件并不能自动识别单位变了。第二类是发现了问题却不能唯一修复，例如同一批退货有主副本和备份，过滤任意一份都能恢复每笔一行，系统不能据此判断哪份才反映真实业务，必须拒绝自动选择。对于检测到而无法确定修复的场景，定义保持失效，通知使用者并等待重新学习或人工提供新证据。金额单位这一类不可检测变化则需要外部业务证据，不能承诺系统会自动失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4.3、5.3、7.4、9 节。600 元与 60000 分为等值单位变换的讲解示例。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回到最开始的退货问题。第一次 Agent 学会怎样计算，下一位 Agent 直接复用定义。数据新增申请态以后，旧 SQL 仍能执行，MAVRA 通过前提检查发现重复，只在找到唯一并通过回归的修复时发布新版本。这就是系统架构、数据模型和生命周期共同解决的一件事：让一次学到的指标知识能够持续被其他 Agent 信任和使用。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资料来源：用户提供的 main-en.pdf，MAVRA: Maintainable Shared Memory for Data Agents。第 10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5fd8ddba441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db2b66b5e42b9" /><Relationship Type="http://schemas.openxmlformats.org/officeDocument/2006/relationships/image" Target="/ppt/media/image.png" Id="R9569b1df0faa46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47712684c40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55e06713046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2a2d77bb4484d" /><Relationship Type="http://schemas.openxmlformats.org/officeDocument/2006/relationships/image" Target="/ppt/media/image2.png" Id="Rb84414a9cd9b410f" /><Relationship Type="http://schemas.openxmlformats.org/officeDocument/2006/relationships/image" Target="/ppt/media/image3.png" Id="R9021505baf6d49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ddda0e15b427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44d81c09ca4b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b7bcb2be5c40de" /><Relationship Type="http://schemas.openxmlformats.org/officeDocument/2006/relationships/image" Target="/ppt/media/image.png" Id="R629220d6d7d74e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796d7715e14453" /></Relationships>
</file>

<file path=ppt/slideLayouts/slideLayout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E724929-BCC5-4CC2-98DA-E5CE8B9E1E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C276025-84A2-4E30-A556-4DE7BB56581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586AF6C-8CDC-4F70-9681-6E7C90E3C8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1">
              <a:t>2025/10/19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9F202A6-EE69-4FB1-9544-B40999FD95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D5FD5A-B47E-4252-B784-154314CBD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hf hdr="0" ftr="0"/>
</p:sldLayout>
</file>

<file path=ppt/slideLayouts/slideLayout2.xml><?xml version="1.0" encoding="utf-8"?>
<p:sldLayout xmlns:p="http://schemas.openxmlformats.org/presentationml/2006/main" preserve="1">
  <p:cSld name="内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98C98C0B-8FEB-4CAA-ADEE-33842A2A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162" y="1212615"/>
            <a:ext cx="8468838" cy="5645385"/>
          </a:xfrm>
          <a:prstGeom xmlns:a="http://schemas.openxmlformats.org/drawingml/2006/main" prst="roundRect">
            <a:avLst>
              <a:gd name="adj" fmla="val 0"/>
            </a:avLst>
          </a:prstGeom>
          <a:blipFill xmlns:a="http://schemas.openxmlformats.org/drawingml/2006/main" rotWithShape="1">
            <a:blip xmlns:r="http://schemas.openxmlformats.org/officeDocument/2006/relationships" r:embed="R9569b1df0faa4676">
              <a:alphaModFix amt="78000"/>
              <a:lum bright="70000" contrast="-70000"/>
            </a:blip>
            <a:srcRect l="0" t="0" r="0" b="0"/>
            <a:stretch>
              <a:fillRect l="-2104" t="-17263" r="-2232" b="-9915"/>
            </a:stretch>
          </a:blip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hf hdr="0" ftr="0"/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C3355D6-2F6C-48B6-ABBD-828CBE85E2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1">
              <a:t>2025/10/19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0224570-F67B-4896-9742-078884E041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2C199E-2D6B-4F24-A270-A6DA2519D7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hf hdr="0" ftr="0"/>
</p:sldLayout>
</file>

<file path=ppt/slideLayouts/slideLayout4.xml><?xml version="1.0" encoding="utf-8"?>
<p:sldLayout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hf hdr="0" ftr="0"/>
</p:sldLayout>
</file>

<file path=ppt/slideLayouts/slideLayout5.xml><?xml version="1.0" encoding="utf-8"?>
<p:sldLayout xmlns:p="http://schemas.openxmlformats.org/presentationml/2006/main" preserve="1" userDrawn="1">
  <p:cSld name="样机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1197BAD-8471-42E3-B55F-94B02D3A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92400"/>
            <a:ext cx="12192000" cy="21590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rgbClr val="B53132"/>
              </a:gs>
              <a:gs pos="100000">
                <a:srgbClr val="DC5A5D"/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0716620-4920-4A5E-B2BE-BD785AACB4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E63B7F-BEDC-44E3-891F-8E1DE6767941}" type="datetime1">
              <a:t>2025/10/19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48B925C-B809-48EA-926E-B32C40C200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277201C-D887-44D0-9699-92DF7E5B35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F3269D-51BB-4135-9D7F-7CA81D23812E}" type="slidenum">
              <a:t>‹#›</a:t>
            </a:fld>
            <a:endParaRPr/>
          </a:p>
        </p:txBody>
      </p:sp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021DADEA-80F7-46ED-860C-829E51E472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414a9cd9b41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81029" y="298670"/>
            <a:ext cx="2409371" cy="599981"/>
          </a:xfrm>
          <a:prstGeom xmlns:a="http://schemas.openxmlformats.org/drawingml/2006/main" prst="rect">
            <a:avLst/>
          </a:prstGeom>
        </p:spPr>
      </p:pic>
      <p:pic>
        <p:nvPicPr>
          <p:cNvPr id="6" name="图片 5">
            <a:extLst xmlns:a="http://schemas.openxmlformats.org/drawingml/2006/main">
              <a:ext uri="{FF2B5EF4-FFF2-40B4-BE49-F238E27FC236}">
                <a16:creationId xmlns:a16="http://schemas.microsoft.com/office/drawing/2014/main" id="{24E82F68-2598-4776-8E76-D2B54537EA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21505baf6d497f"/>
          <a:srcRect xmlns:a="http://schemas.openxmlformats.org/drawingml/2006/main" l="7912" t="4985" r="7595" b="7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819150"/>
            <a:ext cx="5086350" cy="5295900"/>
          </a:xfrm>
          <a:prstGeom xmlns:a="http://schemas.openxmlformats.org/drawingml/2006/main" prst="rect">
            <a:avLst/>
          </a:prstGeom>
        </p:spPr>
      </p:pic>
      <p:sp>
        <p:nvSpPr>
          <p:cNvPr id="12" name="图片占位符 11">
            <a:extLst xmlns:a="http://schemas.openxmlformats.org/drawingml/2006/main">
              <a:ext uri="{FF2B5EF4-FFF2-40B4-BE49-F238E27FC236}">
                <a16:creationId xmlns:a16="http://schemas.microsoft.com/office/drawing/2014/main" id="{2392986B-7AAA-4364-80D2-5E2F7870E4DB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790700" y="1428750"/>
            <a:ext cx="3133725" cy="4152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hf hdr="0" ftr="0"/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928DD1A-9D90-4DFE-95E5-F08BE9859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DE2BE2D-9BCF-473C-8E55-1E20C47544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fld id="{5592522B-0F24-4480-B9DD-A9474A6880D6}" type="datetime1">
              <a:t>2025/10/19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6F20095-DE12-4616-83A6-E49EB3890C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846A099-0922-44B2-9979-9C3FAAA30B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fld id="{BE5F26B5-172A-4DC2-B0B7-181CFC56B87C}" type="slidenum">
              <a:t>‹#›</a:t>
            </a:fld>
            <a:endParaRPr/>
          </a:p>
        </p:txBody>
      </p:sp>
    </p:spTree>
  </p:cSld>
  <p:hf hdr="0" ftr="0"/>
</p:sldLayout>
</file>

<file path=ppt/slideLayouts/slideLayout7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F8948A-56E2-48C0-897F-8589CEE8A6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892ECAB-C5E7-4916-8A49-8AD7427493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BA331B-FD06-48D3-8557-9DF6ED3805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1">
              <a:t>2025/10/19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14E925B-61E5-4406-AD38-8720E87F7E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055AAF-FF7E-4C82-9F24-B0C84100F0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hf hdr="0" ftr="0"/>
</p:sldLayout>
</file>

<file path=ppt/slideLayouts/slideLayout8.xml><?xml version="1.0" encoding="utf-8"?>
<p:sldLayout xmlns:p="http://schemas.openxmlformats.org/presentationml/2006/main" preserve="1">
  <p:cSld name="内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A588321E-4836-4E53-97AE-66313223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162" y="1212615"/>
            <a:ext cx="8468838" cy="5645385"/>
          </a:xfrm>
          <a:prstGeom xmlns:a="http://schemas.openxmlformats.org/drawingml/2006/main" prst="roundRect">
            <a:avLst>
              <a:gd name="adj" fmla="val 0"/>
            </a:avLst>
          </a:prstGeom>
          <a:blipFill xmlns:a="http://schemas.openxmlformats.org/drawingml/2006/main" rotWithShape="1">
            <a:blip xmlns:r="http://schemas.openxmlformats.org/officeDocument/2006/relationships" r:embed="R629220d6d7d74ed7">
              <a:alphaModFix amt="78000"/>
              <a:lum bright="70000" contrast="-70000"/>
            </a:blip>
            <a:srcRect l="0" t="0" r="0" b="0"/>
            <a:stretch>
              <a:fillRect l="-2104" t="-17263" r="-2232" b="-9915"/>
            </a:stretch>
          </a:blip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hf hdr="0" ftr="0"/>
</p:sldLayout>
</file>

<file path=ppt/slideLayouts/slideLayout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75B29C6-C5FF-48F7-A809-97AD3C4823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1">
              <a:t>2025/10/19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8396EF8-F962-478F-A039-B739EEC127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F92CF06-67DE-4985-9C51-CF7EB36D3A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hf hdr="0" ftr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6c524533ef4a07" /><Relationship Type="http://schemas.openxmlformats.org/officeDocument/2006/relationships/slideLayout" Target="/ppt/slideLayouts/slideLayout1.xml" Id="R6892f2fbbb8a4ef7" /><Relationship Type="http://schemas.openxmlformats.org/officeDocument/2006/relationships/slideLayout" Target="/ppt/slideLayouts/slideLayout2.xml" Id="Rc0931359ce9e412b" /><Relationship Type="http://schemas.openxmlformats.org/officeDocument/2006/relationships/slideLayout" Target="/ppt/slideLayouts/slideLayout3.xml" Id="R56e06b5cf40044f2" /><Relationship Type="http://schemas.openxmlformats.org/officeDocument/2006/relationships/slideLayout" Target="/ppt/slideLayouts/slideLayout4.xml" Id="Rad5dcfdd061a4dd6" /><Relationship Type="http://schemas.openxmlformats.org/officeDocument/2006/relationships/slideLayout" Target="/ppt/slideLayouts/slideLayout5.xml" Id="R3ffba669334c4652" /><Relationship Type="http://schemas.openxmlformats.org/officeDocument/2006/relationships/slideLayout" Target="/ppt/slideLayouts/slideLayout6.xml" Id="R6d94f5f69e0d42e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927797bab2c497a" /><Relationship Type="http://schemas.openxmlformats.org/officeDocument/2006/relationships/slideLayout" Target="/ppt/slideLayouts/slideLayout7.xml" Id="R23f5688a209a47e6" /><Relationship Type="http://schemas.openxmlformats.org/officeDocument/2006/relationships/slideLayout" Target="/ppt/slideLayouts/slideLayout8.xml" Id="R9b6558b5b53846d3" /><Relationship Type="http://schemas.openxmlformats.org/officeDocument/2006/relationships/slideLayout" Target="/ppt/slideLayouts/slideLayout9.xml" Id="Rc69b7bba3de24e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4122A22-8B2A-48CE-8EC0-7F5B74007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1D587D2-5CA0-4546-BB01-11DCA67AA4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62670AD-7A14-46CF-8FEA-A0E0402536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97B5FA-0921-464F-AAE1-844C04324D75}" type="datetime1">
              <a:t>2025/10/19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6174E54-CE15-445E-B7FF-4F07E72DD95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B30139F-4348-4C89-9A6C-29A98F352AF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92f2fbbb8a4ef7"/>
    <p:sldLayoutId xmlns:r="http://schemas.openxmlformats.org/officeDocument/2006/relationships" id="2147483650" r:id="Rc0931359ce9e412b"/>
    <p:sldLayoutId xmlns:r="http://schemas.openxmlformats.org/officeDocument/2006/relationships" id="2147483651" r:id="R56e06b5cf40044f2"/>
    <p:sldLayoutId xmlns:r="http://schemas.openxmlformats.org/officeDocument/2006/relationships" id="2147483652" r:id="Rad5dcfdd061a4dd6"/>
    <p:sldLayoutId xmlns:r="http://schemas.openxmlformats.org/officeDocument/2006/relationships" id="2147483653" r:id="R3ffba669334c4652"/>
    <p:sldLayoutId xmlns:r="http://schemas.openxmlformats.org/officeDocument/2006/relationships" id="2147483654" r:id="R6d94f5f69e0d42e8"/>
  </p:sldLayoutIdLst>
  <p:hf hdr="0" ft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A415578-ED20-4249-9EFA-D576CF1093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F445888-2C5F-49DB-A915-356147545F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75C5E9-6DD9-46CE-A56F-DCB6E7E910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97B5FA-0921-464F-AAE1-844C04324D75}" type="datetime1">
              <a:t>2025/10/19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A6A1402-B9BB-4D97-8269-CFBA311B6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EFDC072-78C5-4F21-9B7A-957E79E78B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23f5688a209a47e6"/>
    <p:sldLayoutId xmlns:r="http://schemas.openxmlformats.org/officeDocument/2006/relationships" id="2147483657" r:id="R9b6558b5b53846d3"/>
    <p:sldLayoutId xmlns:r="http://schemas.openxmlformats.org/officeDocument/2006/relationships" id="2147483658" r:id="Rc69b7bba3de24e37"/>
  </p:sldLayoutIdLst>
  <p:hf hdr="0" ft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3_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9cd7560a95e4369" /><Relationship Type="http://schemas.openxmlformats.org/officeDocument/2006/relationships/image" Target="/ppt/media/image.jpeg" Id="R910c8ffdd3374459" /><Relationship Type="http://schemas.openxmlformats.org/officeDocument/2006/relationships/image" Target="/ppt/media/image4.png" Id="R97cd98d57c784bd6" /><Relationship Type="http://schemas.openxmlformats.org/officeDocument/2006/relationships/notesSlide" Target="/ppt/notesSlides/notesSlide1.xml" Id="Re94fdf6f62624f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0a10c91814b04" /><Relationship Type="http://schemas.openxmlformats.org/officeDocument/2006/relationships/image" Target="/ppt/media/image5.png" Id="R6e51fa67b5784bed" /><Relationship Type="http://schemas.openxmlformats.org/officeDocument/2006/relationships/notesSlide" Target="/ppt/notesSlides/notesSlide2.xml" Id="R7e8624c21b6d49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6ace7d2c44053" /><Relationship Type="http://schemas.openxmlformats.org/officeDocument/2006/relationships/image" Target="/ppt/media/image5.png" Id="R8818b53481b34e8a" /><Relationship Type="http://schemas.openxmlformats.org/officeDocument/2006/relationships/notesSlide" Target="/ppt/notesSlides/notesSlide3.xml" Id="R8f22dcf6872846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15752c37d46f8" /><Relationship Type="http://schemas.openxmlformats.org/officeDocument/2006/relationships/image" Target="/ppt/media/image5.png" Id="R479ea4caa0394e9b" /><Relationship Type="http://schemas.openxmlformats.org/officeDocument/2006/relationships/notesSlide" Target="/ppt/notesSlides/notesSlide4.xml" Id="R9fd8b84163a647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6da3f137c4d3d" /><Relationship Type="http://schemas.openxmlformats.org/officeDocument/2006/relationships/image" Target="/ppt/media/image5.png" Id="R60747aa1e43f4a3b" /><Relationship Type="http://schemas.openxmlformats.org/officeDocument/2006/relationships/notesSlide" Target="/ppt/notesSlides/notesSlide5.xml" Id="R8667f04722f647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158a70fb24329" /><Relationship Type="http://schemas.openxmlformats.org/officeDocument/2006/relationships/notesSlide" Target="/ppt/notesSlides/notesSlide6.xml" Id="R13e826276ff241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17bdb648445fe" /><Relationship Type="http://schemas.openxmlformats.org/officeDocument/2006/relationships/image" Target="/ppt/media/image5.png" Id="R3d6c66bd15dc4298" /><Relationship Type="http://schemas.openxmlformats.org/officeDocument/2006/relationships/notesSlide" Target="/ppt/notesSlides/notesSlide7.xml" Id="R2429ed5946914f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ec6bad0b140e6" /><Relationship Type="http://schemas.openxmlformats.org/officeDocument/2006/relationships/notesSlide" Target="/ppt/notesSlides/notesSlide8.xml" Id="R6c587308a6ab49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0183daebf4247" /><Relationship Type="http://schemas.openxmlformats.org/officeDocument/2006/relationships/notesSlide" Target="/ppt/notesSlides/notesSlide9.xml" Id="Rd57696a145ee46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5fb1e818340b3" /><Relationship Type="http://schemas.openxmlformats.org/officeDocument/2006/relationships/image" Target="/ppt/media/image5.png" Id="R09d5d78d8ada4c70" /><Relationship Type="http://schemas.openxmlformats.org/officeDocument/2006/relationships/notesSlide" Target="/ppt/notesSlides/notesSlide10.xml" Id="Rd0a17c5b58524a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9ff43ace44147" /><Relationship Type="http://schemas.openxmlformats.org/officeDocument/2006/relationships/image" Target="/ppt/media/image5.png" Id="R9023fd634f65445d" /><Relationship Type="http://schemas.openxmlformats.org/officeDocument/2006/relationships/notesSlide" Target="/ppt/notesSlides/notesSlide11.xml" Id="Rb87ce2e2f38146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abc4cfef14587" /><Relationship Type="http://schemas.openxmlformats.org/officeDocument/2006/relationships/image" Target="/ppt/media/image5.png" Id="Rc13342fed48f4564" /><Relationship Type="http://schemas.openxmlformats.org/officeDocument/2006/relationships/notesSlide" Target="/ppt/notesSlides/notesSlide12.xml" Id="R133dbe03062a45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637ddcbb84cdb" /><Relationship Type="http://schemas.openxmlformats.org/officeDocument/2006/relationships/notesSlide" Target="/ppt/notesSlides/notesSlide13.xml" Id="Re327f88a6bc54c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345a44c974c6e" /><Relationship Type="http://schemas.openxmlformats.org/officeDocument/2006/relationships/notesSlide" Target="/ppt/notesSlides/notesSlide14.xml" Id="Rdb1608e457464e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69bacf0ca49f9" /><Relationship Type="http://schemas.openxmlformats.org/officeDocument/2006/relationships/image" Target="/ppt/media/image5.png" Id="Rf493332df0394efc" /><Relationship Type="http://schemas.openxmlformats.org/officeDocument/2006/relationships/notesSlide" Target="/ppt/notesSlides/notesSlide15.xml" Id="R8127855f393444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807306841e84ee1" /><Relationship Type="http://schemas.openxmlformats.org/officeDocument/2006/relationships/image" Target="/ppt/media/image.jpeg" Id="Rda1c89b825a84f7e" /><Relationship Type="http://schemas.openxmlformats.org/officeDocument/2006/relationships/image" Target="/ppt/media/image4.png" Id="R4f10dd0c97924fc7" /><Relationship Type="http://schemas.openxmlformats.org/officeDocument/2006/relationships/notesSlide" Target="/ppt/notesSlides/notesSlide16.xml" Id="R402c1d36a4ba40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Freeform 9">
            <a:extLst xmlns:a="http://schemas.openxmlformats.org/drawingml/2006/main">
              <a:ext uri="{FF2B5EF4-FFF2-40B4-BE49-F238E27FC236}">
                <a16:creationId xmlns:a16="http://schemas.microsoft.com/office/drawing/2014/main" id="{F253E41A-F615-4244-8DF1-D8F920BA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47534" y="4894560"/>
            <a:ext cx="8328409" cy="360000"/>
          </a:xfrm>
          <a:custGeom xmlns:a="http://schemas.openxmlformats.org/drawingml/2006/main">
            <a:rect l="l" t="t" r="r" b="b"/>
            <a:pathLst>
              <a:path w="4283112" h="320914">
                <a:moveTo>
                  <a:pt x="203200" y="0"/>
                </a:moveTo>
                <a:lnTo>
                  <a:pt x="4283112" y="0"/>
                </a:lnTo>
                <a:lnTo>
                  <a:pt x="4079912" y="320914"/>
                </a:lnTo>
                <a:lnTo>
                  <a:pt x="0" y="320914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D4D7DD"/>
          </a:solidFill>
        </p:spPr>
      </p:sp>
      <p:sp>
        <p:nvSpPr>
          <p:cNvPr id="25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76CD9C6-F298-4878-8577-9ABD41EA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0375" y="4894560"/>
            <a:ext cx="5567601" cy="360000"/>
          </a:xfrm>
          <a:custGeom xmlns:a="http://schemas.openxmlformats.org/drawingml/2006/main">
            <a:rect l="l" t="t" r="r" b="b"/>
            <a:pathLst>
              <a:path w="6326234" h="281353">
                <a:moveTo>
                  <a:pt x="203200" y="0"/>
                </a:moveTo>
                <a:lnTo>
                  <a:pt x="6326234" y="0"/>
                </a:lnTo>
                <a:lnTo>
                  <a:pt x="6123034" y="281353"/>
                </a:lnTo>
                <a:lnTo>
                  <a:pt x="0" y="281353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545454"/>
          </a:solidFill>
        </p:spPr>
      </p:sp>
      <p:sp>
        <p:nvSpPr>
          <p:cNvPr id="1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D3C70C4-9D69-4D80-B1F1-4801FB19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60640" y="1273160"/>
            <a:ext cx="6441858" cy="360000"/>
          </a:xfrm>
          <a:custGeom xmlns:a="http://schemas.openxmlformats.org/drawingml/2006/main">
            <a:rect l="l" t="t" r="r" b="b"/>
            <a:pathLst>
              <a:path w="4283112" h="320914">
                <a:moveTo>
                  <a:pt x="203200" y="0"/>
                </a:moveTo>
                <a:lnTo>
                  <a:pt x="4283112" y="0"/>
                </a:lnTo>
                <a:lnTo>
                  <a:pt x="4079912" y="320914"/>
                </a:lnTo>
                <a:lnTo>
                  <a:pt x="0" y="320914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D4D7DD"/>
          </a:solidFill>
        </p:spPr>
      </p:sp>
      <p:sp>
        <p:nvSpPr>
          <p:cNvPr id="1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7C8868F-C0C7-462E-BA83-21F7F14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7271" y="1273160"/>
            <a:ext cx="8197597" cy="360000"/>
          </a:xfrm>
          <a:custGeom xmlns:a="http://schemas.openxmlformats.org/drawingml/2006/main">
            <a:rect l="l" t="t" r="r" b="b"/>
            <a:pathLst>
              <a:path w="6326234" h="281353">
                <a:moveTo>
                  <a:pt x="203200" y="0"/>
                </a:moveTo>
                <a:lnTo>
                  <a:pt x="6326234" y="0"/>
                </a:lnTo>
                <a:lnTo>
                  <a:pt x="6123034" y="281353"/>
                </a:lnTo>
                <a:lnTo>
                  <a:pt x="0" y="281353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545454"/>
          </a:solidFill>
        </p:spPr>
      </p:sp>
      <p:pic>
        <p:nvPicPr>
          <p:cNvPr id="5" name="图片 4">
            <a:extLst xmlns:a="http://schemas.openxmlformats.org/drawingml/2006/main">
              <a:ext uri="{FF2B5EF4-FFF2-40B4-BE49-F238E27FC236}">
                <a16:creationId xmlns:a16="http://schemas.microsoft.com/office/drawing/2014/main" id="{266CE284-E290-4409-AC03-DB841E0A8D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0c8ffdd3374459"/>
          <a:srcRect xmlns:a="http://schemas.openxmlformats.org/drawingml/2006/main" l="8161" t="20535" r="8157" b="34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1485265"/>
            <a:ext cx="12192000" cy="3602355"/>
          </a:xfrm>
          <a:prstGeom xmlns:a="http://schemas.openxmlformats.org/drawingml/2006/main" prst="rect">
            <a:avLst/>
          </a:prstGeom>
        </p:spPr>
      </p:pic>
      <p:sp>
        <p:nvSpPr>
          <p:cNvPr id="6" name="淘宝-想搞设计PPT(倒卖必究)-24">
            <a:extLst xmlns:a="http://schemas.openxmlformats.org/drawingml/2006/main">
              <a:ext uri="{FF2B5EF4-FFF2-40B4-BE49-F238E27FC236}">
                <a16:creationId xmlns:a16="http://schemas.microsoft.com/office/drawing/2014/main" id="{6A077481-A485-4EC7-BF16-60CA8A0C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1485265"/>
            <a:ext cx="12192000" cy="3602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>
              <a:alpha val="7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47CE113-EFFB-4221-8425-8DE25BE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淘宝-想搞设计PPT(倒卖必究)-4">
            <a:extLst xmlns:a="http://schemas.openxmlformats.org/drawingml/2006/main">
              <a:ext uri="{FF2B5EF4-FFF2-40B4-BE49-F238E27FC236}">
                <a16:creationId xmlns:a16="http://schemas.microsoft.com/office/drawing/2014/main" id="{3EA09B1E-425B-4DD9-A209-E78F6104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9348" y="938302"/>
            <a:ext cx="1193304" cy="1193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5" name="Picture 44">
            <a:extLst xmlns:a="http://schemas.openxmlformats.org/drawingml/2006/main">
              <a:ext uri="{FF2B5EF4-FFF2-40B4-BE49-F238E27FC236}">
                <a16:creationId xmlns:a16="http://schemas.microsoft.com/office/drawing/2014/main" id="{632D4B3A-C2F6-433A-B99E-E5AE8ABDB9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d98d57c784b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518381" y="957335"/>
            <a:ext cx="1155238" cy="1155238"/>
          </a:xfrm>
          <a:prstGeom xmlns:a="http://schemas.openxmlformats.org/drawingml/2006/main" prst="rect">
            <a:avLst/>
          </a:prstGeom>
        </p:spPr>
      </p:pic>
      <p:sp>
        <p:nvSpPr>
          <p:cNvPr id="8" name="淘宝-想搞设计PPT(倒卖必究)-7">
            <a:extLst xmlns:a="http://schemas.openxmlformats.org/drawingml/2006/main">
              <a:ext uri="{FF2B5EF4-FFF2-40B4-BE49-F238E27FC236}">
                <a16:creationId xmlns:a16="http://schemas.microsoft.com/office/drawing/2014/main" id="{4C62805F-9F58-4549-ACAA-03CAEAC5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sp>
        <p:nvSpPr>
          <p:cNvPr id="10" name="淘宝-想搞设计PPT(倒卖必究)-8">
            <a:extLst xmlns:a="http://schemas.openxmlformats.org/drawingml/2006/main">
              <a:ext uri="{FF2B5EF4-FFF2-40B4-BE49-F238E27FC236}">
                <a16:creationId xmlns:a16="http://schemas.microsoft.com/office/drawing/2014/main" id="{E204C7C1-C610-447D-A41D-5281CF7D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052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面向数据 Agent 的可维护共享记忆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54CBDFD-5AB2-42A2-8FAC-0FECD7E9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95925"/>
            <a:ext cx="10096500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用一次退货金额查询，理解知识怎样被共享与维护</a:t>
            </a:r>
            <a:endParaRPr sz="20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A2719A35-67E1-4662-8716-DFB8B6B3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95725"/>
            <a:ext cx="7086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EF9F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日期占位符 44">
            <a:extLst xmlns:a="http://schemas.openxmlformats.org/drawingml/2006/main">
              <a:ext uri="{FF2B5EF4-FFF2-40B4-BE49-F238E27FC236}">
                <a16:creationId xmlns:a16="http://schemas.microsoft.com/office/drawing/2014/main" id="{EF472BF1-C26B-4D28-B556-3D52A2F889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2400" y="6657975"/>
            <a:ext cx="5715000" cy="1714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307A1C6-582D-3A47-F65B-0CD6F885CF51}" type="datetime1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127AA94E-5478-4818-AD2A-9EABC04C83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125200" y="6657975"/>
            <a:ext cx="800100" cy="1714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B0A2AFC4-3833-13C1-E2BC-5608F810A1BF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788680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2DCC16C1-63D5-4F2E-9D8D-E96AFDFEE9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1fa67b5784b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用户请求：9 月门店退货金额是多少？</a:t>
            </a:r>
          </a:p>
        </p:txBody>
      </p:sp>
      <p:sp>
        <p:nvSpPr>
          <p:cNvPr id="4" name="日期占位符 44">
            <a:extLst xmlns:a="http://schemas.openxmlformats.org/drawingml/2006/main">
              <a:ext uri="{FF2B5EF4-FFF2-40B4-BE49-F238E27FC236}">
                <a16:creationId xmlns:a16="http://schemas.microsoft.com/office/drawing/2014/main" id="{09C09388-E95B-43FF-BC89-DC24122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l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307A1C6-582D-3A47-F65B-0CD6F885CF51}" type="datetime1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CBAEABBA-AD62-52D1-5588-17C604158753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数据模型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生命周期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request">
            <a:extLst xmlns:a="http://schemas.openxmlformats.org/drawingml/2006/main">
              <a:ext uri="{FF2B5EF4-FFF2-40B4-BE49-F238E27FC236}">
                <a16:creationId xmlns:a16="http://schemas.microsoft.com/office/drawing/2014/main" id="{11865C83-6D42-4068-862A-F5FA054A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81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“请统计 9 月门店退货金额。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只计已完成的退货，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按退货日期归属月份。”</a:t>
            </a:r>
          </a:p>
        </p:txBody>
      </p:sp>
      <p:sp>
        <p:nvSpPr>
          <p:cNvPr id="50" name="target-label">
            <a:extLst xmlns:a="http://schemas.openxmlformats.org/drawingml/2006/main">
              <a:ext uri="{FF2B5EF4-FFF2-40B4-BE49-F238E27FC236}">
                <a16:creationId xmlns:a16="http://schemas.microsoft.com/office/drawing/2014/main" id="{F9FB115B-393C-46E6-B79A-8A2722FB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用户需要的结果</a:t>
            </a:r>
          </a:p>
        </p:txBody>
      </p:sp>
      <p:sp>
        <p:nvSpPr>
          <p:cNvPr id="51" name="target">
            <a:extLst xmlns:a="http://schemas.openxmlformats.org/drawingml/2006/main">
              <a:ext uri="{FF2B5EF4-FFF2-40B4-BE49-F238E27FC236}">
                <a16:creationId xmlns:a16="http://schemas.microsoft.com/office/drawing/2014/main" id="{B2FE55E2-A738-4E3C-B59E-D082B23A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4762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4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4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600 元</a:t>
            </a:r>
          </a:p>
        </p:txBody>
      </p:sp>
      <p:graphicFrame>
        <p:nvGraphicFramePr>
          <p:cNvPr id="52" name="learning-data">
            <a:extLst xmlns:a="http://schemas.openxmlformats.org/drawingml/2006/main">
              <a:ext uri="{FF2B5EF4-FFF2-40B4-BE49-F238E27FC236}">
                <a16:creationId xmlns:a16="http://schemas.microsoft.com/office/drawing/2014/main" id="{51B800DA-000F-40A4-939B-ED84456101F4}"/>
              </a:ext>
            </a:extLst>
          </p:cNvPr>
          <p:cNvGraphicFramePr/>
          <p:nvPr/>
        </p:nvGraphicFramePr>
        <p:xfrm>
          <a:off xmlns:a="http://schemas.openxmlformats.org/drawingml/2006/main" x="7010400" y="2047875"/>
          <a:ext xmlns:a="http://schemas.openxmlformats.org/drawingml/2006/main" cx="443865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71625"/>
                <a:gridCol w="1533525"/>
                <a:gridCol w="1333500"/>
              </a:tblGrid>
              <a:tr h="742950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退货键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金额（元）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</a:tr>
              <a:tr h="742950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 / A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  <a:tr h="742950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R02 /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R03 / C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</a:tbl>
          </a:graphicData>
        </a:graphic>
      </p:graphicFrame>
      <p:sp>
        <p:nvSpPr>
          <p:cNvPr id="53" name="table-caption">
            <a:extLst xmlns:a="http://schemas.openxmlformats.org/drawingml/2006/main">
              <a:ext uri="{FF2B5EF4-FFF2-40B4-BE49-F238E27FC236}">
                <a16:creationId xmlns:a16="http://schemas.microsoft.com/office/drawing/2014/main" id="{13E01189-0290-4278-9792-F4A094E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38750"/>
            <a:ext cx="443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三笔退货均发生在 9 月</a:t>
            </a:r>
          </a:p>
        </p:txBody>
      </p:sp>
      <p:sp>
        <p:nvSpPr>
          <p:cNvPr id="54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2CEC15E8-2858-4D1E-9521-B8F520B0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讲解示例：退货键简写为“小票 / 商品”。金额为示意数值。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7B6B90FC-720E-44E5-8EC1-C0472ECE56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8b53481b34e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第一次查询：Agent 怎样得到 600 元</a:t>
            </a:r>
          </a:p>
        </p:txBody>
      </p:sp>
      <p:sp>
        <p:nvSpPr>
          <p:cNvPr id="4" name="日期占位符 44">
            <a:extLst xmlns:a="http://schemas.openxmlformats.org/drawingml/2006/main">
              <a:ext uri="{FF2B5EF4-FFF2-40B4-BE49-F238E27FC236}">
                <a16:creationId xmlns:a16="http://schemas.microsoft.com/office/drawing/2014/main" id="{09C09388-E95B-43FF-BC89-DC24122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l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307A1C6-582D-3A47-F65B-0CD6F885CF51}" type="datetime1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0BADEEDC-EEE1-8597-0639-A35D9BA153EC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数据模型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生命周期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step-number-01">
            <a:extLst xmlns:a="http://schemas.openxmlformats.org/drawingml/2006/main">
              <a:ext uri="{FF2B5EF4-FFF2-40B4-BE49-F238E27FC236}">
                <a16:creationId xmlns:a16="http://schemas.microsoft.com/office/drawing/2014/main" id="{1D87F292-5129-4FC7-A0D3-E7F21FD3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0" name="step-title-01">
            <a:extLst xmlns:a="http://schemas.openxmlformats.org/drawingml/2006/main">
              <a:ext uri="{FF2B5EF4-FFF2-40B4-BE49-F238E27FC236}">
                <a16:creationId xmlns:a16="http://schemas.microsoft.com/office/drawing/2014/main" id="{BC333B88-7449-4DFA-BC92-2F0B56C0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找到业务数据</a:t>
            </a:r>
          </a:p>
        </p:txBody>
      </p:sp>
      <p:sp>
        <p:nvSpPr>
          <p:cNvPr id="51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395DB3FE-A3D5-456E-A3DC-63743BEB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685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查询退货表，识别退货金额和退货日期</a:t>
            </a:r>
          </a:p>
        </p:txBody>
      </p:sp>
      <p:sp>
        <p:nvSpPr>
          <p:cNvPr id="52" name="step-number-02">
            <a:extLst xmlns:a="http://schemas.openxmlformats.org/drawingml/2006/main">
              <a:ext uri="{FF2B5EF4-FFF2-40B4-BE49-F238E27FC236}">
                <a16:creationId xmlns:a16="http://schemas.microsoft.com/office/drawing/2014/main" id="{2801953B-3B5B-43E9-8817-F518CDCF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3" name="step-title-02">
            <a:extLst xmlns:a="http://schemas.openxmlformats.org/drawingml/2006/main">
              <a:ext uri="{FF2B5EF4-FFF2-40B4-BE49-F238E27FC236}">
                <a16:creationId xmlns:a16="http://schemas.microsoft.com/office/drawing/2014/main" id="{3EEB033F-5F84-4EEC-911C-75289238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确认计算口径</a:t>
            </a:r>
          </a:p>
        </p:txBody>
      </p:sp>
      <p:sp>
        <p:nvSpPr>
          <p:cNvPr id="54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AB281430-C61A-46A4-B00A-EA80A445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685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一组“小票＋商品”表示一笔已完成退货</a:t>
            </a:r>
          </a:p>
        </p:txBody>
      </p:sp>
      <p:sp>
        <p:nvSpPr>
          <p:cNvPr id="55" name="step-number-03">
            <a:extLst xmlns:a="http://schemas.openxmlformats.org/drawingml/2006/main">
              <a:ext uri="{FF2B5EF4-FFF2-40B4-BE49-F238E27FC236}">
                <a16:creationId xmlns:a16="http://schemas.microsoft.com/office/drawing/2014/main" id="{B1A05093-DC8A-4117-8E46-145E331D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6" name="step-title-03">
            <a:extLst xmlns:a="http://schemas.openxmlformats.org/drawingml/2006/main">
              <a:ext uri="{FF2B5EF4-FFF2-40B4-BE49-F238E27FC236}">
                <a16:creationId xmlns:a16="http://schemas.microsoft.com/office/drawing/2014/main" id="{0005BF82-057F-4238-8733-AE4DAEDD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执行汇总</a:t>
            </a:r>
          </a:p>
        </p:txBody>
      </p:sp>
      <p:sp>
        <p:nvSpPr>
          <p:cNvPr id="57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EAE1CAE0-F13C-4880-8892-64863463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685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筛选 9 月，再计算 100＋200＋300＝600 元</a:t>
            </a:r>
          </a:p>
        </p:txBody>
      </p:sp>
      <p:sp>
        <p:nvSpPr>
          <p:cNvPr id="58" name="key">
            <a:extLst xmlns:a="http://schemas.openxmlformats.org/drawingml/2006/main">
              <a:ext uri="{FF2B5EF4-FFF2-40B4-BE49-F238E27FC236}">
                <a16:creationId xmlns:a16="http://schemas.microsoft.com/office/drawing/2014/main" id="{B2559501-4B54-4655-B12B-67C2850A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95900"/>
            <a:ext cx="962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本次数据恰好满足：每笔退货只有一行</a:t>
            </a:r>
          </a:p>
        </p:txBody>
      </p:sp>
      <p:sp>
        <p:nvSpPr>
          <p:cNvPr id="59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5F473FB2-AE2F-4DE0-906C-55D34935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表：store_returns　金额：sr_return_amt　日期：退货日期键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B2C2D4EA-02F6-4DF7-AE70-ED685B47C1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ea4caa0394e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下一位 Agent 可以直接复用指标口径</a:t>
            </a:r>
          </a:p>
        </p:txBody>
      </p:sp>
      <p:sp>
        <p:nvSpPr>
          <p:cNvPr id="4" name="日期占位符 44">
            <a:extLst xmlns:a="http://schemas.openxmlformats.org/drawingml/2006/main">
              <a:ext uri="{FF2B5EF4-FFF2-40B4-BE49-F238E27FC236}">
                <a16:creationId xmlns:a16="http://schemas.microsoft.com/office/drawing/2014/main" id="{09C09388-E95B-43FF-BC89-DC24122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l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307A1C6-582D-3A47-F65B-0CD6F885CF51}" type="datetime1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F9970F6C-59B2-055B-5132-2DC31A7003A7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数据模型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生命周期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2E3B5593-5259-46F1-804B-3F2AA2F8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第一次学习</a:t>
            </a:r>
          </a:p>
        </p:txBody>
      </p:sp>
      <p:sp>
        <p:nvSpPr>
          <p:cNvPr id="50" name="left-body">
            <a:extLst xmlns:a="http://schemas.openxmlformats.org/drawingml/2006/main">
              <a:ext uri="{FF2B5EF4-FFF2-40B4-BE49-F238E27FC236}">
                <a16:creationId xmlns:a16="http://schemas.microsoft.com/office/drawing/2014/main" id="{7F016F83-4C55-40A3-8F47-EDE7226F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857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“退货金额”怎么算？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查表、确认金额与日期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学到可复用的指标定义</a:t>
            </a:r>
          </a:p>
        </p:txBody>
      </p:sp>
      <p:sp>
        <p:nvSpPr>
          <p:cNvPr id="51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887867EF-3949-46C6-ACA5-2ECC5DAF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下一位用户</a:t>
            </a:r>
          </a:p>
        </p:txBody>
      </p:sp>
      <p:sp>
        <p:nvSpPr>
          <p:cNvPr id="52" name="right-body">
            <a:extLst xmlns:a="http://schemas.openxmlformats.org/drawingml/2006/main">
              <a:ext uri="{FF2B5EF4-FFF2-40B4-BE49-F238E27FC236}">
                <a16:creationId xmlns:a16="http://schemas.microsoft.com/office/drawing/2014/main" id="{4AF15BD6-6229-42D0-A1A1-B3AFD222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857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“9 月门店退货金额？”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取出有效定义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按当前数据重新查询</a:t>
            </a:r>
          </a:p>
        </p:txBody>
      </p:sp>
      <p:sp>
        <p:nvSpPr>
          <p:cNvPr id="53" name="shared-main">
            <a:extLst xmlns:a="http://schemas.openxmlformats.org/drawingml/2006/main">
              <a:ext uri="{FF2B5EF4-FFF2-40B4-BE49-F238E27FC236}">
                <a16:creationId xmlns:a16="http://schemas.microsoft.com/office/drawing/2014/main" id="{B7974454-8038-4D3F-924D-D906C45C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共享的是计算方法，查询结果仍然重新计算</a:t>
            </a:r>
          </a:p>
        </p:txBody>
      </p:sp>
      <p:sp>
        <p:nvSpPr>
          <p:cNvPr id="54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84ACFD19-743E-45E4-9519-9FC06363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月份是每次请求的参数。换成 10 月，仍可使用同一条指标定义。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B39FFEB7-C18D-4992-BCB8-5508743F8B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47aa1e43f4a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数据变化：同一笔退货出现了两种状态</a:t>
            </a:r>
          </a:p>
        </p:txBody>
      </p:sp>
      <p:sp>
        <p:nvSpPr>
          <p:cNvPr id="4" name="日期占位符 44">
            <a:extLst xmlns:a="http://schemas.openxmlformats.org/drawingml/2006/main">
              <a:ext uri="{FF2B5EF4-FFF2-40B4-BE49-F238E27FC236}">
                <a16:creationId xmlns:a16="http://schemas.microsoft.com/office/drawing/2014/main" id="{09C09388-E95B-43FF-BC89-DC24122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l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307A1C6-582D-3A47-F65B-0CD6F885CF51}" type="datetime1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5370F4AC-E6D1-01EE-6732-05F7C8E78B55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数据模型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生命周期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9" name="after-update">
            <a:extLst xmlns:a="http://schemas.openxmlformats.org/drawingml/2006/main">
              <a:ext uri="{FF2B5EF4-FFF2-40B4-BE49-F238E27FC236}">
                <a16:creationId xmlns:a16="http://schemas.microsoft.com/office/drawing/2014/main" id="{3FCCFE18-6209-47D7-A40B-E4AE0AD32D9C}"/>
              </a:ext>
            </a:extLst>
          </p:cNvPr>
          <p:cNvGraphicFramePr/>
          <p:nvPr/>
        </p:nvGraphicFramePr>
        <p:xfrm>
          <a:off xmlns:a="http://schemas.openxmlformats.org/drawingml/2006/main" x="685800" y="1876425"/>
          <a:ext xmlns:a="http://schemas.openxmlformats.org/drawingml/2006/main" cx="6191250" cy="352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1857375"/>
                <a:gridCol w="2047875"/>
              </a:tblGrid>
              <a:tr h="587375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退货键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金额（元）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</a:tr>
              <a:tr h="587375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 / A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  <a:tr h="587375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 / 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申请中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R02 / B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  <a:tr h="587375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R02 /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申请中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R03 / C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</a:tbl>
          </a:graphicData>
        </a:graphic>
      </p:graphicFrame>
      <p:sp>
        <p:nvSpPr>
          <p:cNvPr id="50" name="bad-label">
            <a:extLst xmlns:a="http://schemas.openxmlformats.org/drawingml/2006/main">
              <a:ext uri="{FF2B5EF4-FFF2-40B4-BE49-F238E27FC236}">
                <a16:creationId xmlns:a16="http://schemas.microsoft.com/office/drawing/2014/main" id="{59CAA58B-C4C1-4A31-B017-39FD6742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85975"/>
            <a:ext cx="394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继续使用原 SQL</a:t>
            </a:r>
          </a:p>
        </p:txBody>
      </p:sp>
      <p:sp>
        <p:nvSpPr>
          <p:cNvPr id="51" name="bad-value">
            <a:extLst xmlns:a="http://schemas.openxmlformats.org/drawingml/2006/main">
              <a:ext uri="{FF2B5EF4-FFF2-40B4-BE49-F238E27FC236}">
                <a16:creationId xmlns:a16="http://schemas.microsoft.com/office/drawing/2014/main" id="{7A40DFB2-5FDD-41CC-8C7C-315BBBAB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38425"/>
            <a:ext cx="394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900 元</a:t>
            </a:r>
          </a:p>
        </p:txBody>
      </p:sp>
      <p:sp>
        <p:nvSpPr>
          <p:cNvPr id="52" name="good-result">
            <a:extLst xmlns:a="http://schemas.openxmlformats.org/drawingml/2006/main">
              <a:ext uri="{FF2B5EF4-FFF2-40B4-BE49-F238E27FC236}">
                <a16:creationId xmlns:a16="http://schemas.microsoft.com/office/drawing/2014/main" id="{F023951A-42E5-435C-990C-24A2E22C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10000"/>
            <a:ext cx="3943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正确结果仍为 600 元</a:t>
            </a:r>
          </a:p>
        </p:txBody>
      </p:sp>
      <p:sp>
        <p:nvSpPr>
          <p:cNvPr id="53" name="reason">
            <a:extLst xmlns:a="http://schemas.openxmlformats.org/drawingml/2006/main">
              <a:ext uri="{FF2B5EF4-FFF2-40B4-BE49-F238E27FC236}">
                <a16:creationId xmlns:a16="http://schemas.microsoft.com/office/drawing/2014/main" id="{00E9DD5C-3096-4F9A-8EA3-45B2A3CE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291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申请中记录重复计入金额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表结构和 SQL 都没有报错</a:t>
            </a:r>
          </a:p>
        </p:txBody>
      </p:sp>
      <p:sp>
        <p:nvSpPr>
          <p:cNvPr id="54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8B49016E-3EED-4EE8-BBF9-26913D5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讲解示例：新增了两条“申请中”记录，已完成的三笔退货没有变化。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MAVRA-system-boundary">
            <a:extLst xmlns:a="http://schemas.openxmlformats.org/drawingml/2006/main">
              <a:ext uri="{FF2B5EF4-FFF2-40B4-BE49-F238E27FC236}">
                <a16:creationId xmlns:a16="http://schemas.microsoft.com/office/drawing/2014/main" id="{10611248-F9AA-404D-A14D-560C2F8E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0744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9"/>
          </a:solidFill>
          <a:ln xmlns:a="http://schemas.openxmlformats.org/drawingml/2006/main" w="0">
            <a:solidFill>
              <a:srgbClr val="F2F4F9"/>
            </a:solidFill>
            <a:prstDash val="solid"/>
          </a:ln>
        </p:spPr>
      </p:sp>
      <p:sp>
        <p:nvSpPr>
          <p:cNvPr id="49" name="learner">
            <a:extLst xmlns:a="http://schemas.openxmlformats.org/drawingml/2006/main">
              <a:ext uri="{FF2B5EF4-FFF2-40B4-BE49-F238E27FC236}">
                <a16:creationId xmlns:a16="http://schemas.microsoft.com/office/drawing/2014/main" id="{F2B365C5-51B8-4D49-A03C-C5CD29FE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57300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3EF"/>
          </a:solidFill>
          <a:ln xmlns:a="http://schemas.openxmlformats.org/drawingml/2006/main" w="15240">
            <a:solidFill>
              <a:srgbClr val="00A58F"/>
            </a:solidFill>
            <a:prstDash val="solid"/>
          </a:ln>
        </p:spPr>
      </p:sp>
      <p:sp>
        <p:nvSpPr>
          <p:cNvPr id="50" name="learner-title">
            <a:extLst xmlns:a="http://schemas.openxmlformats.org/drawingml/2006/main">
              <a:ext uri="{FF2B5EF4-FFF2-40B4-BE49-F238E27FC236}">
                <a16:creationId xmlns:a16="http://schemas.microsoft.com/office/drawing/2014/main" id="{017D806A-4898-41EE-96C5-2185A107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43025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A58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00A58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0A58F"/>
                </a:solidFill>
                <a:latin typeface="微软雅黑"/>
                <a:ea typeface="微软雅黑"/>
                <a:cs typeface="微软雅黑"/>
              </a:rPr>
              <a:t>学习 Agent</a:t>
            </a:r>
          </a:p>
        </p:txBody>
      </p:sp>
      <p:sp>
        <p:nvSpPr>
          <p:cNvPr id="51" name="learner-body">
            <a:extLst xmlns:a="http://schemas.openxmlformats.org/drawingml/2006/main">
              <a:ext uri="{FF2B5EF4-FFF2-40B4-BE49-F238E27FC236}">
                <a16:creationId xmlns:a16="http://schemas.microsoft.com/office/drawing/2014/main" id="{175A8F21-8BFE-48FF-A620-078D6E79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04975"/>
            <a:ext cx="2590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5634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8563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856345"/>
                </a:solidFill>
                <a:latin typeface="微软雅黑"/>
                <a:ea typeface="微软雅黑"/>
                <a:cs typeface="微软雅黑"/>
              </a:rPr>
              <a:t>明确口径，得到 600 元</a:t>
            </a:r>
          </a:p>
        </p:txBody>
      </p:sp>
      <p:sp>
        <p:nvSpPr>
          <p:cNvPr id="52" name="consumer">
            <a:extLst xmlns:a="http://schemas.openxmlformats.org/drawingml/2006/main">
              <a:ext uri="{FF2B5EF4-FFF2-40B4-BE49-F238E27FC236}">
                <a16:creationId xmlns:a16="http://schemas.microsoft.com/office/drawing/2014/main" id="{E84E1194-EA17-4C6F-A5C0-5CD3ABE1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257300"/>
            <a:ext cx="3009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558D"/>
            </a:solidFill>
            <a:prstDash val="solid"/>
          </a:ln>
        </p:spPr>
      </p:sp>
      <p:sp>
        <p:nvSpPr>
          <p:cNvPr id="53" name="consumer-title">
            <a:extLst xmlns:a="http://schemas.openxmlformats.org/drawingml/2006/main">
              <a:ext uri="{FF2B5EF4-FFF2-40B4-BE49-F238E27FC236}">
                <a16:creationId xmlns:a16="http://schemas.microsoft.com/office/drawing/2014/main" id="{6D7856A1-5EDF-47F9-8397-14AC38E1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3430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用户 Agent</a:t>
            </a:r>
          </a:p>
        </p:txBody>
      </p:sp>
      <p:sp>
        <p:nvSpPr>
          <p:cNvPr id="54" name="consumer-body">
            <a:extLst xmlns:a="http://schemas.openxmlformats.org/drawingml/2006/main">
              <a:ext uri="{FF2B5EF4-FFF2-40B4-BE49-F238E27FC236}">
                <a16:creationId xmlns:a16="http://schemas.microsoft.com/office/drawing/2014/main" id="{87654D89-F36F-4473-B1AC-4320D7B5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04975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5634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8563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856345"/>
                </a:solidFill>
                <a:latin typeface="微软雅黑"/>
                <a:ea typeface="微软雅黑"/>
                <a:cs typeface="微软雅黑"/>
              </a:rPr>
              <a:t>查询 9 月，得到 600 元</a:t>
            </a:r>
          </a:p>
        </p:txBody>
      </p:sp>
      <p:sp>
        <p:nvSpPr>
          <p:cNvPr id="56" name="system-name">
            <a:extLst xmlns:a="http://schemas.openxmlformats.org/drawingml/2006/main">
              <a:ext uri="{FF2B5EF4-FFF2-40B4-BE49-F238E27FC236}">
                <a16:creationId xmlns:a16="http://schemas.microsoft.com/office/drawing/2014/main" id="{47715D7E-2D13-47FF-83E1-91F57AB9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95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MAVRA 共享记忆层</a:t>
            </a:r>
          </a:p>
        </p:txBody>
      </p:sp>
      <p:sp>
        <p:nvSpPr>
          <p:cNvPr id="57" name="publication">
            <a:extLst xmlns:a="http://schemas.openxmlformats.org/drawingml/2006/main">
              <a:ext uri="{FF2B5EF4-FFF2-40B4-BE49-F238E27FC236}">
                <a16:creationId xmlns:a16="http://schemas.microsoft.com/office/drawing/2014/main" id="{6EDE6F35-D053-4122-BC76-2CAB4CAC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819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A58F"/>
            </a:solidFill>
            <a:prstDash val="solid"/>
          </a:ln>
        </p:spPr>
      </p:sp>
      <p:sp>
        <p:nvSpPr>
          <p:cNvPr id="58" name="publication-title">
            <a:extLst xmlns:a="http://schemas.openxmlformats.org/drawingml/2006/main">
              <a:ext uri="{FF2B5EF4-FFF2-40B4-BE49-F238E27FC236}">
                <a16:creationId xmlns:a16="http://schemas.microsoft.com/office/drawing/2014/main" id="{8C0E0DD4-68D2-4537-9704-EF4ECD53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A58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00A58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A58F"/>
                </a:solidFill>
                <a:latin typeface="微软雅黑"/>
                <a:ea typeface="微软雅黑"/>
                <a:cs typeface="微软雅黑"/>
              </a:rPr>
              <a:t>发布前校验</a:t>
            </a:r>
          </a:p>
        </p:txBody>
      </p:sp>
      <p:sp>
        <p:nvSpPr>
          <p:cNvPr id="59" name="publication-body">
            <a:extLst xmlns:a="http://schemas.openxmlformats.org/drawingml/2006/main">
              <a:ext uri="{FF2B5EF4-FFF2-40B4-BE49-F238E27FC236}">
                <a16:creationId xmlns:a16="http://schemas.microsoft.com/office/drawing/2014/main" id="{1F6D2BED-ECEA-4409-9530-54EE5187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71875"/>
            <a:ext cx="2590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5634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8563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856345"/>
                </a:solidFill>
                <a:latin typeface="微软雅黑"/>
                <a:ea typeface="微软雅黑"/>
                <a:cs typeface="微软雅黑"/>
              </a:rPr>
              <a:t>规范 SQL 复现 600 元</a:t>
            </a:r>
          </a:p>
        </p:txBody>
      </p:sp>
      <p:sp>
        <p:nvSpPr>
          <p:cNvPr id="60" name="shared-memory">
            <a:extLst xmlns:a="http://schemas.openxmlformats.org/drawingml/2006/main">
              <a:ext uri="{FF2B5EF4-FFF2-40B4-BE49-F238E27FC236}">
                <a16:creationId xmlns:a16="http://schemas.microsoft.com/office/drawing/2014/main" id="{5858D2BB-B0E3-4E36-A1DD-75D890EF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242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5"/>
          </a:solidFill>
          <a:ln xmlns:a="http://schemas.openxmlformats.org/drawingml/2006/main" w="19050">
            <a:solidFill>
              <a:srgbClr val="3B558D"/>
            </a:solidFill>
            <a:prstDash val="solid"/>
          </a:ln>
        </p:spPr>
      </p:sp>
      <p:sp>
        <p:nvSpPr>
          <p:cNvPr id="61" name="shared-memory-title">
            <a:extLst xmlns:a="http://schemas.openxmlformats.org/drawingml/2006/main">
              <a:ext uri="{FF2B5EF4-FFF2-40B4-BE49-F238E27FC236}">
                <a16:creationId xmlns:a16="http://schemas.microsoft.com/office/drawing/2014/main" id="{C391B743-3C03-4A7A-999D-9C062346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099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共享记忆</a:t>
            </a:r>
          </a:p>
        </p:txBody>
      </p:sp>
      <p:sp>
        <p:nvSpPr>
          <p:cNvPr id="62" name="shared-memory-body">
            <a:extLst xmlns:a="http://schemas.openxmlformats.org/drawingml/2006/main">
              <a:ext uri="{FF2B5EF4-FFF2-40B4-BE49-F238E27FC236}">
                <a16:creationId xmlns:a16="http://schemas.microsoft.com/office/drawing/2014/main" id="{0EB7843B-0C6A-41D4-BEB4-FBDF5EEF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71875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定义＋前提＋版本 r1</a:t>
            </a:r>
          </a:p>
        </p:txBody>
      </p:sp>
      <p:sp>
        <p:nvSpPr>
          <p:cNvPr id="63" name="snapshot-enforcement">
            <a:extLst xmlns:a="http://schemas.openxmlformats.org/drawingml/2006/main">
              <a:ext uri="{FF2B5EF4-FFF2-40B4-BE49-F238E27FC236}">
                <a16:creationId xmlns:a16="http://schemas.microsoft.com/office/drawing/2014/main" id="{873DFA98-0B28-4775-8B6C-239E3225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3009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558D"/>
            </a:solidFill>
            <a:prstDash val="solid"/>
          </a:ln>
        </p:spPr>
      </p:sp>
      <p:sp>
        <p:nvSpPr>
          <p:cNvPr id="64" name="snapshot-enforcement-title">
            <a:extLst xmlns:a="http://schemas.openxmlformats.org/drawingml/2006/main">
              <a:ext uri="{FF2B5EF4-FFF2-40B4-BE49-F238E27FC236}">
                <a16:creationId xmlns:a16="http://schemas.microsoft.com/office/drawing/2014/main" id="{04013886-7FD9-4973-9C66-C34FD275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09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执行前校验</a:t>
            </a:r>
          </a:p>
        </p:txBody>
      </p:sp>
      <p:sp>
        <p:nvSpPr>
          <p:cNvPr id="65" name="snapshot-enforcement-body">
            <a:extLst xmlns:a="http://schemas.openxmlformats.org/drawingml/2006/main">
              <a:ext uri="{FF2B5EF4-FFF2-40B4-BE49-F238E27FC236}">
                <a16:creationId xmlns:a16="http://schemas.microsoft.com/office/drawing/2014/main" id="{8814A232-DD79-4222-A861-0B05ADF3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7187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同一快照检查并运行 SQL</a:t>
            </a:r>
          </a:p>
        </p:txBody>
      </p:sp>
      <p:sp>
        <p:nvSpPr>
          <p:cNvPr id="66" name="maintenance">
            <a:extLst xmlns:a="http://schemas.openxmlformats.org/drawingml/2006/main">
              <a:ext uri="{FF2B5EF4-FFF2-40B4-BE49-F238E27FC236}">
                <a16:creationId xmlns:a16="http://schemas.microsoft.com/office/drawing/2014/main" id="{24887AB8-7141-4EE1-91CF-74A8B174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638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3F8"/>
          </a:solidFill>
          <a:ln xmlns:a="http://schemas.openxmlformats.org/drawingml/2006/main" w="15240">
            <a:solidFill>
              <a:srgbClr val="2895AE"/>
            </a:solidFill>
            <a:prstDash val="solid"/>
          </a:ln>
        </p:spPr>
      </p:sp>
      <p:sp>
        <p:nvSpPr>
          <p:cNvPr id="67" name="maintenance-label">
            <a:extLst xmlns:a="http://schemas.openxmlformats.org/drawingml/2006/main">
              <a:ext uri="{FF2B5EF4-FFF2-40B4-BE49-F238E27FC236}">
                <a16:creationId xmlns:a16="http://schemas.microsoft.com/office/drawing/2014/main" id="{F257F51B-03A4-4530-8F77-DC79AD44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95775"/>
            <a:ext cx="615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895AE"/>
                </a:solidFill>
                <a:latin typeface="微软雅黑"/>
                <a:ea typeface="微软雅黑"/>
                <a:cs typeface="微软雅黑"/>
              </a:rPr>
              <a:t>维护与优化：前提失败后，统一修复并发布 r2</a:t>
            </a:r>
          </a:p>
        </p:txBody>
      </p:sp>
      <p:sp>
        <p:nvSpPr>
          <p:cNvPr id="68" name="database">
            <a:extLst xmlns:a="http://schemas.openxmlformats.org/drawingml/2006/main">
              <a:ext uri="{FF2B5EF4-FFF2-40B4-BE49-F238E27FC236}">
                <a16:creationId xmlns:a16="http://schemas.microsoft.com/office/drawing/2014/main" id="{BCE8CD08-4A13-4A23-9E0C-7FE15709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43500"/>
            <a:ext cx="300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F0"/>
          </a:solidFill>
          <a:ln xmlns:a="http://schemas.openxmlformats.org/drawingml/2006/main" w="15240">
            <a:solidFill>
              <a:srgbClr val="C8C9CB"/>
            </a:solidFill>
            <a:prstDash val="solid"/>
          </a:ln>
        </p:spPr>
      </p:sp>
      <p:sp>
        <p:nvSpPr>
          <p:cNvPr id="69" name="database-label">
            <a:extLst xmlns:a="http://schemas.openxmlformats.org/drawingml/2006/main">
              <a:ext uri="{FF2B5EF4-FFF2-40B4-BE49-F238E27FC236}">
                <a16:creationId xmlns:a16="http://schemas.microsoft.com/office/drawing/2014/main" id="{9F3A9C1D-F75D-473E-B71B-70E03058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191125"/>
            <a:ext cx="2781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数据库：退货表＋日期表</a:t>
            </a:r>
          </a:p>
        </p:txBody>
      </p:sp>
      <p:sp>
        <p:nvSpPr>
          <p:cNvPr id="70" name="writer">
            <a:extLst xmlns:a="http://schemas.openxmlformats.org/drawingml/2006/main">
              <a:ext uri="{FF2B5EF4-FFF2-40B4-BE49-F238E27FC236}">
                <a16:creationId xmlns:a16="http://schemas.microsoft.com/office/drawing/2014/main" id="{6FBC3CD1-E28B-4DB0-A559-613A7AE3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50863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8C9CB"/>
            </a:solidFill>
            <a:prstDash val="solid"/>
          </a:ln>
        </p:spPr>
      </p:sp>
      <p:sp>
        <p:nvSpPr>
          <p:cNvPr id="71" name="writer-label">
            <a:extLst xmlns:a="http://schemas.openxmlformats.org/drawingml/2006/main">
              <a:ext uri="{FF2B5EF4-FFF2-40B4-BE49-F238E27FC236}">
                <a16:creationId xmlns:a16="http://schemas.microsoft.com/office/drawing/2014/main" id="{6034353D-6104-447F-AD92-1CEBFEC9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91125"/>
            <a:ext cx="485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业务写入：新增“申请中”记录</a:t>
            </a:r>
          </a:p>
        </p:txBody>
      </p:sp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4BE636-0A67-4837-8D4A-7D1CF9200C65}"/>
              </a:ext>
            </a:extLst>
          </p:cNvPr>
          <p:cNvCxnSpPr>
            <a:stCxn xmlns:a="http://schemas.openxmlformats.org/drawingml/2006/main" id="49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2362200" y="217170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00A58F"/>
            </a:solidFill>
            <a:prstDash val="solid"/>
            <a:tailEnd type="triangle" w="med" len="med"/>
          </a:ln>
        </p:spPr>
      </p:cxnSp>
      <p:sp>
        <p:nvSpPr>
          <p:cNvPr id="73" name="admission-input">
            <a:extLst xmlns:a="http://schemas.openxmlformats.org/drawingml/2006/main">
              <a:ext uri="{FF2B5EF4-FFF2-40B4-BE49-F238E27FC236}">
                <a16:creationId xmlns:a16="http://schemas.microsoft.com/office/drawing/2014/main" id="{C946E76A-1D11-4C9B-8D43-B2528A91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860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0A58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00A58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00A58F"/>
                </a:solidFill>
                <a:latin typeface="微软雅黑"/>
                <a:ea typeface="微软雅黑"/>
                <a:cs typeface="微软雅黑"/>
              </a:rPr>
              <a:t>① 候选定义</a:t>
            </a:r>
          </a:p>
        </p:txBody>
      </p:sp>
      <p:cxnSp>
        <p:nvCxn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300EAF-1112-4DBA-ADEC-1CB8BA922BB6}"/>
              </a:ext>
            </a:extLst>
          </p:cNvPr>
          <p:cNvCxnSpPr>
            <a:stCxn xmlns:a="http://schemas.openxmlformats.org/drawingml/2006/main" id="57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3771900" y="3514725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00A58F"/>
            </a:solidFill>
            <a:prstDash val="solid"/>
            <a:tailEnd type="triangle" w="med" len="med"/>
          </a:ln>
        </p:spPr>
      </p:cxnSp>
      <p:sp>
        <p:nvSpPr>
          <p:cNvPr id="75" name="publish-arrow-label">
            <a:extLst xmlns:a="http://schemas.openxmlformats.org/drawingml/2006/main">
              <a:ext uri="{FF2B5EF4-FFF2-40B4-BE49-F238E27FC236}">
                <a16:creationId xmlns:a16="http://schemas.microsoft.com/office/drawing/2014/main" id="{0A70591F-2EF9-4225-8FFD-ADBE4DE3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43250"/>
            <a:ext cx="657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A58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575" b="0">
                <a:solidFill>
                  <a:srgbClr val="00A58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A58F"/>
                </a:solidFill>
                <a:latin typeface="微软雅黑"/>
                <a:ea typeface="微软雅黑"/>
                <a:cs typeface="微软雅黑"/>
              </a:rPr>
              <a:t>发布</a:t>
            </a:r>
          </a:p>
        </p:txBody>
      </p:sp>
      <p:cxnSp>
        <p:nvCxn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D0231E2-6964-4FBA-BFC3-A784B8FF4AE2}"/>
              </a:ext>
            </a:extLst>
          </p:cNvPr>
          <p:cNvCxnSpPr>
            <a:stCxn xmlns:a="http://schemas.openxmlformats.org/drawingml/2006/main" id="60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7334250" y="35147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B558D"/>
            </a:solidFill>
            <a:prstDash val="solid"/>
            <a:tailEnd type="triangle" w="med" len="med"/>
          </a:ln>
        </p:spPr>
      </p:cxnSp>
      <p:sp>
        <p:nvSpPr>
          <p:cNvPr id="77" name="read-arrow-label">
            <a:extLst xmlns:a="http://schemas.openxmlformats.org/drawingml/2006/main">
              <a:ext uri="{FF2B5EF4-FFF2-40B4-BE49-F238E27FC236}">
                <a16:creationId xmlns:a16="http://schemas.microsoft.com/office/drawing/2014/main" id="{8946DEC5-BAAE-4828-B4D1-E7777346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800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有效定义</a:t>
            </a:r>
          </a:p>
        </p:txBody>
      </p:sp>
      <p:cxnSp>
        <p:nvCxn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7A0B0CE-5366-4BE2-B01B-C09995EC5B96}"/>
              </a:ext>
            </a:extLst>
          </p:cNvPr>
          <p:cNvCxnSpPr>
            <a:stCxn xmlns:a="http://schemas.openxmlformats.org/drawingml/2006/main" id="5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9744075" y="217170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B558D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79" name="query-input">
            <a:extLst xmlns:a="http://schemas.openxmlformats.org/drawingml/2006/main">
              <a:ext uri="{FF2B5EF4-FFF2-40B4-BE49-F238E27FC236}">
                <a16:creationId xmlns:a16="http://schemas.microsoft.com/office/drawing/2014/main" id="{A5D82FB8-C9FA-479B-9A82-16F711E9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725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725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② SQL＋指标版本</a:t>
            </a:r>
          </a:p>
        </p:txBody>
      </p: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0B7E07A-B15F-416B-AC9E-BE7988EBF5C9}"/>
              </a:ext>
            </a:extLst>
          </p:cNvPr>
          <p:cNvCxnSpPr>
            <a:stCxn xmlns:a="http://schemas.openxmlformats.org/drawingml/2006/main" id="63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9744075" y="39052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B558D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81" name="query-execution">
            <a:extLst xmlns:a="http://schemas.openxmlformats.org/drawingml/2006/main">
              <a:ext uri="{FF2B5EF4-FFF2-40B4-BE49-F238E27FC236}">
                <a16:creationId xmlns:a16="http://schemas.microsoft.com/office/drawing/2014/main" id="{EBBBB910-A066-4B16-A332-F91D9313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8672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③ 同快照执行</a:t>
            </a:r>
          </a:p>
        </p:txBody>
      </p:sp>
      <p:cxnSp>
        <p:nvCxn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D30F68-B7E2-4118-8DDE-3EDA8DB49C5D}"/>
              </a:ext>
            </a:extLst>
          </p:cNvPr>
          <p:cNvCxnSpPr>
            <a:stCxn xmlns:a="http://schemas.openxmlformats.org/drawingml/2006/main" id="66" idx="0"/>
            <a:endCxn xmlns:a="http://schemas.openxmlformats.org/drawingml/2006/main" id="60" idx="2"/>
          </p:cNvCxnSpPr>
          <p:nvPr/>
        </p:nvCxnSpPr>
        <p:spPr>
          <a:xfrm xmlns:a="http://schemas.openxmlformats.org/drawingml/2006/main" flipV="1">
            <a:off x="4143375" y="3905250"/>
            <a:ext cx="1857375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4765">
            <a:solidFill>
              <a:srgbClr val="3B558D"/>
            </a:solidFill>
            <a:prstDash val="solid"/>
            <a:tailEnd type="triangle" w="med" len="med"/>
          </a:ln>
        </p:spPr>
      </p:cxn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F333E0D-5C67-4700-8F3D-4857D942E7A4}"/>
              </a:ext>
            </a:extLst>
          </p:cNvPr>
          <p:cNvCxnSpPr>
            <a:stCxn xmlns:a="http://schemas.openxmlformats.org/drawingml/2006/main" id="66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334250" y="4462463"/>
            <a:ext cx="904875" cy="914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4765">
            <a:solidFill>
              <a:srgbClr val="2895AE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84" name="maintenance-label">
            <a:extLst xmlns:a="http://schemas.openxmlformats.org/drawingml/2006/main">
              <a:ext uri="{FF2B5EF4-FFF2-40B4-BE49-F238E27FC236}">
                <a16:creationId xmlns:a16="http://schemas.microsoft.com/office/drawing/2014/main" id="{7F37B493-8DD9-49CC-9E59-96B0CD1A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8482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575" b="0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895AE"/>
                </a:solidFill>
                <a:latin typeface="微软雅黑"/>
                <a:ea typeface="微软雅黑"/>
                <a:cs typeface="微软雅黑"/>
              </a:rPr>
              <a:t>④ 校验与修复</a:t>
            </a:r>
          </a:p>
        </p:txBody>
      </p:sp>
      <p:cxnSp>
        <p:nvCxn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5C766AA-4A07-4B9E-AA0D-4E29A500AC81}"/>
              </a:ext>
            </a:extLst>
          </p:cNvPr>
          <p:cNvCxnSpPr>
            <a:stCxn xmlns:a="http://schemas.openxmlformats.org/drawingml/2006/main" id="70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 flipV="0">
            <a:off x="6038850" y="5376863"/>
            <a:ext cx="22002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68717E"/>
            </a:solidFill>
            <a:prstDash val="solid"/>
            <a:tailEnd type="triangle" w="med" len="med"/>
          </a:ln>
        </p:spPr>
      </p:cxnSp>
      <p:sp>
        <p:nvSpPr>
          <p:cNvPr id="86" name="write-label">
            <a:extLst xmlns:a="http://schemas.openxmlformats.org/drawingml/2006/main">
              <a:ext uri="{FF2B5EF4-FFF2-40B4-BE49-F238E27FC236}">
                <a16:creationId xmlns:a16="http://schemas.microsoft.com/office/drawing/2014/main" id="{79108002-4E5E-400A-999D-A06B6280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53025"/>
            <a:ext cx="1457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数据写入</a:t>
            </a:r>
          </a:p>
        </p:txBody>
      </p:sp>
      <p:sp>
        <p:nvSpPr>
          <p:cNvPr id="87" name="system-title">
            <a:extLst xmlns:a="http://schemas.openxmlformats.org/drawingml/2006/main">
              <a:ext uri="{FF2B5EF4-FFF2-40B4-BE49-F238E27FC236}">
                <a16:creationId xmlns:a16="http://schemas.microsoft.com/office/drawing/2014/main" id="{8DE440AF-7C5F-4E19-9AD4-5608C232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87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系统架构：一次学习，多个 Agent 共享与维护</a:t>
            </a:r>
          </a:p>
        </p:txBody>
      </p:sp>
      <p:sp>
        <p:nvSpPr>
          <p:cNvPr id="88" name="system-page-number">
            <a:extLst xmlns:a="http://schemas.openxmlformats.org/drawingml/2006/main">
              <a:ext uri="{FF2B5EF4-FFF2-40B4-BE49-F238E27FC236}">
                <a16:creationId xmlns:a16="http://schemas.microsoft.com/office/drawing/2014/main" id="{1251BAB2-65C3-4704-B258-140735AB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9" name="takeaway-background">
            <a:extLst xmlns:a="http://schemas.openxmlformats.org/drawingml/2006/main">
              <a:ext uri="{FF2B5EF4-FFF2-40B4-BE49-F238E27FC236}">
                <a16:creationId xmlns:a16="http://schemas.microsoft.com/office/drawing/2014/main" id="{1575B0F8-D2A8-428D-8D9C-F42286FA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10966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078B8DC3-9114-42A6-AE3E-95D8B82A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38825"/>
            <a:ext cx="10658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一次学习后，共享指标定义；数据变化后，统一检查与修复</a:t>
            </a:r>
          </a:p>
        </p:txBody>
      </p:sp>
      <p:sp>
        <p:nvSpPr>
          <p:cNvPr id="91" name="system-source">
            <a:extLst xmlns:a="http://schemas.openxmlformats.org/drawingml/2006/main">
              <a:ext uri="{FF2B5EF4-FFF2-40B4-BE49-F238E27FC236}">
                <a16:creationId xmlns:a16="http://schemas.microsoft.com/office/drawing/2014/main" id="{8F9C52D8-B4FC-47EC-ADAC-83E6A836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贯穿示例：9 月退货金额。600 元与版本 r1/r2 为讲解用示例。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A2224286-32CF-407D-B935-C6662ACAAC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c66bd15dc4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数据模型：一条“退货金额”记忆保存什么</a:t>
            </a:r>
          </a:p>
        </p:txBody>
      </p:sp>
      <p:sp>
        <p:nvSpPr>
          <p:cNvPr id="4" name="日期占位符 44">
            <a:extLst xmlns:a="http://schemas.openxmlformats.org/drawingml/2006/main">
              <a:ext uri="{FF2B5EF4-FFF2-40B4-BE49-F238E27FC236}">
                <a16:creationId xmlns:a16="http://schemas.microsoft.com/office/drawing/2014/main" id="{09C09388-E95B-43FF-BC89-DC24122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l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307A1C6-582D-3A47-F65B-0CD6F885CF51}" type="datetime1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C1C5B3A8-B30B-D205-8921-516C108AB9AB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68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数据模型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生命周期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9" name="metric-definition">
            <a:extLst xmlns:a="http://schemas.openxmlformats.org/drawingml/2006/main">
              <a:ext uri="{FF2B5EF4-FFF2-40B4-BE49-F238E27FC236}">
                <a16:creationId xmlns:a16="http://schemas.microsoft.com/office/drawing/2014/main" id="{67B6C07A-9BAB-4DFD-8F23-0E84B984DF85}"/>
              </a:ext>
            </a:extLst>
          </p:cNvPr>
          <p:cNvGraphicFramePr/>
          <p:nvPr/>
        </p:nvGraphicFramePr>
        <p:xfrm>
          <a:off xmlns:a="http://schemas.openxmlformats.org/drawingml/2006/main" x="695325" y="1847850"/>
          <a:ext xmlns:a="http://schemas.openxmlformats.org/drawingml/2006/main" cx="10801350" cy="3219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52700"/>
                <a:gridCol w="8248650"/>
              </a:tblGrid>
              <a:tr h="643890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定义字段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本例保存的内容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</a:tr>
              <a:tr h="643890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业务含义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已完成退货的金额，按退货日期归属月份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  <a:tr h="643890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store_returns 中的 sr_return_amt 求和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业务粒度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一组“小票＋商品”表示一笔退货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  <a:tr h="643890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版本与证据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 r1，学习任务、SQL、学习时的数据快照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condition-main">
            <a:extLst xmlns:a="http://schemas.openxmlformats.org/drawingml/2006/main">
              <a:ext uri="{FF2B5EF4-FFF2-40B4-BE49-F238E27FC236}">
                <a16:creationId xmlns:a16="http://schemas.microsoft.com/office/drawing/2014/main" id="{73823814-A937-407F-925F-2889563E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91150"/>
            <a:ext cx="1051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定义还携带可执行前提：每笔退货只保留一行</a:t>
            </a:r>
          </a:p>
        </p:txBody>
      </p:sp>
      <p:sp>
        <p:nvSpPr>
          <p:cNvPr id="51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ED356384-F0DD-4C03-B578-ACDA787B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“9 月”作为查询参数传入。学习时全部为完成态，r1 未增加状态过滤。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column-title-0">
            <a:extLst xmlns:a="http://schemas.openxmlformats.org/drawingml/2006/main">
              <a:ext uri="{FF2B5EF4-FFF2-40B4-BE49-F238E27FC236}">
                <a16:creationId xmlns:a16="http://schemas.microsoft.com/office/drawing/2014/main" id="{F4F5845F-4A24-4733-8617-AAAA1BF9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95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定义中的结构</a:t>
            </a:r>
          </a:p>
        </p:txBody>
      </p:sp>
      <p:sp>
        <p:nvSpPr>
          <p:cNvPr id="50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04B510FB-F1AC-42EA-BB8E-E52AF63B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依赖的数据假设</a:t>
            </a:r>
          </a:p>
        </p:txBody>
      </p:sp>
      <p:sp>
        <p:nvSpPr>
          <p:cNvPr id="51" name="column-title-2">
            <a:extLst xmlns:a="http://schemas.openxmlformats.org/drawingml/2006/main">
              <a:ext uri="{FF2B5EF4-FFF2-40B4-BE49-F238E27FC236}">
                <a16:creationId xmlns:a16="http://schemas.microsoft.com/office/drawing/2014/main" id="{3A1F1362-0423-4FC2-8AB0-ED5415DD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29540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对应的可执行条件</a:t>
            </a:r>
          </a:p>
        </p:txBody>
      </p:sp>
      <p:sp>
        <p:nvSpPr>
          <p:cNvPr id="52" name="condition-0-0">
            <a:extLst xmlns:a="http://schemas.openxmlformats.org/drawingml/2006/main">
              <a:ext uri="{FF2B5EF4-FFF2-40B4-BE49-F238E27FC236}">
                <a16:creationId xmlns:a16="http://schemas.microsoft.com/office/drawing/2014/main" id="{16D8BE48-B263-4490-AEDE-62EE5258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3238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8C9CB"/>
            </a:solidFill>
            <a:prstDash val="solid"/>
          </a:ln>
        </p:spPr>
      </p:sp>
      <p:sp>
        <p:nvSpPr>
          <p:cNvPr id="53" name="condition-0-0-title">
            <a:extLst xmlns:a="http://schemas.openxmlformats.org/drawingml/2006/main">
              <a:ext uri="{FF2B5EF4-FFF2-40B4-BE49-F238E27FC236}">
                <a16:creationId xmlns:a16="http://schemas.microsoft.com/office/drawing/2014/main" id="{36668DA4-922C-492C-981B-EB3428B7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43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退货金额求和</a:t>
            </a:r>
          </a:p>
        </p:txBody>
      </p:sp>
      <p:sp>
        <p:nvSpPr>
          <p:cNvPr id="54" name="condition-0-0-body">
            <a:extLst xmlns:a="http://schemas.openxmlformats.org/drawingml/2006/main">
              <a:ext uri="{FF2B5EF4-FFF2-40B4-BE49-F238E27FC236}">
                <a16:creationId xmlns:a16="http://schemas.microsoft.com/office/drawing/2014/main" id="{44AF2BA8-B4FB-4B34-AECC-C3AD6366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05050"/>
            <a:ext cx="3009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5634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8563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856345"/>
                </a:solidFill>
                <a:latin typeface="微软雅黑"/>
                <a:ea typeface="微软雅黑"/>
                <a:cs typeface="微软雅黑"/>
              </a:rPr>
              <a:t>SUM(sr_return_amt)</a:t>
            </a:r>
          </a:p>
        </p:txBody>
      </p:sp>
      <p:sp>
        <p:nvSpPr>
          <p:cNvPr id="55" name="condition-0-1">
            <a:extLst xmlns:a="http://schemas.openxmlformats.org/drawingml/2006/main">
              <a:ext uri="{FF2B5EF4-FFF2-40B4-BE49-F238E27FC236}">
                <a16:creationId xmlns:a16="http://schemas.microsoft.com/office/drawing/2014/main" id="{1DD37C93-E081-4B8E-873B-CF54F202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57375"/>
            <a:ext cx="3028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ndition-0-1-title">
            <a:extLst xmlns:a="http://schemas.openxmlformats.org/drawingml/2006/main">
              <a:ext uri="{FF2B5EF4-FFF2-40B4-BE49-F238E27FC236}">
                <a16:creationId xmlns:a16="http://schemas.microsoft.com/office/drawing/2014/main" id="{4F75A037-8987-4F92-A60A-9D57C24B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一笔退货只有一行</a:t>
            </a:r>
          </a:p>
        </p:txBody>
      </p:sp>
      <p:sp>
        <p:nvSpPr>
          <p:cNvPr id="57" name="condition-0-1-body">
            <a:extLst xmlns:a="http://schemas.openxmlformats.org/drawingml/2006/main">
              <a:ext uri="{FF2B5EF4-FFF2-40B4-BE49-F238E27FC236}">
                <a16:creationId xmlns:a16="http://schemas.microsoft.com/office/drawing/2014/main" id="{CBACE8A1-EFA6-4E9A-8297-897D52CF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2800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小票＋商品标识一笔退货</a:t>
            </a:r>
          </a:p>
        </p:txBody>
      </p:sp>
      <p:sp>
        <p:nvSpPr>
          <p:cNvPr id="58" name="condition-0-2">
            <a:extLst xmlns:a="http://schemas.openxmlformats.org/drawingml/2006/main">
              <a:ext uri="{FF2B5EF4-FFF2-40B4-BE49-F238E27FC236}">
                <a16:creationId xmlns:a16="http://schemas.microsoft.com/office/drawing/2014/main" id="{5C919853-0DA3-4E04-80C2-90E784D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857375"/>
            <a:ext cx="3476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condition-0-2-title">
            <a:extLst xmlns:a="http://schemas.openxmlformats.org/drawingml/2006/main">
              <a:ext uri="{FF2B5EF4-FFF2-40B4-BE49-F238E27FC236}">
                <a16:creationId xmlns:a16="http://schemas.microsoft.com/office/drawing/2014/main" id="{A973DA6D-2B64-4B2F-9DE8-2095904B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43100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粒度唯一</a:t>
            </a:r>
          </a:p>
        </p:txBody>
      </p:sp>
      <p:sp>
        <p:nvSpPr>
          <p:cNvPr id="60" name="condition-0-2-body">
            <a:extLst xmlns:a="http://schemas.openxmlformats.org/drawingml/2006/main">
              <a:ext uri="{FF2B5EF4-FFF2-40B4-BE49-F238E27FC236}">
                <a16:creationId xmlns:a16="http://schemas.microsoft.com/office/drawing/2014/main" id="{1A8FFA2F-D8F0-4E86-9082-2E1B9C37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05050"/>
            <a:ext cx="3248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同一退货键不得重复</a:t>
            </a:r>
          </a:p>
        </p:txBody>
      </p: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C581AF-4C5C-4AE4-ADC4-2E0A77EA18DF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3952875" y="22764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B558D"/>
            </a:solidFill>
            <a:prstDash val="solid"/>
            <a:tailEnd type="triangle" w="med" len="med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9CFC2D-3276-447F-9A30-C94EC3478BB1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7467600" y="22764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B558D"/>
            </a:solidFill>
            <a:prstDash val="solid"/>
            <a:tailEnd type="triangle" w="med" len="med"/>
          </a:ln>
        </p:spPr>
      </p:cxnSp>
      <p:sp>
        <p:nvSpPr>
          <p:cNvPr id="63" name="condition-1-0">
            <a:extLst xmlns:a="http://schemas.openxmlformats.org/drawingml/2006/main">
              <a:ext uri="{FF2B5EF4-FFF2-40B4-BE49-F238E27FC236}">
                <a16:creationId xmlns:a16="http://schemas.microsoft.com/office/drawing/2014/main" id="{CC0180AF-3C28-4C5C-909C-F4D2011A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3238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8C9CB"/>
            </a:solidFill>
            <a:prstDash val="solid"/>
          </a:ln>
        </p:spPr>
      </p:sp>
      <p:sp>
        <p:nvSpPr>
          <p:cNvPr id="64" name="condition-1-0-title">
            <a:extLst xmlns:a="http://schemas.openxmlformats.org/drawingml/2006/main">
              <a:ext uri="{FF2B5EF4-FFF2-40B4-BE49-F238E27FC236}">
                <a16:creationId xmlns:a16="http://schemas.microsoft.com/office/drawing/2014/main" id="{6D895468-FD7E-4E61-A200-2C9D64A2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03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按退货日期连接</a:t>
            </a:r>
          </a:p>
        </p:txBody>
      </p:sp>
      <p:sp>
        <p:nvSpPr>
          <p:cNvPr id="65" name="condition-1-0-body">
            <a:extLst xmlns:a="http://schemas.openxmlformats.org/drawingml/2006/main">
              <a:ext uri="{FF2B5EF4-FFF2-40B4-BE49-F238E27FC236}">
                <a16:creationId xmlns:a16="http://schemas.microsoft.com/office/drawing/2014/main" id="{7A51539C-34C6-4C04-BC3E-98C61438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3009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5634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8563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856345"/>
                </a:solidFill>
                <a:latin typeface="微软雅黑"/>
                <a:ea typeface="微软雅黑"/>
                <a:cs typeface="微软雅黑"/>
              </a:rPr>
              <a:t>退货日期键关联日期表</a:t>
            </a:r>
          </a:p>
        </p:txBody>
      </p:sp>
      <p:sp>
        <p:nvSpPr>
          <p:cNvPr id="66" name="condition-1-1">
            <a:extLst xmlns:a="http://schemas.openxmlformats.org/drawingml/2006/main">
              <a:ext uri="{FF2B5EF4-FFF2-40B4-BE49-F238E27FC236}">
                <a16:creationId xmlns:a16="http://schemas.microsoft.com/office/drawing/2014/main" id="{BF801B16-79F3-4F29-B296-872A853D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3028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condition-1-1-title">
            <a:extLst xmlns:a="http://schemas.openxmlformats.org/drawingml/2006/main">
              <a:ext uri="{FF2B5EF4-FFF2-40B4-BE49-F238E27FC236}">
                <a16:creationId xmlns:a16="http://schemas.microsoft.com/office/drawing/2014/main" id="{D3BC84B3-400B-411B-97A7-79315B09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至多匹配一个日期</a:t>
            </a:r>
          </a:p>
        </p:txBody>
      </p:sp>
      <p:sp>
        <p:nvSpPr>
          <p:cNvPr id="68" name="condition-1-1-body">
            <a:extLst xmlns:a="http://schemas.openxmlformats.org/drawingml/2006/main">
              <a:ext uri="{FF2B5EF4-FFF2-40B4-BE49-F238E27FC236}">
                <a16:creationId xmlns:a16="http://schemas.microsoft.com/office/drawing/2014/main" id="{5075513F-3910-40E5-84E4-E12110C7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62325"/>
            <a:ext cx="2800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连接不会把一条退货放大</a:t>
            </a:r>
          </a:p>
        </p:txBody>
      </p:sp>
      <p:sp>
        <p:nvSpPr>
          <p:cNvPr id="69" name="condition-1-2">
            <a:extLst xmlns:a="http://schemas.openxmlformats.org/drawingml/2006/main">
              <a:ext uri="{FF2B5EF4-FFF2-40B4-BE49-F238E27FC236}">
                <a16:creationId xmlns:a16="http://schemas.microsoft.com/office/drawing/2014/main" id="{44D5EA7F-5045-40F1-A34F-FEF7263F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914650"/>
            <a:ext cx="3476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condition-1-2-title">
            <a:extLst xmlns:a="http://schemas.openxmlformats.org/drawingml/2006/main">
              <a:ext uri="{FF2B5EF4-FFF2-40B4-BE49-F238E27FC236}">
                <a16:creationId xmlns:a16="http://schemas.microsoft.com/office/drawing/2014/main" id="{83FE115A-CAC0-4798-B8DA-9F6E15C6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000375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连接基数＋日期角色</a:t>
            </a:r>
          </a:p>
        </p:txBody>
      </p:sp>
      <p:sp>
        <p:nvSpPr>
          <p:cNvPr id="71" name="condition-1-2-body">
            <a:extLst xmlns:a="http://schemas.openxmlformats.org/drawingml/2006/main">
              <a:ext uri="{FF2B5EF4-FFF2-40B4-BE49-F238E27FC236}">
                <a16:creationId xmlns:a16="http://schemas.microsoft.com/office/drawing/2014/main" id="{2D401221-AFA2-41B6-907D-2B26008C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62325"/>
            <a:ext cx="3248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沿声明的日期角色匹配</a:t>
            </a:r>
          </a:p>
        </p:txBody>
      </p:sp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DFB0C86-E05D-4505-BF6B-7DB42DD97506}"/>
              </a:ext>
            </a:extLst>
          </p:cNvPr>
          <p:cNvCxnSpPr>
            <a:stCxn xmlns:a="http://schemas.openxmlformats.org/drawingml/2006/main" id="63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3952875" y="33337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B558D"/>
            </a:solidFill>
            <a:prstDash val="solid"/>
            <a:tailEnd type="triangle" w="med" len="med"/>
          </a:ln>
        </p:spPr>
      </p:cxnSp>
      <p:cxnSp>
        <p:nvCxn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5E24F84-0363-49A8-BD52-C4072F6DC123}"/>
              </a:ext>
            </a:extLst>
          </p:cNvPr>
          <p:cNvCxnSpPr>
            <a:stCxn xmlns:a="http://schemas.openxmlformats.org/drawingml/2006/main" id="66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7467600" y="33337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B558D"/>
            </a:solidFill>
            <a:prstDash val="solid"/>
            <a:tailEnd type="triangle" w="med" len="med"/>
          </a:ln>
        </p:spPr>
      </p:cxnSp>
      <p:sp>
        <p:nvSpPr>
          <p:cNvPr id="74" name="condition-2-0">
            <a:extLst xmlns:a="http://schemas.openxmlformats.org/drawingml/2006/main">
              <a:ext uri="{FF2B5EF4-FFF2-40B4-BE49-F238E27FC236}">
                <a16:creationId xmlns:a16="http://schemas.microsoft.com/office/drawing/2014/main" id="{4774E635-BC08-42B1-8E77-D74811A1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71925"/>
            <a:ext cx="3238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8C9CB"/>
            </a:solidFill>
            <a:prstDash val="solid"/>
          </a:ln>
        </p:spPr>
      </p:sp>
      <p:sp>
        <p:nvSpPr>
          <p:cNvPr id="75" name="condition-2-0-title">
            <a:extLst xmlns:a="http://schemas.openxmlformats.org/drawingml/2006/main">
              <a:ext uri="{FF2B5EF4-FFF2-40B4-BE49-F238E27FC236}">
                <a16:creationId xmlns:a16="http://schemas.microsoft.com/office/drawing/2014/main" id="{7B9EC6C3-7E60-41BD-A1DA-2DA0BBA4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576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内连接筛选月份</a:t>
            </a:r>
          </a:p>
        </p:txBody>
      </p:sp>
      <p:sp>
        <p:nvSpPr>
          <p:cNvPr id="76" name="condition-2-0-body">
            <a:extLst xmlns:a="http://schemas.openxmlformats.org/drawingml/2006/main">
              <a:ext uri="{FF2B5EF4-FFF2-40B4-BE49-F238E27FC236}">
                <a16:creationId xmlns:a16="http://schemas.microsoft.com/office/drawing/2014/main" id="{DEDA0810-EB4E-4B03-8D3F-D45A7513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19600"/>
            <a:ext cx="3009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5634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8563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856345"/>
                </a:solidFill>
                <a:latin typeface="微软雅黑"/>
                <a:ea typeface="微软雅黑"/>
                <a:cs typeface="微软雅黑"/>
              </a:rPr>
              <a:t>9 月作为请求参数</a:t>
            </a:r>
          </a:p>
        </p:txBody>
      </p:sp>
      <p:sp>
        <p:nvSpPr>
          <p:cNvPr id="77" name="condition-2-1">
            <a:extLst xmlns:a="http://schemas.openxmlformats.org/drawingml/2006/main">
              <a:ext uri="{FF2B5EF4-FFF2-40B4-BE49-F238E27FC236}">
                <a16:creationId xmlns:a16="http://schemas.microsoft.com/office/drawing/2014/main" id="{2F9053B2-F1F4-4356-8145-1EC6B63E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71925"/>
            <a:ext cx="3028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condition-2-1-title">
            <a:extLst xmlns:a="http://schemas.openxmlformats.org/drawingml/2006/main">
              <a:ext uri="{FF2B5EF4-FFF2-40B4-BE49-F238E27FC236}">
                <a16:creationId xmlns:a16="http://schemas.microsoft.com/office/drawing/2014/main" id="{E78FB910-CDCD-4419-99A1-BA3467F7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连接不能悄悄漏数</a:t>
            </a:r>
          </a:p>
        </p:txBody>
      </p:sp>
      <p:sp>
        <p:nvSpPr>
          <p:cNvPr id="79" name="condition-2-1-body">
            <a:extLst xmlns:a="http://schemas.openxmlformats.org/drawingml/2006/main">
              <a:ext uri="{FF2B5EF4-FFF2-40B4-BE49-F238E27FC236}">
                <a16:creationId xmlns:a16="http://schemas.microsoft.com/office/drawing/2014/main" id="{85200136-CDAF-4BD7-9372-9BC886C2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19600"/>
            <a:ext cx="2800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无法匹配的比例有上限</a:t>
            </a:r>
          </a:p>
        </p:txBody>
      </p:sp>
      <p:sp>
        <p:nvSpPr>
          <p:cNvPr id="80" name="condition-2-2">
            <a:extLst xmlns:a="http://schemas.openxmlformats.org/drawingml/2006/main">
              <a:ext uri="{FF2B5EF4-FFF2-40B4-BE49-F238E27FC236}">
                <a16:creationId xmlns:a16="http://schemas.microsoft.com/office/drawing/2014/main" id="{4A97BFCE-3CD1-4C20-A721-C3A51399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971925"/>
            <a:ext cx="3476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condition-2-2-title">
            <a:extLst xmlns:a="http://schemas.openxmlformats.org/drawingml/2006/main">
              <a:ext uri="{FF2B5EF4-FFF2-40B4-BE49-F238E27FC236}">
                <a16:creationId xmlns:a16="http://schemas.microsoft.com/office/drawing/2014/main" id="{9F36B107-A449-4231-B26B-53C667BD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57650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连接完整性</a:t>
            </a:r>
          </a:p>
        </p:txBody>
      </p:sp>
      <p:sp>
        <p:nvSpPr>
          <p:cNvPr id="82" name="condition-2-2-body">
            <a:extLst xmlns:a="http://schemas.openxmlformats.org/drawingml/2006/main">
              <a:ext uri="{FF2B5EF4-FFF2-40B4-BE49-F238E27FC236}">
                <a16:creationId xmlns:a16="http://schemas.microsoft.com/office/drawing/2014/main" id="{4C7940F2-9275-4B49-A1EF-1507CDA4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419600"/>
            <a:ext cx="3248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漏配比例不超过允许水平</a:t>
            </a:r>
          </a:p>
        </p:txBody>
      </p: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110710-C40A-4241-A662-D8BC3D9590B7}"/>
              </a:ext>
            </a:extLst>
          </p:cNvPr>
          <p:cNvCxnSpPr>
            <a:stCxn xmlns:a="http://schemas.openxmlformats.org/drawingml/2006/main" id="74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952875" y="43910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B558D"/>
            </a:solidFill>
            <a:prstDash val="solid"/>
            <a:tailEnd type="triangle" w="med" len="med"/>
          </a:ln>
        </p:spPr>
      </p:cxnSp>
      <p:cxnSp>
        <p:nvCxn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8E9FBEF-E9FF-4DB9-96E7-10F483DADEA2}"/>
              </a:ext>
            </a:extLst>
          </p:cNvPr>
          <p:cNvCxnSpPr>
            <a:stCxn xmlns:a="http://schemas.openxmlformats.org/drawingml/2006/main" id="77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7467600" y="4391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B558D"/>
            </a:solidFill>
            <a:prstDash val="solid"/>
            <a:tailEnd type="triangle" w="med" len="med"/>
          </a:ln>
        </p:spPr>
      </p:cxnSp>
      <p:sp>
        <p:nvSpPr>
          <p:cNvPr id="85" name="example-violation">
            <a:extLst xmlns:a="http://schemas.openxmlformats.org/drawingml/2006/main">
              <a:ext uri="{FF2B5EF4-FFF2-40B4-BE49-F238E27FC236}">
                <a16:creationId xmlns:a16="http://schemas.microsoft.com/office/drawing/2014/main" id="{F725C6CB-1BA9-46F1-89FD-C7CD9E0B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14925"/>
            <a:ext cx="107537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example-violation-label">
            <a:extLst xmlns:a="http://schemas.openxmlformats.org/drawingml/2006/main">
              <a:ext uri="{FF2B5EF4-FFF2-40B4-BE49-F238E27FC236}">
                <a16:creationId xmlns:a16="http://schemas.microsoft.com/office/drawing/2014/main" id="{E0EB26A1-ADBD-4E95-84B4-61A95E45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81600"/>
            <a:ext cx="10448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C9633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C96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9633D"/>
                </a:solidFill>
                <a:latin typeface="微软雅黑"/>
                <a:ea typeface="微软雅黑"/>
                <a:cs typeface="微软雅黑"/>
              </a:rPr>
              <a:t>本例：新增申请中记录后，5 行只有 3 个退货键，粒度条件失败</a:t>
            </a:r>
          </a:p>
        </p:txBody>
      </p:sp>
      <p:sp>
        <p:nvSpPr>
          <p:cNvPr id="87" name="system-title">
            <a:extLst xmlns:a="http://schemas.openxmlformats.org/drawingml/2006/main">
              <a:ext uri="{FF2B5EF4-FFF2-40B4-BE49-F238E27FC236}">
                <a16:creationId xmlns:a16="http://schemas.microsoft.com/office/drawing/2014/main" id="{B4647E50-6E03-483D-AF2C-0656F3FC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87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数据模型：定义结构怎样变成可执行前提</a:t>
            </a:r>
          </a:p>
        </p:txBody>
      </p:sp>
      <p:sp>
        <p:nvSpPr>
          <p:cNvPr id="88" name="system-page-number">
            <a:extLst xmlns:a="http://schemas.openxmlformats.org/drawingml/2006/main">
              <a:ext uri="{FF2B5EF4-FFF2-40B4-BE49-F238E27FC236}">
                <a16:creationId xmlns:a16="http://schemas.microsoft.com/office/drawing/2014/main" id="{35DC3A13-00CB-4A15-932F-20DFF6F5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89" name="takeaway-background">
            <a:extLst xmlns:a="http://schemas.openxmlformats.org/drawingml/2006/main">
              <a:ext uri="{FF2B5EF4-FFF2-40B4-BE49-F238E27FC236}">
                <a16:creationId xmlns:a16="http://schemas.microsoft.com/office/drawing/2014/main" id="{0240E6D8-7B8E-44D9-A69B-C89A9C0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10966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E49CB598-800A-46A3-84CC-0639E8F0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38825"/>
            <a:ext cx="10658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每条前提对应一条校验 SQL，使用前就能判断旧定义是否仍适用</a:t>
            </a:r>
          </a:p>
        </p:txBody>
      </p:sp>
      <p:sp>
        <p:nvSpPr>
          <p:cNvPr id="91" name="system-source">
            <a:extLst xmlns:a="http://schemas.openxmlformats.org/drawingml/2006/main">
              <a:ext uri="{FF2B5EF4-FFF2-40B4-BE49-F238E27FC236}">
                <a16:creationId xmlns:a16="http://schemas.microsoft.com/office/drawing/2014/main" id="{E3F52734-906B-4EA8-B043-E5A906F7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来源：论文第 4 节。定义同时保存业务含义、版本与学习证据。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lifecycle-takeaway-background">
            <a:extLst xmlns:a="http://schemas.openxmlformats.org/drawingml/2006/main">
              <a:ext uri="{FF2B5EF4-FFF2-40B4-BE49-F238E27FC236}">
                <a16:creationId xmlns:a16="http://schemas.microsoft.com/office/drawing/2014/main" id="{38D8A861-0AA1-4D09-85BC-6226D75D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10966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lifecycle-question">
            <a:extLst xmlns:a="http://schemas.openxmlformats.org/drawingml/2006/main">
              <a:ext uri="{FF2B5EF4-FFF2-40B4-BE49-F238E27FC236}">
                <a16:creationId xmlns:a16="http://schemas.microsoft.com/office/drawing/2014/main" id="{0912BE41-125C-4988-9221-DC7D58FC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新增“申请中”记录后，旧版本 r1 会怎样？</a:t>
            </a:r>
          </a:p>
        </p:txBody>
      </p:sp>
      <p:sp>
        <p:nvSpPr>
          <p:cNvPr id="50" name="valid-r1">
            <a:extLst xmlns:a="http://schemas.openxmlformats.org/drawingml/2006/main">
              <a:ext uri="{FF2B5EF4-FFF2-40B4-BE49-F238E27FC236}">
                <a16:creationId xmlns:a16="http://schemas.microsoft.com/office/drawing/2014/main" id="{9180684F-D165-44BB-A00A-193A1D44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193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5"/>
          </a:solidFill>
          <a:ln xmlns:a="http://schemas.openxmlformats.org/drawingml/2006/main" w="19050">
            <a:solidFill>
              <a:srgbClr val="3B558D"/>
            </a:solidFill>
            <a:prstDash val="solid"/>
          </a:ln>
        </p:spPr>
      </p:sp>
      <p:sp>
        <p:nvSpPr>
          <p:cNvPr id="51" name="valid-r1-title">
            <a:extLst xmlns:a="http://schemas.openxmlformats.org/drawingml/2006/main">
              <a:ext uri="{FF2B5EF4-FFF2-40B4-BE49-F238E27FC236}">
                <a16:creationId xmlns:a16="http://schemas.microsoft.com/office/drawing/2014/main" id="{1F7CD925-57AC-4676-A8BF-BE0A59EC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0502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有效 r1</a:t>
            </a:r>
          </a:p>
        </p:txBody>
      </p:sp>
      <p:sp>
        <p:nvSpPr>
          <p:cNvPr id="52" name="valid-r1-body">
            <a:extLst xmlns:a="http://schemas.openxmlformats.org/drawingml/2006/main">
              <a:ext uri="{FF2B5EF4-FFF2-40B4-BE49-F238E27FC236}">
                <a16:creationId xmlns:a16="http://schemas.microsoft.com/office/drawing/2014/main" id="{87A4CCA5-345E-4003-B8C3-8E252CF4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66975"/>
            <a:ext cx="1771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每笔退货一行</a:t>
            </a:r>
          </a:p>
        </p:txBody>
      </p:sp>
      <p:sp>
        <p:nvSpPr>
          <p:cNvPr id="53" name="pending">
            <a:extLst xmlns:a="http://schemas.openxmlformats.org/drawingml/2006/main">
              <a:ext uri="{FF2B5EF4-FFF2-40B4-BE49-F238E27FC236}">
                <a16:creationId xmlns:a16="http://schemas.microsoft.com/office/drawing/2014/main" id="{E0A9DBE9-BEA9-47C1-855C-4BAC63B2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193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6"/>
          </a:solidFill>
          <a:ln xmlns:a="http://schemas.openxmlformats.org/drawingml/2006/main" w="15240">
            <a:solidFill>
              <a:srgbClr val="C9633D"/>
            </a:solidFill>
            <a:prstDash val="solid"/>
          </a:ln>
        </p:spPr>
      </p:sp>
      <p:sp>
        <p:nvSpPr>
          <p:cNvPr id="54" name="pending-title">
            <a:extLst xmlns:a="http://schemas.openxmlformats.org/drawingml/2006/main">
              <a:ext uri="{FF2B5EF4-FFF2-40B4-BE49-F238E27FC236}">
                <a16:creationId xmlns:a16="http://schemas.microsoft.com/office/drawing/2014/main" id="{129C6866-87DC-4C71-B600-C711E33F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0502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C9633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C9633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9633D"/>
                </a:solidFill>
                <a:latin typeface="微软雅黑"/>
                <a:ea typeface="微软雅黑"/>
                <a:cs typeface="微软雅黑"/>
              </a:rPr>
              <a:t>待校验</a:t>
            </a:r>
          </a:p>
        </p:txBody>
      </p:sp>
      <p:sp>
        <p:nvSpPr>
          <p:cNvPr id="55" name="pending-body">
            <a:extLst xmlns:a="http://schemas.openxmlformats.org/drawingml/2006/main">
              <a:ext uri="{FF2B5EF4-FFF2-40B4-BE49-F238E27FC236}">
                <a16:creationId xmlns:a16="http://schemas.microsoft.com/office/drawing/2014/main" id="{9B3C791D-6A96-4988-831C-5244C23C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66975"/>
            <a:ext cx="1771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依赖表版本变化</a:t>
            </a:r>
          </a:p>
        </p:txBody>
      </p:sp>
      <p:sp>
        <p:nvSpPr>
          <p:cNvPr id="56" name="check-decision">
            <a:extLst xmlns:a="http://schemas.openxmlformats.org/drawingml/2006/main">
              <a:ext uri="{FF2B5EF4-FFF2-40B4-BE49-F238E27FC236}">
                <a16:creationId xmlns:a16="http://schemas.microsoft.com/office/drawing/2014/main" id="{128F6B58-24C6-4ED5-BFD0-A61501F1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76425"/>
            <a:ext cx="1600200" cy="1181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8ECF5"/>
          </a:solidFill>
          <a:ln xmlns:a="http://schemas.openxmlformats.org/drawingml/2006/main" w="15240">
            <a:solidFill>
              <a:srgbClr val="3B558D"/>
            </a:solidFill>
            <a:prstDash val="solid"/>
          </a:ln>
        </p:spPr>
      </p:sp>
      <p:sp>
        <p:nvSpPr>
          <p:cNvPr id="57" name="check-decision-label">
            <a:extLst xmlns:a="http://schemas.openxmlformats.org/drawingml/2006/main">
              <a:ext uri="{FF2B5EF4-FFF2-40B4-BE49-F238E27FC236}">
                <a16:creationId xmlns:a16="http://schemas.microsoft.com/office/drawing/2014/main" id="{2F901120-3588-4B21-8029-A3E04AAE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124075"/>
            <a:ext cx="895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前提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成立？</a:t>
            </a:r>
          </a:p>
        </p:txBody>
      </p:sp>
      <p:sp>
        <p:nvSpPr>
          <p:cNvPr id="58" name="still-valid">
            <a:extLst xmlns:a="http://schemas.openxmlformats.org/drawingml/2006/main">
              <a:ext uri="{FF2B5EF4-FFF2-40B4-BE49-F238E27FC236}">
                <a16:creationId xmlns:a16="http://schemas.microsoft.com/office/drawing/2014/main" id="{E6C00199-AC51-490E-BC19-0C9B13E7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19300"/>
            <a:ext cx="2714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5"/>
          </a:solidFill>
          <a:ln xmlns:a="http://schemas.openxmlformats.org/drawingml/2006/main" w="15240">
            <a:solidFill>
              <a:srgbClr val="3B558D"/>
            </a:solidFill>
            <a:prstDash val="solid"/>
          </a:ln>
        </p:spPr>
      </p:sp>
      <p:sp>
        <p:nvSpPr>
          <p:cNvPr id="59" name="still-valid-title">
            <a:extLst xmlns:a="http://schemas.openxmlformats.org/drawingml/2006/main">
              <a:ext uri="{FF2B5EF4-FFF2-40B4-BE49-F238E27FC236}">
                <a16:creationId xmlns:a16="http://schemas.microsoft.com/office/drawing/2014/main" id="{2A184912-1174-4984-95D9-65B845CF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05025"/>
            <a:ext cx="2486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继续使用 r1</a:t>
            </a:r>
          </a:p>
        </p:txBody>
      </p:sp>
      <p:sp>
        <p:nvSpPr>
          <p:cNvPr id="60" name="still-valid-body">
            <a:extLst xmlns:a="http://schemas.openxmlformats.org/drawingml/2006/main">
              <a:ext uri="{FF2B5EF4-FFF2-40B4-BE49-F238E27FC236}">
                <a16:creationId xmlns:a16="http://schemas.microsoft.com/office/drawing/2014/main" id="{D2F781B6-C3BA-4369-B860-F11C57E8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66975"/>
            <a:ext cx="2486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通过检查，正常执行</a:t>
            </a:r>
          </a:p>
        </p:txBody>
      </p:sp>
      <p:sp>
        <p:nvSpPr>
          <p:cNvPr id="61" name="repair-test">
            <a:extLst xmlns:a="http://schemas.openxmlformats.org/drawingml/2006/main">
              <a:ext uri="{FF2B5EF4-FFF2-40B4-BE49-F238E27FC236}">
                <a16:creationId xmlns:a16="http://schemas.microsoft.com/office/drawing/2014/main" id="{8FCA7E34-4B6F-48AE-8B4A-363C6AD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24275"/>
            <a:ext cx="2762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895AE"/>
            </a:solidFill>
            <a:prstDash val="solid"/>
          </a:ln>
        </p:spPr>
      </p:sp>
      <p:sp>
        <p:nvSpPr>
          <p:cNvPr id="62" name="repair-test-title">
            <a:extLst xmlns:a="http://schemas.openxmlformats.org/drawingml/2006/main">
              <a:ext uri="{FF2B5EF4-FFF2-40B4-BE49-F238E27FC236}">
                <a16:creationId xmlns:a16="http://schemas.microsoft.com/office/drawing/2014/main" id="{7146912A-6F47-4223-ACA1-A5AF3F9A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8100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895AE"/>
                </a:solidFill>
                <a:latin typeface="微软雅黑"/>
                <a:ea typeface="微软雅黑"/>
                <a:cs typeface="微软雅黑"/>
              </a:rPr>
              <a:t>唯一过滤＋回归</a:t>
            </a:r>
          </a:p>
        </p:txBody>
      </p:sp>
      <p:sp>
        <p:nvSpPr>
          <p:cNvPr id="63" name="repair-test-body">
            <a:extLst xmlns:a="http://schemas.openxmlformats.org/drawingml/2006/main">
              <a:ext uri="{FF2B5EF4-FFF2-40B4-BE49-F238E27FC236}">
                <a16:creationId xmlns:a16="http://schemas.microsoft.com/office/drawing/2014/main" id="{43B2E7E5-C226-4FC3-8C68-C4FEB367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1719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本例：状态＝已完成</a:t>
            </a:r>
          </a:p>
        </p:txBody>
      </p:sp>
      <p:sp>
        <p:nvSpPr>
          <p:cNvPr id="64" name="replacement">
            <a:extLst xmlns:a="http://schemas.openxmlformats.org/drawingml/2006/main">
              <a:ext uri="{FF2B5EF4-FFF2-40B4-BE49-F238E27FC236}">
                <a16:creationId xmlns:a16="http://schemas.microsoft.com/office/drawing/2014/main" id="{CF8DF5BA-796B-4E8A-916E-7025C0E9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24275"/>
            <a:ext cx="20288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5AE"/>
          </a:solidFill>
          <a:ln xmlns:a="http://schemas.openxmlformats.org/drawingml/2006/main" w="15240">
            <a:solidFill>
              <a:srgbClr val="2895AE"/>
            </a:solidFill>
            <a:prstDash val="solid"/>
          </a:ln>
        </p:spPr>
      </p:sp>
      <p:sp>
        <p:nvSpPr>
          <p:cNvPr id="65" name="replacement-title">
            <a:extLst xmlns:a="http://schemas.openxmlformats.org/drawingml/2006/main">
              <a:ext uri="{FF2B5EF4-FFF2-40B4-BE49-F238E27FC236}">
                <a16:creationId xmlns:a16="http://schemas.microsoft.com/office/drawing/2014/main" id="{7E282058-30DA-4EAC-AB2A-1EB5EB1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1000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发布 r2</a:t>
            </a:r>
          </a:p>
        </p:txBody>
      </p:sp>
      <p:sp>
        <p:nvSpPr>
          <p:cNvPr id="66" name="replacement-body">
            <a:extLst xmlns:a="http://schemas.openxmlformats.org/drawingml/2006/main">
              <a:ext uri="{FF2B5EF4-FFF2-40B4-BE49-F238E27FC236}">
                <a16:creationId xmlns:a16="http://schemas.microsoft.com/office/drawing/2014/main" id="{CFE146AA-A72C-481A-9368-1E2A938A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71950"/>
            <a:ext cx="1800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返回 600 元</a:t>
            </a:r>
          </a:p>
        </p:txBody>
      </p:sp>
      <p:sp>
        <p:nvSpPr>
          <p:cNvPr id="67" name="invalid">
            <a:extLst xmlns:a="http://schemas.openxmlformats.org/drawingml/2006/main">
              <a:ext uri="{FF2B5EF4-FFF2-40B4-BE49-F238E27FC236}">
                <a16:creationId xmlns:a16="http://schemas.microsoft.com/office/drawing/2014/main" id="{0EE10FF9-B0CB-41BF-8217-9184EBFC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724275"/>
            <a:ext cx="21050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3"/>
          </a:solidFill>
          <a:ln xmlns:a="http://schemas.openxmlformats.org/drawingml/2006/main" w="15240">
            <a:solidFill>
              <a:srgbClr val="F14B2D"/>
            </a:solidFill>
            <a:prstDash val="dash"/>
          </a:ln>
        </p:spPr>
      </p:sp>
      <p:sp>
        <p:nvSpPr>
          <p:cNvPr id="68" name="invalid-title">
            <a:extLst xmlns:a="http://schemas.openxmlformats.org/drawingml/2006/main">
              <a:ext uri="{FF2B5EF4-FFF2-40B4-BE49-F238E27FC236}">
                <a16:creationId xmlns:a16="http://schemas.microsoft.com/office/drawing/2014/main" id="{84B12920-72FD-4AE3-907E-220A1137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810000"/>
            <a:ext cx="1876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14B2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F14B2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14B2D"/>
                </a:solidFill>
                <a:latin typeface="微软雅黑"/>
                <a:ea typeface="微软雅黑"/>
                <a:cs typeface="微软雅黑"/>
              </a:rPr>
              <a:t>保持失效</a:t>
            </a:r>
          </a:p>
        </p:txBody>
      </p:sp>
      <p:sp>
        <p:nvSpPr>
          <p:cNvPr id="69" name="invalid-body">
            <a:extLst xmlns:a="http://schemas.openxmlformats.org/drawingml/2006/main">
              <a:ext uri="{FF2B5EF4-FFF2-40B4-BE49-F238E27FC236}">
                <a16:creationId xmlns:a16="http://schemas.microsoft.com/office/drawing/2014/main" id="{7CE25D03-96D8-4DEC-828D-82F23558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71950"/>
            <a:ext cx="1876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57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通知使用者重新学习</a:t>
            </a:r>
          </a:p>
        </p:txBody>
      </p:sp>
      <p:sp>
        <p:nvSpPr>
          <p:cNvPr id="70" name="optimization">
            <a:extLst xmlns:a="http://schemas.openxmlformats.org/drawingml/2006/main">
              <a:ext uri="{FF2B5EF4-FFF2-40B4-BE49-F238E27FC236}">
                <a16:creationId xmlns:a16="http://schemas.microsoft.com/office/drawing/2014/main" id="{835ECEE5-712F-4ED1-897B-AD7D386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86175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3F8"/>
          </a:solidFill>
          <a:ln xmlns:a="http://schemas.openxmlformats.org/drawingml/2006/main" w="15240">
            <a:solidFill>
              <a:srgbClr val="2895AE"/>
            </a:solidFill>
            <a:prstDash val="solid"/>
          </a:ln>
        </p:spPr>
      </p:sp>
      <p:sp>
        <p:nvSpPr>
          <p:cNvPr id="71" name="optimization-title">
            <a:extLst xmlns:a="http://schemas.openxmlformats.org/drawingml/2006/main">
              <a:ext uri="{FF2B5EF4-FFF2-40B4-BE49-F238E27FC236}">
                <a16:creationId xmlns:a16="http://schemas.microsoft.com/office/drawing/2014/main" id="{18355D47-62BF-4A0F-88D8-A7D86F31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719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895AE"/>
                </a:solidFill>
                <a:latin typeface="微软雅黑"/>
                <a:ea typeface="微软雅黑"/>
                <a:cs typeface="微软雅黑"/>
              </a:rPr>
              <a:t>优化新版本</a:t>
            </a:r>
          </a:p>
        </p:txBody>
      </p:sp>
      <p:sp>
        <p:nvSpPr>
          <p:cNvPr id="72" name="optimization-body">
            <a:extLst xmlns:a="http://schemas.openxmlformats.org/drawingml/2006/main">
              <a:ext uri="{FF2B5EF4-FFF2-40B4-BE49-F238E27FC236}">
                <a16:creationId xmlns:a16="http://schemas.microsoft.com/office/drawing/2014/main" id="{47D9CCFB-1F24-46A7-940F-FC5CBC2F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33850"/>
            <a:ext cx="1771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等价且更快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新增前提失效则回退</a:t>
            </a:r>
          </a:p>
        </p:txBody>
      </p:sp>
      <p:cxnSp>
        <p:nvCxn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75091DC-4FB4-4D6B-BDDA-44AA38E5CB2E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2714625" y="246697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B558D"/>
            </a:solidFill>
            <a:prstDash val="solid"/>
            <a:tailEnd type="triangle" w="med" len="med"/>
          </a:ln>
        </p:spPr>
      </p:cxnSp>
      <p:sp>
        <p:nvSpPr>
          <p:cNvPr id="74" name="write-edge-label">
            <a:extLst xmlns:a="http://schemas.openxmlformats.org/drawingml/2006/main">
              <a:ext uri="{FF2B5EF4-FFF2-40B4-BE49-F238E27FC236}">
                <a16:creationId xmlns:a16="http://schemas.microsoft.com/office/drawing/2014/main" id="{260C907F-7E93-4394-B5C8-A0AB69C0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14500"/>
            <a:ext cx="91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数据写入</a:t>
            </a:r>
          </a:p>
        </p:txBody>
      </p:sp>
      <p:cxnSp>
        <p:nvCxn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8FDE58-DDCD-4F9C-9F8F-AA5FB58F20DF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5438775" y="246697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B558D"/>
            </a:solidFill>
            <a:prstDash val="solid"/>
            <a:tailEnd type="triangle" w="med" len="med"/>
          </a:ln>
        </p:spPr>
      </p:cxnSp>
      <p:sp>
        <p:nvSpPr>
          <p:cNvPr id="76" name="use-edge-label">
            <a:extLst xmlns:a="http://schemas.openxmlformats.org/drawingml/2006/main">
              <a:ext uri="{FF2B5EF4-FFF2-40B4-BE49-F238E27FC236}">
                <a16:creationId xmlns:a16="http://schemas.microsoft.com/office/drawing/2014/main" id="{CB18FB2D-C02A-4A75-B0AA-B32F4280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14500"/>
            <a:ext cx="904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下次使用</a:t>
            </a:r>
          </a:p>
        </p:txBody>
      </p:sp>
      <p:cxnSp>
        <p:nvCxn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AB7E252-C36F-48C2-B481-729C2C617BEF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7886700" y="246697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B558D"/>
            </a:solidFill>
            <a:prstDash val="solid"/>
            <a:tailEnd type="triangle" w="med" len="med"/>
          </a:ln>
        </p:spPr>
      </p:cxnSp>
      <p:sp>
        <p:nvSpPr>
          <p:cNvPr id="78" name="pass-edge-label">
            <a:extLst xmlns:a="http://schemas.openxmlformats.org/drawingml/2006/main">
              <a:ext uri="{FF2B5EF4-FFF2-40B4-BE49-F238E27FC236}">
                <a16:creationId xmlns:a16="http://schemas.microsoft.com/office/drawing/2014/main" id="{4BFE30BB-7899-4D0F-85D7-5C354A89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05025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cxnSp>
        <p:nvCxn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9F6A2BA-6FAB-4BDD-8D49-586D77D145DA}"/>
              </a:ext>
            </a:extLst>
          </p:cNvPr>
          <p:cNvCxnSpPr>
            <a:stCxn xmlns:a="http://schemas.openxmlformats.org/drawingml/2006/main" id="56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7086600" y="3057525"/>
            <a:ext cx="3429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4765">
            <a:solidFill>
              <a:srgbClr val="3B558D"/>
            </a:solidFill>
            <a:prstDash val="solid"/>
            <a:tailEnd type="triangle" w="med" len="med"/>
          </a:ln>
        </p:spPr>
      </p:cxnSp>
      <p:sp>
        <p:nvSpPr>
          <p:cNvPr id="80" name="failure-edge-label">
            <a:extLst xmlns:a="http://schemas.openxmlformats.org/drawingml/2006/main">
              <a:ext uri="{FF2B5EF4-FFF2-40B4-BE49-F238E27FC236}">
                <a16:creationId xmlns:a16="http://schemas.microsoft.com/office/drawing/2014/main" id="{3229E175-DE65-4C67-9C94-AEE8A714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71825"/>
            <a:ext cx="2066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C9633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C9633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C9633D"/>
                </a:solidFill>
                <a:latin typeface="微软雅黑"/>
                <a:ea typeface="微软雅黑"/>
                <a:cs typeface="微软雅黑"/>
              </a:rPr>
              <a:t>失败，r1 失效</a:t>
            </a:r>
          </a:p>
        </p:txBody>
      </p:sp>
      <p:cxnSp>
        <p:nvCxn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639616-78C7-497B-B9B1-0E61A01E767C}"/>
              </a:ext>
            </a:extLst>
          </p:cNvPr>
          <p:cNvCxnSpPr>
            <a:stCxn xmlns:a="http://schemas.openxmlformats.org/drawingml/2006/main" id="61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8810625" y="419100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2895AE"/>
            </a:solidFill>
            <a:prstDash val="solid"/>
            <a:tailEnd type="triangle" w="med" len="med"/>
          </a:ln>
        </p:spPr>
      </p:cxnSp>
      <p:sp>
        <p:nvSpPr>
          <p:cNvPr id="82" name="repair-ok-label">
            <a:extLst xmlns:a="http://schemas.openxmlformats.org/drawingml/2006/main">
              <a:ext uri="{FF2B5EF4-FFF2-40B4-BE49-F238E27FC236}">
                <a16:creationId xmlns:a16="http://schemas.microsoft.com/office/drawing/2014/main" id="{D2583BD6-76F5-47C0-A40D-B7790E7E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1000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895A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9A95901-E217-4044-95EF-DCD84F524DBF}"/>
              </a:ext>
            </a:extLst>
          </p:cNvPr>
          <p:cNvCxnSpPr>
            <a:stCxn xmlns:a="http://schemas.openxmlformats.org/drawingml/2006/main" id="61" idx="1"/>
            <a:endCxn xmlns:a="http://schemas.openxmlformats.org/drawingml/2006/main" id="67" idx="3"/>
          </p:cNvCxnSpPr>
          <p:nvPr/>
        </p:nvCxnSpPr>
        <p:spPr>
          <a:xfrm xmlns:a="http://schemas.openxmlformats.org/drawingml/2006/main" flipH="1">
            <a:off x="5353050" y="419100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F14B2D"/>
            </a:solidFill>
            <a:prstDash val="solid"/>
            <a:tailEnd type="triangle" w="med" len="med"/>
          </a:ln>
        </p:spPr>
      </p:cxnSp>
      <p:sp>
        <p:nvSpPr>
          <p:cNvPr id="84" name="repair-no-label">
            <a:extLst xmlns:a="http://schemas.openxmlformats.org/drawingml/2006/main">
              <a:ext uri="{FF2B5EF4-FFF2-40B4-BE49-F238E27FC236}">
                <a16:creationId xmlns:a16="http://schemas.microsoft.com/office/drawing/2014/main" id="{8FB22228-DE45-4812-97E4-0CEB8477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81000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F14B2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F14B2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14B2D"/>
                </a:solidFill>
                <a:latin typeface="微软雅黑"/>
                <a:ea typeface="微软雅黑"/>
                <a:cs typeface="微软雅黑"/>
              </a:rPr>
              <a:t>拒绝</a:t>
            </a:r>
          </a:p>
        </p:txBody>
      </p:sp>
      <p:cxnSp>
        <p:nvCxn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020EC33-063D-4FB9-B255-F8611A924D57}"/>
              </a:ext>
            </a:extLst>
          </p:cNvPr>
          <p:cNvCxnSpPr>
            <a:stCxn xmlns:a="http://schemas.openxmlformats.org/drawingml/2006/main" id="50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1714500" y="2914650"/>
            <a:ext cx="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2895AE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86" name="opt-label">
            <a:extLst xmlns:a="http://schemas.openxmlformats.org/drawingml/2006/main">
              <a:ext uri="{FF2B5EF4-FFF2-40B4-BE49-F238E27FC236}">
                <a16:creationId xmlns:a16="http://schemas.microsoft.com/office/drawing/2014/main" id="{5E13764F-278A-41EB-8DE5-7C3644EF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4800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95AE"/>
                </a:solidFill>
                <a:latin typeface="微软雅黑"/>
                <a:ea typeface="微软雅黑"/>
                <a:cs typeface="微软雅黑"/>
              </a:rPr>
              <a:t>等价优化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95AE"/>
                </a:solidFill>
                <a:latin typeface="微软雅黑"/>
                <a:ea typeface="微软雅黑"/>
                <a:cs typeface="微软雅黑"/>
              </a:rPr>
              <a:t>前提失效回退</a:t>
            </a:r>
          </a:p>
        </p:txBody>
      </p:sp>
      <p:sp>
        <p:nvSpPr>
          <p:cNvPr id="87" name="repair-reject-detail">
            <a:extLst xmlns:a="http://schemas.openxmlformats.org/drawingml/2006/main">
              <a:ext uri="{FF2B5EF4-FFF2-40B4-BE49-F238E27FC236}">
                <a16:creationId xmlns:a16="http://schemas.microsoft.com/office/drawing/2014/main" id="{EF95862E-0911-4507-AD9B-6EE72E62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00600"/>
            <a:ext cx="557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57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0 个或多个候选，或回归不通过</a:t>
            </a:r>
          </a:p>
        </p:txBody>
      </p:sp>
      <p:sp>
        <p:nvSpPr>
          <p:cNvPr id="88" name="lifecycle-main">
            <a:extLst xmlns:a="http://schemas.openxmlformats.org/drawingml/2006/main">
              <a:ext uri="{FF2B5EF4-FFF2-40B4-BE49-F238E27FC236}">
                <a16:creationId xmlns:a16="http://schemas.microsoft.com/office/drawing/2014/main" id="{92D0166D-7B66-41A5-B23F-C5A395C8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38825"/>
            <a:ext cx="10658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一次修复发布为 r2，后续 Agent 直接复用</a:t>
            </a:r>
          </a:p>
        </p:txBody>
      </p:sp>
      <p:sp>
        <p:nvSpPr>
          <p:cNvPr id="89" name="system-title">
            <a:extLst xmlns:a="http://schemas.openxmlformats.org/drawingml/2006/main">
              <a:ext uri="{FF2B5EF4-FFF2-40B4-BE49-F238E27FC236}">
                <a16:creationId xmlns:a16="http://schemas.microsoft.com/office/drawing/2014/main" id="{BFFBEFEB-E441-45CA-B59A-ECECC1FF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87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生命周期：校验、修复、优化与失效</a:t>
            </a:r>
          </a:p>
        </p:txBody>
      </p:sp>
      <p:sp>
        <p:nvSpPr>
          <p:cNvPr id="90" name="system-page-number">
            <a:extLst xmlns:a="http://schemas.openxmlformats.org/drawingml/2006/main">
              <a:ext uri="{FF2B5EF4-FFF2-40B4-BE49-F238E27FC236}">
                <a16:creationId xmlns:a16="http://schemas.microsoft.com/office/drawing/2014/main" id="{B2D6447B-FF6E-4D99-9119-C2B7A957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92" name="system-source">
            <a:extLst xmlns:a="http://schemas.openxmlformats.org/drawingml/2006/main">
              <a:ext uri="{FF2B5EF4-FFF2-40B4-BE49-F238E27FC236}">
                <a16:creationId xmlns:a16="http://schemas.microsoft.com/office/drawing/2014/main" id="{3929D72B-8F68-43EC-B18D-8E5B38CC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修复先保证每键一行且不丢键，再在学习快照上回归。无法唯一确定时不发布。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C5D8BF00-FED9-4B51-BDB7-4A8E242628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5d78d8ada4c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生命周期：唯一正确的过滤条件才能成为修复</a:t>
            </a:r>
          </a:p>
        </p:txBody>
      </p:sp>
      <p:sp>
        <p:nvSpPr>
          <p:cNvPr id="4" name="日期占位符 44">
            <a:extLst xmlns:a="http://schemas.openxmlformats.org/drawingml/2006/main">
              <a:ext uri="{FF2B5EF4-FFF2-40B4-BE49-F238E27FC236}">
                <a16:creationId xmlns:a16="http://schemas.microsoft.com/office/drawing/2014/main" id="{09C09388-E95B-43FF-BC89-DC24122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l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307A1C6-582D-3A47-F65B-0CD6F885CF51}" type="datetime1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DB7BEEEC-A170-5376-2B6E-CB54687B0CB1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数据模型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生命周期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9" name="repair-candidates">
            <a:extLst xmlns:a="http://schemas.openxmlformats.org/drawingml/2006/main">
              <a:ext uri="{FF2B5EF4-FFF2-40B4-BE49-F238E27FC236}">
                <a16:creationId xmlns:a16="http://schemas.microsoft.com/office/drawing/2014/main" id="{43ED0800-EE5A-4808-A77A-695EC591231C}"/>
              </a:ext>
            </a:extLst>
          </p:cNvPr>
          <p:cNvGraphicFramePr/>
          <p:nvPr/>
        </p:nvGraphicFramePr>
        <p:xfrm>
          <a:off xmlns:a="http://schemas.openxmlformats.org/drawingml/2006/main" x="685800" y="1943100"/>
          <a:ext xmlns:a="http://schemas.openxmlformats.org/drawingml/2006/main" cx="10829925" cy="21812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62350"/>
                <a:gridCol w="3648075"/>
                <a:gridCol w="3619500"/>
              </a:tblGrid>
              <a:tr h="727075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候选过滤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保留的退货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</a:tr>
              <a:tr h="727075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状态＝申请中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R01、R02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丢失 R03，拒绝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  <a:tr h="727075"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状态＝已完成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R01、R02、R03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9525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每笔一行且不丢键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egression">
            <a:extLst xmlns:a="http://schemas.openxmlformats.org/drawingml/2006/main">
              <a:ext uri="{FF2B5EF4-FFF2-40B4-BE49-F238E27FC236}">
                <a16:creationId xmlns:a16="http://schemas.microsoft.com/office/drawing/2014/main" id="{8DE38A9F-839C-4F97-8417-D2C7DD8D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回到学习时的数据重放：修复 SQL 仍返回 600 元</a:t>
            </a:r>
          </a:p>
        </p:txBody>
      </p:sp>
      <p:sp>
        <p:nvSpPr>
          <p:cNvPr id="51" name="publish">
            <a:extLst xmlns:a="http://schemas.openxmlformats.org/drawingml/2006/main">
              <a:ext uri="{FF2B5EF4-FFF2-40B4-BE49-F238E27FC236}">
                <a16:creationId xmlns:a16="http://schemas.microsoft.com/office/drawing/2014/main" id="{5321F9B8-3150-48CE-9D29-153F47B3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发布 r2：加入“状态＝已完成”，当前查询返回 600 元</a:t>
            </a:r>
          </a:p>
        </p:txBody>
      </p:sp>
      <p:sp>
        <p:nvSpPr>
          <p:cNvPr id="52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8F71928A-91C7-499E-91EB-C24C3022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若没有唯一候选，或学习时回归不通过，定义保持失效。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65A592D3-7C07-4BBC-A0C4-7DC6ABC925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3fd634f6544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执行时：检查与查询必须看到同一份数据</a:t>
            </a:r>
          </a:p>
        </p:txBody>
      </p:sp>
      <p:sp>
        <p:nvSpPr>
          <p:cNvPr id="4" name="日期占位符 44">
            <a:extLst xmlns:a="http://schemas.openxmlformats.org/drawingml/2006/main">
              <a:ext uri="{FF2B5EF4-FFF2-40B4-BE49-F238E27FC236}">
                <a16:creationId xmlns:a16="http://schemas.microsoft.com/office/drawing/2014/main" id="{09C09388-E95B-43FF-BC89-DC24122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l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307A1C6-582D-3A47-F65B-0CD6F885CF51}" type="datetime1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30394428-F1DC-E5F6-DB0C-7DE31F3D8A23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数据模型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生命周期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9B07348B-7339-4A5E-9389-9F148686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先检查，再单独查询</a:t>
            </a:r>
          </a:p>
        </p:txBody>
      </p:sp>
      <p:sp>
        <p:nvSpPr>
          <p:cNvPr id="50" name="left-body">
            <a:extLst xmlns:a="http://schemas.openxmlformats.org/drawingml/2006/main">
              <a:ext uri="{FF2B5EF4-FFF2-40B4-BE49-F238E27FC236}">
                <a16:creationId xmlns:a16="http://schemas.microsoft.com/office/drawing/2014/main" id="{0125EB92-7FF2-4356-AD03-D63A9EDD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857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检查时：每笔退货一行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中间发生状态流水写入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查询时：旧 SQL 算出 900 元</a:t>
            </a:r>
          </a:p>
        </p:txBody>
      </p:sp>
      <p:sp>
        <p:nvSpPr>
          <p:cNvPr id="51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451966F1-0BC6-496B-AF7A-11BEC52F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同一快照检查与执行</a:t>
            </a:r>
          </a:p>
        </p:txBody>
      </p:sp>
      <p:sp>
        <p:nvSpPr>
          <p:cNvPr id="52" name="right-body">
            <a:extLst xmlns:a="http://schemas.openxmlformats.org/drawingml/2006/main">
              <a:ext uri="{FF2B5EF4-FFF2-40B4-BE49-F238E27FC236}">
                <a16:creationId xmlns:a16="http://schemas.microsoft.com/office/drawing/2014/main" id="{E456796C-7228-4B5B-BA28-132EBA4B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857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同一份数据上验证前提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检查通过，才执行业务 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前提失败，拒绝此次使用</a:t>
            </a:r>
          </a:p>
        </p:txBody>
      </p:sp>
      <p:sp>
        <p:nvSpPr>
          <p:cNvPr id="53" name="snapshot-main">
            <a:extLst xmlns:a="http://schemas.openxmlformats.org/drawingml/2006/main">
              <a:ext uri="{FF2B5EF4-FFF2-40B4-BE49-F238E27FC236}">
                <a16:creationId xmlns:a16="http://schemas.microsoft.com/office/drawing/2014/main" id="{4E6D8F00-E5C4-4219-B499-EE96FC93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检查结果要对这次查询读到的数据负责</a:t>
            </a:r>
          </a:p>
        </p:txBody>
      </p:sp>
      <p:sp>
        <p:nvSpPr>
          <p:cNvPr id="54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003000CF-C42F-445B-B509-557DE226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保证适用于声明所用指标版本的查询，并使用同快照校验模式。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A7E8BD68-DD89-4ADE-BCE9-DB9B94D65A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342fed48f45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优化：更快的退货查询也要维护新增前提</a:t>
            </a:r>
          </a:p>
        </p:txBody>
      </p:sp>
      <p:sp>
        <p:nvSpPr>
          <p:cNvPr id="4" name="日期占位符 44">
            <a:extLst xmlns:a="http://schemas.openxmlformats.org/drawingml/2006/main">
              <a:ext uri="{FF2B5EF4-FFF2-40B4-BE49-F238E27FC236}">
                <a16:creationId xmlns:a16="http://schemas.microsoft.com/office/drawing/2014/main" id="{09C09388-E95B-43FF-BC89-DC24122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l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307A1C6-582D-3A47-F65B-0CD6F885CF51}" type="datetime1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DB16885-0D3F-A391-B669-3211DB3B26E8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数据模型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生命周期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69878099-D82F-443C-8C6E-25629B10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原计算方式</a:t>
            </a:r>
          </a:p>
        </p:txBody>
      </p:sp>
      <p:sp>
        <p:nvSpPr>
          <p:cNvPr id="50" name="left-body">
            <a:extLst xmlns:a="http://schemas.openxmlformats.org/drawingml/2006/main">
              <a:ext uri="{FF2B5EF4-FFF2-40B4-BE49-F238E27FC236}">
                <a16:creationId xmlns:a16="http://schemas.microsoft.com/office/drawing/2014/main" id="{883E7D97-520E-43B5-ABD7-13ABAE1F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857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连接日期表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筛选 9 月的退货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每笔已完成退货计入一次</a:t>
            </a:r>
          </a:p>
        </p:txBody>
      </p:sp>
      <p:sp>
        <p:nvSpPr>
          <p:cNvPr id="51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F98E2B4F-3941-405C-8030-E9E92D00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优化后的计算方式</a:t>
            </a:r>
          </a:p>
        </p:txBody>
      </p:sp>
      <p:sp>
        <p:nvSpPr>
          <p:cNvPr id="52" name="right-body">
            <a:extLst xmlns:a="http://schemas.openxmlformats.org/drawingml/2006/main">
              <a:ext uri="{FF2B5EF4-FFF2-40B4-BE49-F238E27FC236}">
                <a16:creationId xmlns:a16="http://schemas.microsoft.com/office/drawing/2014/main" id="{A5D72716-C8C8-4F1D-BD10-923E13B7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857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按 9 月日期键区间筛选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新增前提：月份日期键连续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且跨月顺序相接</a:t>
            </a:r>
          </a:p>
        </p:txBody>
      </p:sp>
      <p:sp>
        <p:nvSpPr>
          <p:cNvPr id="53" name="fallback">
            <a:extLst xmlns:a="http://schemas.openxmlformats.org/drawingml/2006/main">
              <a:ext uri="{FF2B5EF4-FFF2-40B4-BE49-F238E27FC236}">
                <a16:creationId xmlns:a16="http://schemas.microsoft.com/office/drawing/2014/main" id="{F843F3FB-31D2-4BC4-A407-0C45D3B5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日期键重新编号、破坏连续性时，退回原来的日期连接</a:t>
            </a:r>
          </a:p>
        </p:txBody>
      </p:sp>
      <p:sp>
        <p:nvSpPr>
          <p:cNvPr id="54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562AC792-84D7-4E04-AC65-ACDF068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优化仍保留“已完成”过滤。采用前需验证等价性，并测量性能收益。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ystem-title">
            <a:extLst xmlns:a="http://schemas.openxmlformats.org/drawingml/2006/main">
              <a:ext uri="{FF2B5EF4-FFF2-40B4-BE49-F238E27FC236}">
                <a16:creationId xmlns:a16="http://schemas.microsoft.com/office/drawing/2014/main" id="{72C4229C-5E61-46B7-AC75-25D60A1D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87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实验：共享定义减少重复探索</a:t>
            </a:r>
          </a:p>
        </p:txBody>
      </p:sp>
      <p:sp>
        <p:nvSpPr>
          <p:cNvPr id="2" name="system-page-number">
            <a:extLst xmlns:a="http://schemas.openxmlformats.org/drawingml/2006/main">
              <a:ext uri="{FF2B5EF4-FFF2-40B4-BE49-F238E27FC236}">
                <a16:creationId xmlns:a16="http://schemas.microsoft.com/office/drawing/2014/main" id="{C30BD88C-77DF-47D3-B8CB-8377B568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3" name="sharing-setting">
            <a:extLst xmlns:a="http://schemas.openxmlformats.org/drawingml/2006/main">
              <a:ext uri="{FF2B5EF4-FFF2-40B4-BE49-F238E27FC236}">
                <a16:creationId xmlns:a16="http://schemas.microsoft.com/office/drawing/2014/main" id="{3A8D0D3A-F236-4002-9115-98C17FBA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数据不变，回答未参与学习的新问题</a:t>
            </a:r>
          </a:p>
        </p:txBody>
      </p:sp>
      <p:graphicFrame>
        <p:nvGraphicFramePr>
          <p:cNvPr id="4" name="sharing-results">
            <a:extLst xmlns:a="http://schemas.openxmlformats.org/drawingml/2006/main">
              <a:ext uri="{FF2B5EF4-FFF2-40B4-BE49-F238E27FC236}">
                <a16:creationId xmlns:a16="http://schemas.microsoft.com/office/drawing/2014/main" id="{D12501F8-856B-4678-992E-CAC6484AE08F}"/>
              </a:ext>
            </a:extLst>
          </p:cNvPr>
          <p:cNvGraphicFramePr/>
          <p:nvPr/>
        </p:nvGraphicFramePr>
        <p:xfrm>
          <a:off xmlns:a="http://schemas.openxmlformats.org/drawingml/2006/main" x="552450" y="1933575"/>
          <a:ext xmlns:a="http://schemas.openxmlformats.org/drawingml/2006/main" cx="744855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52850"/>
                <a:gridCol w="1847850"/>
                <a:gridCol w="1847850"/>
              </a:tblGrid>
              <a:tr h="952500"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端到端任务</a:t>
                      </a:r>
                    </a:p>
                  </a:txBody>
                  <a:tcPr marL="91440" marR="91440" marT="45720" marB="45720" anchor="ctr">
                    <a:solidFill>
                      <a:srgbClr val="F2F4F9"/>
                    </a:solidFill>
                  </a:tcPr>
                </a:tc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无共享</a:t>
                      </a:r>
                    </a:p>
                  </a:txBody>
                  <a:tcPr marL="91440" marR="91440" marT="45720" marB="45720" anchor="ctr">
                    <a:solidFill>
                      <a:srgbClr val="F2F4F9"/>
                    </a:solidFill>
                  </a:tcPr>
                </a:tc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MAVRA</a:t>
                      </a:r>
                    </a:p>
                  </a:txBody>
                  <a:tcPr marL="91440" marR="91440" marT="45720" marB="45720" anchor="ctr">
                    <a:solidFill>
                      <a:srgbClr val="F2F4F9"/>
                    </a:solidFill>
                  </a:tcPr>
                </a:tc>
              </a:tr>
              <a:tr h="952500"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回答准确率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单题平均耗时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75.6 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 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ing-stat-background">
            <a:extLst xmlns:a="http://schemas.openxmlformats.org/drawingml/2006/main">
              <a:ext uri="{FF2B5EF4-FFF2-40B4-BE49-F238E27FC236}">
                <a16:creationId xmlns:a16="http://schemas.microsoft.com/office/drawing/2014/main" id="{CDDFE33D-5AFA-44A2-AEE9-1878AAB4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33147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ring-stat-label">
            <a:extLst xmlns:a="http://schemas.openxmlformats.org/drawingml/2006/main">
              <a:ext uri="{FF2B5EF4-FFF2-40B4-BE49-F238E27FC236}">
                <a16:creationId xmlns:a16="http://schemas.microsoft.com/office/drawing/2014/main" id="{0CE21E1A-5C0C-4827-A2E7-FCA6FF32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62175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任务提速</a:t>
            </a:r>
          </a:p>
        </p:txBody>
      </p:sp>
      <p:sp>
        <p:nvSpPr>
          <p:cNvPr id="7" name="sharing-stat">
            <a:extLst xmlns:a="http://schemas.openxmlformats.org/drawingml/2006/main">
              <a:ext uri="{FF2B5EF4-FFF2-40B4-BE49-F238E27FC236}">
                <a16:creationId xmlns:a16="http://schemas.microsoft.com/office/drawing/2014/main" id="{438D4C50-EB9B-423E-917C-C1648232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43200"/>
            <a:ext cx="295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555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5550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8.9 倍</a:t>
            </a:r>
          </a:p>
        </p:txBody>
      </p:sp>
      <p:sp>
        <p:nvSpPr>
          <p:cNvPr id="8" name="sharing-stat-detail">
            <a:extLst xmlns:a="http://schemas.openxmlformats.org/drawingml/2006/main">
              <a:ext uri="{FF2B5EF4-FFF2-40B4-BE49-F238E27FC236}">
                <a16:creationId xmlns:a16="http://schemas.microsoft.com/office/drawing/2014/main" id="{89BC925D-1181-4C7F-9F05-BEB339FD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48125"/>
            <a:ext cx="300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复用已学到的业务口径</a:t>
            </a:r>
          </a:p>
        </p:txBody>
      </p:sp>
      <p:sp>
        <p:nvSpPr>
          <p:cNvPr id="9" name="takeaway-background">
            <a:extLst xmlns:a="http://schemas.openxmlformats.org/drawingml/2006/main">
              <a:ext uri="{FF2B5EF4-FFF2-40B4-BE49-F238E27FC236}">
                <a16:creationId xmlns:a16="http://schemas.microsoft.com/office/drawing/2014/main" id="{D12D439E-DC8D-486B-8D8D-52DE374A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10966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13691AC8-493F-416B-8EBF-4CCB9D5C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48300"/>
            <a:ext cx="10658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相同数据上，检索历史示例也达到 100% 准确率</a:t>
            </a:r>
          </a:p>
        </p:txBody>
      </p:sp>
      <p:sp>
        <p:nvSpPr>
          <p:cNvPr id="11" name="system-source">
            <a:extLst xmlns:a="http://schemas.openxmlformats.org/drawingml/2006/main">
              <a:ext uri="{FF2B5EF4-FFF2-40B4-BE49-F238E27FC236}">
                <a16:creationId xmlns:a16="http://schemas.microsoft.com/office/drawing/2014/main" id="{6E0BA77A-B900-4500-BAA6-A28756BF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论文 §7.6–7.7。DeepSeek V4.1 Flash，每种方法独立运行 3 次。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ystem-title">
            <a:extLst xmlns:a="http://schemas.openxmlformats.org/drawingml/2006/main">
              <a:ext uri="{FF2B5EF4-FFF2-40B4-BE49-F238E27FC236}">
                <a16:creationId xmlns:a16="http://schemas.microsoft.com/office/drawing/2014/main" id="{B9B891A4-9614-4D3E-B8FB-F20450CC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87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实验：破坏性写入后的回答准确率</a:t>
            </a:r>
          </a:p>
        </p:txBody>
      </p:sp>
      <p:sp>
        <p:nvSpPr>
          <p:cNvPr id="2" name="system-page-number">
            <a:extLst xmlns:a="http://schemas.openxmlformats.org/drawingml/2006/main">
              <a:ext uri="{FF2B5EF4-FFF2-40B4-BE49-F238E27FC236}">
                <a16:creationId xmlns:a16="http://schemas.microsoft.com/office/drawing/2014/main" id="{07C9DBF7-BB5A-4826-A404-B873D690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3" name="maintenance-setting">
            <a:extLst xmlns:a="http://schemas.openxmlformats.org/drawingml/2006/main">
              <a:ext uri="{FF2B5EF4-FFF2-40B4-BE49-F238E27FC236}">
                <a16:creationId xmlns:a16="http://schemas.microsoft.com/office/drawing/2014/main" id="{0D08ABEC-5403-4BBF-A1FE-9AF6E144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895AE"/>
                </a:solidFill>
                <a:latin typeface="微软雅黑"/>
                <a:ea typeface="微软雅黑"/>
                <a:cs typeface="微软雅黑"/>
              </a:rPr>
              <a:t>数据发生变化后，MAVRA 的准确率最高</a:t>
            </a:r>
          </a:p>
        </p:txBody>
      </p:sp>
      <p:graphicFrame>
        <p:nvGraphicFramePr>
          <p:cNvPr id="4" name="breaking-results">
            <a:extLst xmlns:a="http://schemas.openxmlformats.org/drawingml/2006/main">
              <a:ext uri="{FF2B5EF4-FFF2-40B4-BE49-F238E27FC236}">
                <a16:creationId xmlns:a16="http://schemas.microsoft.com/office/drawing/2014/main" id="{70808E58-28F4-4410-A205-8D5E40BDC8A7}"/>
              </a:ext>
            </a:extLst>
          </p:cNvPr>
          <p:cNvGraphicFramePr/>
          <p:nvPr/>
        </p:nvGraphicFramePr>
        <p:xfrm>
          <a:off xmlns:a="http://schemas.openxmlformats.org/drawingml/2006/main" x="552450" y="1847850"/>
          <a:ext xmlns:a="http://schemas.openxmlformats.org/drawingml/2006/main" cx="744855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295900"/>
                <a:gridCol w="2152650"/>
              </a:tblGrid>
              <a:tr h="666750"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F2F4F9"/>
                    </a:solidFill>
                  </a:tcPr>
                </a:tc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回答准确率</a:t>
                      </a:r>
                    </a:p>
                  </a:txBody>
                  <a:tcPr marL="91440" marR="91440" marT="45720" marB="45720" anchor="ctr">
                    <a:solidFill>
                      <a:srgbClr val="F2F4F9"/>
                    </a:solidFill>
                  </a:tcPr>
                </a:tc>
              </a:tr>
              <a:tr h="666750"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无共享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检索历史示例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检索示例＋Agent 自行校验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3B558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MAVRA</a:t>
                      </a:r>
                    </a:p>
                  </a:txBody>
                  <a:tcPr marL="91440" marR="91440" marT="45720" marB="45720" anchor="ctr">
                    <a:solidFill>
                      <a:srgbClr val="E3F3EF"/>
                    </a:solidFill>
                  </a:tcPr>
                </a:tc>
                <a:tc>
                  <a:txBody>
                    <a:bodyPr lIns="171450" tIns="95250" rIns="114300" bIns="95250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008C7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73%</a:t>
                      </a:r>
                    </a:p>
                  </a:txBody>
                  <a:tcPr marL="91440" marR="91440" marT="45720" marB="45720" anchor="ctr">
                    <a:solidFill>
                      <a:srgbClr val="E3F3EF"/>
                    </a:solidFill>
                  </a:tcPr>
                </a:tc>
              </a:tr>
            </a:tbl>
          </a:graphicData>
        </a:graphic>
      </p:graphicFrame>
      <p:sp>
        <p:nvSpPr>
          <p:cNvPr id="5" name="maintenance-stat-background">
            <a:extLst xmlns:a="http://schemas.openxmlformats.org/drawingml/2006/main">
              <a:ext uri="{FF2B5EF4-FFF2-40B4-BE49-F238E27FC236}">
                <a16:creationId xmlns:a16="http://schemas.microsoft.com/office/drawing/2014/main" id="{2BB4B137-18F1-42F9-8D56-21DFE6B7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47850"/>
            <a:ext cx="3314700" cy="33337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2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intenance-stat-label">
            <a:extLst xmlns:a="http://schemas.openxmlformats.org/drawingml/2006/main">
              <a:ext uri="{FF2B5EF4-FFF2-40B4-BE49-F238E27FC236}">
                <a16:creationId xmlns:a16="http://schemas.microsoft.com/office/drawing/2014/main" id="{B59F1F60-32D5-4F45-B4A6-5D0E0D46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76450"/>
            <a:ext cx="293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相对检索历史示例</a:t>
            </a:r>
          </a:p>
        </p:txBody>
      </p:sp>
      <p:sp>
        <p:nvSpPr>
          <p:cNvPr id="7" name="maintenance-stat">
            <a:extLst xmlns:a="http://schemas.openxmlformats.org/drawingml/2006/main">
              <a:ext uri="{FF2B5EF4-FFF2-40B4-BE49-F238E27FC236}">
                <a16:creationId xmlns:a16="http://schemas.microsoft.com/office/drawing/2014/main" id="{21E909EA-611D-4409-9334-85C37347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95575"/>
            <a:ext cx="3067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300" b="1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6300" b="1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pPr>
            <a:r>
              <a:rPr sz="6300" b="1">
                <a:solidFill>
                  <a:srgbClr val="2895AE"/>
                </a:solidFill>
                <a:latin typeface="微软雅黑"/>
                <a:ea typeface="微软雅黑"/>
                <a:cs typeface="微软雅黑"/>
              </a:rPr>
              <a:t>＋16</a:t>
            </a:r>
          </a:p>
        </p:txBody>
      </p:sp>
      <p:sp>
        <p:nvSpPr>
          <p:cNvPr id="8" name="maintenance-stat-unit">
            <a:extLst xmlns:a="http://schemas.openxmlformats.org/drawingml/2006/main">
              <a:ext uri="{FF2B5EF4-FFF2-40B4-BE49-F238E27FC236}">
                <a16:creationId xmlns:a16="http://schemas.microsoft.com/office/drawing/2014/main" id="{5C43313A-8080-4230-9A4A-DDC32CFF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76675"/>
            <a:ext cx="2809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895A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895AE"/>
                </a:solidFill>
                <a:latin typeface="微软雅黑"/>
                <a:ea typeface="微软雅黑"/>
                <a:cs typeface="微软雅黑"/>
              </a:rPr>
              <a:t>个百分点</a:t>
            </a:r>
          </a:p>
        </p:txBody>
      </p:sp>
      <p:sp>
        <p:nvSpPr>
          <p:cNvPr id="9" name="takeaway-background">
            <a:extLst xmlns:a="http://schemas.openxmlformats.org/drawingml/2006/main">
              <a:ext uri="{FF2B5EF4-FFF2-40B4-BE49-F238E27FC236}">
                <a16:creationId xmlns:a16="http://schemas.microsoft.com/office/drawing/2014/main" id="{EB1421A7-B700-4D30-9BA6-01653117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34025"/>
            <a:ext cx="11096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C5791E83-5FC5-47F5-BD4B-BCB55A58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81650"/>
            <a:ext cx="10658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B558D"/>
                </a:solidFill>
                <a:latin typeface="微软雅黑"/>
                <a:ea typeface="微软雅黑"/>
                <a:cs typeface="微软雅黑"/>
              </a:rPr>
              <a:t>73% 是最终回答准确率，包含修复失败后的自行探索</a:t>
            </a:r>
          </a:p>
        </p:txBody>
      </p:sp>
      <p:sp>
        <p:nvSpPr>
          <p:cNvPr id="11" name="system-source">
            <a:extLst xmlns:a="http://schemas.openxmlformats.org/drawingml/2006/main">
              <a:ext uri="{FF2B5EF4-FFF2-40B4-BE49-F238E27FC236}">
                <a16:creationId xmlns:a16="http://schemas.microsoft.com/office/drawing/2014/main" id="{6A603A3D-5E44-426F-A290-D3430B82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17E"/>
                </a:solidFill>
                <a:latin typeface="微软雅黑"/>
                <a:ea typeface="微软雅黑"/>
                <a:cs typeface="微软雅黑"/>
              </a:rPr>
              <a:t>论文 §7.6。五类前提可覆盖的破坏性写入，每种方法独立运行 3 次。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9CDFAB91-8270-45E1-B495-CD315DA3AC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3332df0394e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边界：哪些变化仍需要新的业务证据</a:t>
            </a:r>
          </a:p>
        </p:txBody>
      </p:sp>
      <p:sp>
        <p:nvSpPr>
          <p:cNvPr id="4" name="日期占位符 44">
            <a:extLst xmlns:a="http://schemas.openxmlformats.org/drawingml/2006/main">
              <a:ext uri="{FF2B5EF4-FFF2-40B4-BE49-F238E27FC236}">
                <a16:creationId xmlns:a16="http://schemas.microsoft.com/office/drawing/2014/main" id="{09C09388-E95B-43FF-BC89-DC24122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l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307A1C6-582D-3A47-F65B-0CD6F885CF51}" type="datetime1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EA83FA91-883A-0168-8075-96CEB9DCA3C2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36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数据模型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生命周期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19D84C0F-C2A3-4E68-9E36-0DB6F739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金额单位变了</a:t>
            </a:r>
          </a:p>
        </p:txBody>
      </p:sp>
      <p:sp>
        <p:nvSpPr>
          <p:cNvPr id="50" name="left-body">
            <a:extLst xmlns:a="http://schemas.openxmlformats.org/drawingml/2006/main">
              <a:ext uri="{FF2B5EF4-FFF2-40B4-BE49-F238E27FC236}">
                <a16:creationId xmlns:a16="http://schemas.microsoft.com/office/drawing/2014/main" id="{558B54AC-12FE-4B71-980F-AAE8C2D4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857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600 元被写成 60000 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行数和退货键都不变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结构条件无法识别单位语义</a:t>
            </a:r>
          </a:p>
        </p:txBody>
      </p:sp>
      <p:sp>
        <p:nvSpPr>
          <p:cNvPr id="51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AC8678A0-B7A5-477D-875B-75D40036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两份副本都能通过检查</a:t>
            </a:r>
          </a:p>
        </p:txBody>
      </p:sp>
      <p:sp>
        <p:nvSpPr>
          <p:cNvPr id="52" name="right-body">
            <a:extLst xmlns:a="http://schemas.openxmlformats.org/drawingml/2006/main">
              <a:ext uri="{FF2B5EF4-FFF2-40B4-BE49-F238E27FC236}">
                <a16:creationId xmlns:a16="http://schemas.microsoft.com/office/drawing/2014/main" id="{0D48D22E-1F42-4408-B725-BB20E5F1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857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主数据、备份各有完整退货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两个过滤条件都能恢复唯一性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系统拒绝猜测哪份可信</a:t>
            </a:r>
          </a:p>
        </p:txBody>
      </p:sp>
      <p:sp>
        <p:nvSpPr>
          <p:cNvPr id="53" name="boundary-main">
            <a:extLst xmlns:a="http://schemas.openxmlformats.org/drawingml/2006/main">
              <a:ext uri="{FF2B5EF4-FFF2-40B4-BE49-F238E27FC236}">
                <a16:creationId xmlns:a16="http://schemas.microsoft.com/office/drawing/2014/main" id="{D1B31699-C728-4C1A-BA5C-37053693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25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已检测到问题却无法确定修复时，定义保持失效并等待新证据</a:t>
            </a:r>
          </a:p>
        </p:txBody>
      </p:sp>
      <p:sp>
        <p:nvSpPr>
          <p:cNvPr id="54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C4D74339-6D41-4A72-98DE-FB01C8F2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保证依赖业务含义正确、查询声明版本以及同快照执行。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439114CA-3187-4C4E-948D-991C09412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1c89b825a84f7e"/>
          <a:srcRect xmlns:a="http://schemas.openxmlformats.org/drawingml/2006/main" l="8161" t="20535" r="8157" b="34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1485265"/>
            <a:ext cx="12192000" cy="3602355"/>
          </a:xfrm>
          <a:prstGeom xmlns:a="http://schemas.openxmlformats.org/drawingml/2006/main" prst="rect">
            <a:avLst/>
          </a:prstGeom>
        </p:spPr>
      </p:pic>
      <p:sp>
        <p:nvSpPr>
          <p:cNvPr id="12" name="淘宝-想搞设计PPT(倒卖必究)-24">
            <a:extLst xmlns:a="http://schemas.openxmlformats.org/drawingml/2006/main">
              <a:ext uri="{FF2B5EF4-FFF2-40B4-BE49-F238E27FC236}">
                <a16:creationId xmlns:a16="http://schemas.microsoft.com/office/drawing/2014/main" id="{D17B7066-2A4F-406B-B6C6-9CEECF9A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1485265"/>
            <a:ext cx="12192000" cy="3602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>
              <a:alpha val="7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A98F4D-6DBD-4D93-8E43-06A1915D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淘宝-想搞设计PPT(倒卖必究)-4">
            <a:extLst xmlns:a="http://schemas.openxmlformats.org/drawingml/2006/main">
              <a:ext uri="{FF2B5EF4-FFF2-40B4-BE49-F238E27FC236}">
                <a16:creationId xmlns:a16="http://schemas.microsoft.com/office/drawing/2014/main" id="{2E5F918B-39AD-4052-B5F6-9DB18AB9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0463" y="752088"/>
            <a:ext cx="1193304" cy="1193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5" name="Picture 44">
            <a:extLst xmlns:a="http://schemas.openxmlformats.org/drawingml/2006/main">
              <a:ext uri="{FF2B5EF4-FFF2-40B4-BE49-F238E27FC236}">
                <a16:creationId xmlns:a16="http://schemas.microsoft.com/office/drawing/2014/main" id="{055FCD99-7B78-4AD2-BD04-C7CE0B4D10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0dd0c97924f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549496" y="771121"/>
            <a:ext cx="1155238" cy="1155238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835FAD2-ACC7-46CE-AB52-CFDF394D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10287000" cy="4892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同一个退货例子：学会计算，再共享复用，变化后统一维护</a:t>
            </a:r>
            <a:endParaRPr sz="20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淘宝-想搞设计PPT(倒卖必究)-7">
            <a:extLst xmlns:a="http://schemas.openxmlformats.org/drawingml/2006/main">
              <a:ext uri="{FF2B5EF4-FFF2-40B4-BE49-F238E27FC236}">
                <a16:creationId xmlns:a16="http://schemas.microsoft.com/office/drawing/2014/main" id="{8C0AD2EC-4FA7-4E1B-9043-A4113BBA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4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4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让共享的指标定义持续可信</a:t>
            </a:r>
          </a:p>
        </p:txBody>
      </p:sp>
      <p:sp>
        <p:nvSpPr>
          <p:cNvPr id="15" name="淘宝-想搞设计PPT(倒卖必究)-8">
            <a:extLst xmlns:a="http://schemas.openxmlformats.org/drawingml/2006/main">
              <a:ext uri="{FF2B5EF4-FFF2-40B4-BE49-F238E27FC236}">
                <a16:creationId xmlns:a16="http://schemas.microsoft.com/office/drawing/2014/main" id="{B1EA418B-C1C5-4375-BA2C-094965CC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学到口径以后，还要检查它在当前数据上是否成立</a:t>
            </a:r>
          </a:p>
        </p:txBody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A3E0B4AC-1FA7-4608-982C-4A179FF2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668" y="3933190"/>
            <a:ext cx="698373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EF9F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日期占位符 44">
            <a:extLst xmlns:a="http://schemas.openxmlformats.org/drawingml/2006/main">
              <a:ext uri="{FF2B5EF4-FFF2-40B4-BE49-F238E27FC236}">
                <a16:creationId xmlns:a16="http://schemas.microsoft.com/office/drawing/2014/main" id="{58548E8D-D967-4A33-AA06-476BE08866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2400" y="6657975"/>
            <a:ext cx="5715000" cy="1714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307A1C6-582D-3A47-F65B-0CD6F885CF51}" type="datetime1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E4003A9B-F48A-4B4E-B4E3-8D17FC777A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125200" y="6657975"/>
            <a:ext cx="800100" cy="1714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DC9C7607-4BA3-B4DC-A00F-2E67A9FCFF7E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63662246"/>
      </p:ext>
    </p:extLst>
  </p:cSld>
</p:sld>
</file>

<file path=ppt/theme/theme1.xml><?xml version="1.0" encoding="utf-8"?>
<a:theme xmlns:a="http://schemas.openxmlformats.org/drawingml/2006/main" name="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2026-10-10T07:36:44.9180000Z</dcterms:created>
  <dcterms:modified xsi:type="dcterms:W3CDTF">2026-10-10T07:36:44.9180000Z</dcterms:modified>
</coreProperties>
</file>